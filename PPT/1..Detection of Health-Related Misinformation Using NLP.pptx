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embeddedFontLst>
    <p:embeddedFont>
      <p:font typeface="Quattrocento Sans" charset="-122" pitchFamily="34"/>
      <p:regular r:id="rId34"/>
    </p:embeddedFont>
    <p:embeddedFont>
      <p:font typeface="Noto Sans SC" charset="-122" pitchFamily="34"/>
      <p:regular r:id="rId35"/>
    </p:embeddedFont>
    <p:embeddedFont>
      <p:font typeface="MiSans" charset="-122" pitchFamily="34"/>
      <p:regular r:id="rId36"/>
    </p:embeddedFont>
    <p:embeddedFont>
      <p:font typeface="Sorts Mill Goudy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over_image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633413"/>
            <a:ext cx="2190750" cy="381000"/>
          </a:xfrm>
          <a:custGeom>
            <a:avLst/>
            <a:gdLst/>
            <a:ahLst/>
            <a:cxnLst/>
            <a:rect l="l" t="t" r="r" b="b"/>
            <a:pathLst>
              <a:path w="2190750" h="381000">
                <a:moveTo>
                  <a:pt x="0" y="0"/>
                </a:moveTo>
                <a:lnTo>
                  <a:pt x="2190750" y="0"/>
                </a:lnTo>
                <a:lnTo>
                  <a:pt x="21907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633413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70961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243013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Detection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Health-Related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0A06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Misinformation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NLP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900613"/>
            <a:ext cx="52863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Analysis of 25 Research Studies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48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5881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5729288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Papers Reviewed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2500" y="5919788"/>
            <a:ext cx="116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02431" y="5748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447687" y="58815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Text 12"/>
          <p:cNvSpPr/>
          <p:nvPr/>
        </p:nvSpPr>
        <p:spPr>
          <a:xfrm>
            <a:off x="2873931" y="5729288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73931" y="5919788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2019-2025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609721"/>
                </a:lnTo>
                <a:cubicBezTo>
                  <a:pt x="5581650" y="1651807"/>
                  <a:pt x="5547532" y="1685925"/>
                  <a:pt x="5505446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7208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787241" y="18351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3500" y="1835111"/>
            <a:ext cx="3819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36851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role of NLP in combating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47800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609721"/>
                </a:lnTo>
                <a:cubicBezTo>
                  <a:pt x="5581650" y="1651807"/>
                  <a:pt x="5547532" y="1685925"/>
                  <a:pt x="5505446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9350" y="144780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1844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6616541" y="195893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62800" y="1958936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Detection Approaches &amp; Methodologies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0" y="2492335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traditional ML to state-of-the-art transformers and LLMs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365421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505450" y="0"/>
                </a:lnTo>
                <a:cubicBezTo>
                  <a:pt x="5547534" y="0"/>
                  <a:pt x="5581650" y="34116"/>
                  <a:pt x="5581650" y="76200"/>
                </a:cubicBezTo>
                <a:lnTo>
                  <a:pt x="5581650" y="1362075"/>
                </a:lnTo>
                <a:cubicBezTo>
                  <a:pt x="5581650" y="1404159"/>
                  <a:pt x="5547534" y="1438275"/>
                  <a:pt x="55054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365421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6384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787241" y="375273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3752731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Datasets &amp; Evaluation Frameworks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4286131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datasets, metrics, and evaluation challenges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365421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505450" y="0"/>
                </a:lnTo>
                <a:cubicBezTo>
                  <a:pt x="5547534" y="0"/>
                  <a:pt x="5581650" y="34116"/>
                  <a:pt x="5581650" y="76200"/>
                </a:cubicBezTo>
                <a:lnTo>
                  <a:pt x="5581650" y="1362075"/>
                </a:lnTo>
                <a:cubicBezTo>
                  <a:pt x="5581650" y="1404159"/>
                  <a:pt x="5547534" y="1438275"/>
                  <a:pt x="55054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3365421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36384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5" name="Text 23"/>
          <p:cNvSpPr/>
          <p:nvPr/>
        </p:nvSpPr>
        <p:spPr>
          <a:xfrm>
            <a:off x="6616541" y="375273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2800" y="3752731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Challenges &amp; Limitations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0" y="4286131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gaps and obstacles in current research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035510"/>
            <a:ext cx="11410950" cy="1438275"/>
          </a:xfrm>
          <a:custGeom>
            <a:avLst/>
            <a:gdLst/>
            <a:ahLst/>
            <a:cxnLst/>
            <a:rect l="l" t="t" r="r" b="b"/>
            <a:pathLst>
              <a:path w="11410950" h="1438275">
                <a:moveTo>
                  <a:pt x="38100" y="0"/>
                </a:moveTo>
                <a:lnTo>
                  <a:pt x="11334750" y="0"/>
                </a:lnTo>
                <a:cubicBezTo>
                  <a:pt x="11376834" y="0"/>
                  <a:pt x="11410950" y="34116"/>
                  <a:pt x="11410950" y="76200"/>
                </a:cubicBezTo>
                <a:lnTo>
                  <a:pt x="11410950" y="1362075"/>
                </a:lnTo>
                <a:cubicBezTo>
                  <a:pt x="11410950" y="1404159"/>
                  <a:pt x="11376834" y="1438275"/>
                  <a:pt x="113347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503551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30852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787241" y="542282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33500" y="5422821"/>
            <a:ext cx="3667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Directions &amp; Conclusions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" y="5956221"/>
            <a:ext cx="11010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opportunities, recommendations, and key takeaways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hapter1_imag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8117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0"/>
                </a:moveTo>
                <a:lnTo>
                  <a:pt x="1600200" y="0"/>
                </a:lnTo>
                <a:lnTo>
                  <a:pt x="1600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81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5737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90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critical role of Natural Language Processing in combating 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Health Misinformation Crisis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524497" y="0"/>
                </a:lnTo>
                <a:cubicBezTo>
                  <a:pt x="5566555" y="0"/>
                  <a:pt x="5600700" y="34145"/>
                  <a:pt x="5600700" y="76203"/>
                </a:cubicBezTo>
                <a:lnTo>
                  <a:pt x="5600700" y="1390647"/>
                </a:lnTo>
                <a:cubicBezTo>
                  <a:pt x="5600700" y="1432705"/>
                  <a:pt x="5566555" y="1466850"/>
                  <a:pt x="552449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447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Societal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misinformation poses severe risks including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vaccine hesitancy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adoption of unsafe treatments, increased social hostility, and erosion of public trust in healthcare systems.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765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524497" y="0"/>
                </a:lnTo>
                <a:cubicBezTo>
                  <a:pt x="5566555" y="0"/>
                  <a:pt x="5600700" y="34145"/>
                  <a:pt x="5600700" y="76203"/>
                </a:cubicBezTo>
                <a:lnTo>
                  <a:pt x="5600700" y="1390647"/>
                </a:lnTo>
                <a:cubicBezTo>
                  <a:pt x="5600700" y="1432705"/>
                  <a:pt x="5566555" y="1466850"/>
                  <a:pt x="552449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8765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067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950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30670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of the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40995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spreads rapidly across social media platforms, encrypted messaging apps, video platforms, and online forums, reaching millions within hours.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958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524497" y="0"/>
                </a:lnTo>
                <a:cubicBezTo>
                  <a:pt x="5566555" y="0"/>
                  <a:pt x="5600700" y="34145"/>
                  <a:pt x="5600700" y="76203"/>
                </a:cubicBezTo>
                <a:lnTo>
                  <a:pt x="5600700" y="1390647"/>
                </a:lnTo>
                <a:cubicBezTo>
                  <a:pt x="5600700" y="1432705"/>
                  <a:pt x="5566555" y="1466850"/>
                  <a:pt x="552449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4958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68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9138" y="4819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46863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 for Automation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50292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fact-checking cannot keep pace with content volume.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NLP-based detection systems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essential for real-time monitoring and intervention.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1257300"/>
            <a:ext cx="5619750" cy="3009900"/>
          </a:xfrm>
          <a:custGeom>
            <a:avLst/>
            <a:gdLst/>
            <a:ahLst/>
            <a:cxnLst/>
            <a:rect l="l" t="t" r="r" b="b"/>
            <a:pathLst>
              <a:path w="5619750" h="3009900">
                <a:moveTo>
                  <a:pt x="76211" y="0"/>
                </a:moveTo>
                <a:lnTo>
                  <a:pt x="5543539" y="0"/>
                </a:lnTo>
                <a:cubicBezTo>
                  <a:pt x="5585629" y="0"/>
                  <a:pt x="5619750" y="34121"/>
                  <a:pt x="5619750" y="76211"/>
                </a:cubicBezTo>
                <a:lnTo>
                  <a:pt x="5619750" y="2933689"/>
                </a:lnTo>
                <a:cubicBezTo>
                  <a:pt x="5619750" y="2975779"/>
                  <a:pt x="5585629" y="3009900"/>
                  <a:pt x="5543539" y="3009900"/>
                </a:cubicBezTo>
                <a:lnTo>
                  <a:pt x="76211" y="3009900"/>
                </a:lnTo>
                <a:cubicBezTo>
                  <a:pt x="34121" y="3009900"/>
                  <a:pt x="0" y="2975779"/>
                  <a:pt x="0" y="293368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81750" y="14478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Consequences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0" y="20044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5" name="Text 23"/>
          <p:cNvSpPr/>
          <p:nvPr/>
        </p:nvSpPr>
        <p:spPr>
          <a:xfrm>
            <a:off x="6572250" y="1928217"/>
            <a:ext cx="456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 Risks: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Delayed treatments, harmful self-medication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750" y="246995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7" name="Text 25"/>
          <p:cNvSpPr/>
          <p:nvPr/>
        </p:nvSpPr>
        <p:spPr>
          <a:xfrm>
            <a:off x="6572250" y="2393752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Erosion: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Declining confidence in medical professionals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1750" y="293560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" name="Text 27"/>
          <p:cNvSpPr/>
          <p:nvPr/>
        </p:nvSpPr>
        <p:spPr>
          <a:xfrm>
            <a:off x="6572250" y="2859405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Polarization: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Increased hostility and division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340113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1" name="Text 29"/>
          <p:cNvSpPr/>
          <p:nvPr/>
        </p:nvSpPr>
        <p:spPr>
          <a:xfrm>
            <a:off x="6572250" y="332493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 Burden: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Healthcare system strain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38667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3" name="Text 31"/>
          <p:cNvSpPr/>
          <p:nvPr/>
        </p:nvSpPr>
        <p:spPr>
          <a:xfrm>
            <a:off x="6572250" y="3790594"/>
            <a:ext cx="3705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Response: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Hindrance during pandemics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5060" y="4427221"/>
            <a:ext cx="5608320" cy="1531620"/>
          </a:xfrm>
          <a:custGeom>
            <a:avLst/>
            <a:gdLst/>
            <a:ahLst/>
            <a:cxnLst/>
            <a:rect l="l" t="t" r="r" b="b"/>
            <a:pathLst>
              <a:path w="5608320" h="1531620">
                <a:moveTo>
                  <a:pt x="76198" y="0"/>
                </a:moveTo>
                <a:lnTo>
                  <a:pt x="5532122" y="0"/>
                </a:lnTo>
                <a:cubicBezTo>
                  <a:pt x="5574205" y="0"/>
                  <a:pt x="5608320" y="34115"/>
                  <a:pt x="5608320" y="76198"/>
                </a:cubicBezTo>
                <a:lnTo>
                  <a:pt x="5608320" y="1455422"/>
                </a:lnTo>
                <a:cubicBezTo>
                  <a:pt x="5608320" y="1497505"/>
                  <a:pt x="5574205" y="1531620"/>
                  <a:pt x="553212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2232" y="46405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6789420" y="462153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Consensus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9370" y="500253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"The growing societal risks posed by misleading medical information demand sophisticated automated detection systems that can operate at scale."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2695" y="557403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Schlicht et al., 2023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spc="111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Formulation: Text Classification Task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175344"/>
            <a:ext cx="3710227" cy="1684075"/>
          </a:xfrm>
          <a:custGeom>
            <a:avLst/>
            <a:gdLst/>
            <a:ahLst/>
            <a:cxnLst/>
            <a:rect l="l" t="t" r="r" b="b"/>
            <a:pathLst>
              <a:path w="3710227" h="168407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1613899"/>
                </a:lnTo>
                <a:cubicBezTo>
                  <a:pt x="3710227" y="1652656"/>
                  <a:pt x="3678809" y="1684075"/>
                  <a:pt x="3640052" y="1684075"/>
                </a:cubicBezTo>
                <a:lnTo>
                  <a:pt x="70175" y="1684075"/>
                </a:lnTo>
                <a:cubicBezTo>
                  <a:pt x="31419" y="1684075"/>
                  <a:pt x="0" y="1652656"/>
                  <a:pt x="0" y="161389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0849" y="1175344"/>
            <a:ext cx="3710227" cy="35085"/>
          </a:xfrm>
          <a:custGeom>
            <a:avLst/>
            <a:gdLst/>
            <a:ahLst/>
            <a:cxnLst/>
            <a:rect l="l" t="t" r="r" b="b"/>
            <a:pathLst>
              <a:path w="3710227" h="3508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35085"/>
                </a:lnTo>
                <a:lnTo>
                  <a:pt x="0" y="35085"/>
                </a:ln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526273" y="136831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639203" y="1456023"/>
            <a:ext cx="2806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2547" y="1456023"/>
            <a:ext cx="182441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6273" y="1929669"/>
            <a:ext cx="1738676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6273" y="2227891"/>
            <a:ext cx="3429548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vs. False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(Misinformation vs. Non-misinformation)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0009" y="1175344"/>
            <a:ext cx="3710227" cy="1684075"/>
          </a:xfrm>
          <a:custGeom>
            <a:avLst/>
            <a:gdLst/>
            <a:ahLst/>
            <a:cxnLst/>
            <a:rect l="l" t="t" r="r" b="b"/>
            <a:pathLst>
              <a:path w="3710227" h="168407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1613899"/>
                </a:lnTo>
                <a:cubicBezTo>
                  <a:pt x="3710227" y="1652656"/>
                  <a:pt x="3678809" y="1684075"/>
                  <a:pt x="3640052" y="1684075"/>
                </a:cubicBezTo>
                <a:lnTo>
                  <a:pt x="70175" y="1684075"/>
                </a:lnTo>
                <a:cubicBezTo>
                  <a:pt x="31419" y="1684075"/>
                  <a:pt x="0" y="1652656"/>
                  <a:pt x="0" y="161389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40009" y="1175344"/>
            <a:ext cx="3710227" cy="35085"/>
          </a:xfrm>
          <a:custGeom>
            <a:avLst/>
            <a:gdLst/>
            <a:ahLst/>
            <a:cxnLst/>
            <a:rect l="l" t="t" r="r" b="b"/>
            <a:pathLst>
              <a:path w="3710227" h="3508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35085"/>
                </a:lnTo>
                <a:lnTo>
                  <a:pt x="0" y="35085"/>
                </a:ln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5434" y="136831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Text 12"/>
          <p:cNvSpPr/>
          <p:nvPr/>
        </p:nvSpPr>
        <p:spPr>
          <a:xfrm>
            <a:off x="4528363" y="1456023"/>
            <a:ext cx="2806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41707" y="1456023"/>
            <a:ext cx="102623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Multi-Class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5434" y="1929669"/>
            <a:ext cx="1419513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5434" y="2227891"/>
            <a:ext cx="3429548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/ Partially True /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/ Unverifiable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9169" y="1175344"/>
            <a:ext cx="3710227" cy="1684075"/>
          </a:xfrm>
          <a:custGeom>
            <a:avLst/>
            <a:gdLst/>
            <a:ahLst/>
            <a:cxnLst/>
            <a:rect l="l" t="t" r="r" b="b"/>
            <a:pathLst>
              <a:path w="3710227" h="168407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1613899"/>
                </a:lnTo>
                <a:cubicBezTo>
                  <a:pt x="3710227" y="1652656"/>
                  <a:pt x="3678809" y="1684075"/>
                  <a:pt x="3640052" y="1684075"/>
                </a:cubicBezTo>
                <a:lnTo>
                  <a:pt x="70175" y="1684075"/>
                </a:lnTo>
                <a:cubicBezTo>
                  <a:pt x="31419" y="1684075"/>
                  <a:pt x="0" y="1652656"/>
                  <a:pt x="0" y="161389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29169" y="1175344"/>
            <a:ext cx="3710227" cy="35085"/>
          </a:xfrm>
          <a:custGeom>
            <a:avLst/>
            <a:gdLst/>
            <a:ahLst/>
            <a:cxnLst/>
            <a:rect l="l" t="t" r="r" b="b"/>
            <a:pathLst>
              <a:path w="3710227" h="35085">
                <a:moveTo>
                  <a:pt x="35085" y="0"/>
                </a:moveTo>
                <a:lnTo>
                  <a:pt x="3675142" y="0"/>
                </a:lnTo>
                <a:cubicBezTo>
                  <a:pt x="3694519" y="0"/>
                  <a:pt x="3710227" y="15708"/>
                  <a:pt x="3710227" y="35085"/>
                </a:cubicBezTo>
                <a:lnTo>
                  <a:pt x="3710227" y="35085"/>
                </a:lnTo>
                <a:lnTo>
                  <a:pt x="0" y="35085"/>
                </a:ln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4594" y="136831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7523" y="1456023"/>
            <a:ext cx="2806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30867" y="1456023"/>
            <a:ext cx="116657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Fine-Grained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4594" y="1929669"/>
            <a:ext cx="1302527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4594" y="2227891"/>
            <a:ext cx="3429548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health topic,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type, or severity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0849" y="3034843"/>
            <a:ext cx="5657439" cy="2631367"/>
          </a:xfrm>
          <a:custGeom>
            <a:avLst/>
            <a:gdLst/>
            <a:ahLst/>
            <a:cxnLst/>
            <a:rect l="l" t="t" r="r" b="b"/>
            <a:pathLst>
              <a:path w="5657439" h="2631367">
                <a:moveTo>
                  <a:pt x="70179" y="0"/>
                </a:moveTo>
                <a:lnTo>
                  <a:pt x="5587260" y="0"/>
                </a:lnTo>
                <a:cubicBezTo>
                  <a:pt x="5626019" y="0"/>
                  <a:pt x="5657439" y="31420"/>
                  <a:pt x="5657439" y="70179"/>
                </a:cubicBezTo>
                <a:lnTo>
                  <a:pt x="5657439" y="2561188"/>
                </a:lnTo>
                <a:cubicBezTo>
                  <a:pt x="5657439" y="2599947"/>
                  <a:pt x="5626019" y="2631367"/>
                  <a:pt x="5587260" y="2631367"/>
                </a:cubicBezTo>
                <a:lnTo>
                  <a:pt x="70179" y="2631367"/>
                </a:lnTo>
                <a:cubicBezTo>
                  <a:pt x="31420" y="2631367"/>
                  <a:pt x="0" y="2599947"/>
                  <a:pt x="0" y="2561188"/>
                </a:cubicBezTo>
                <a:lnTo>
                  <a:pt x="0" y="70179"/>
                </a:lnTo>
                <a:cubicBezTo>
                  <a:pt x="0" y="31446"/>
                  <a:pt x="31446" y="0"/>
                  <a:pt x="7017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6273" y="3210268"/>
            <a:ext cx="539430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Input Types &amp; Sources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3816" y="3631286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93304" y="58301"/>
                </a:moveTo>
                <a:lnTo>
                  <a:pt x="71376" y="93386"/>
                </a:lnTo>
                <a:cubicBezTo>
                  <a:pt x="70225" y="95223"/>
                  <a:pt x="68251" y="96374"/>
                  <a:pt x="66086" y="96483"/>
                </a:cubicBezTo>
                <a:cubicBezTo>
                  <a:pt x="63920" y="96593"/>
                  <a:pt x="61837" y="95606"/>
                  <a:pt x="60549" y="93852"/>
                </a:cubicBezTo>
                <a:lnTo>
                  <a:pt x="47392" y="76310"/>
                </a:lnTo>
                <a:cubicBezTo>
                  <a:pt x="45199" y="73404"/>
                  <a:pt x="45802" y="69293"/>
                  <a:pt x="48708" y="67100"/>
                </a:cubicBezTo>
                <a:cubicBezTo>
                  <a:pt x="51613" y="64907"/>
                  <a:pt x="55725" y="65510"/>
                  <a:pt x="57917" y="68416"/>
                </a:cubicBezTo>
                <a:lnTo>
                  <a:pt x="65318" y="78283"/>
                </a:lnTo>
                <a:lnTo>
                  <a:pt x="82148" y="51339"/>
                </a:lnTo>
                <a:cubicBezTo>
                  <a:pt x="84067" y="48269"/>
                  <a:pt x="88123" y="47310"/>
                  <a:pt x="91221" y="49256"/>
                </a:cubicBezTo>
                <a:cubicBezTo>
                  <a:pt x="94318" y="51202"/>
                  <a:pt x="95250" y="55231"/>
                  <a:pt x="93304" y="5832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806953" y="3596201"/>
            <a:ext cx="364005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Textual Content: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media posts, articles, comments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3816" y="3947050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93304" y="58301"/>
                </a:moveTo>
                <a:lnTo>
                  <a:pt x="71376" y="93386"/>
                </a:lnTo>
                <a:cubicBezTo>
                  <a:pt x="70225" y="95223"/>
                  <a:pt x="68251" y="96374"/>
                  <a:pt x="66086" y="96483"/>
                </a:cubicBezTo>
                <a:cubicBezTo>
                  <a:pt x="63920" y="96593"/>
                  <a:pt x="61837" y="95606"/>
                  <a:pt x="60549" y="93852"/>
                </a:cubicBezTo>
                <a:lnTo>
                  <a:pt x="47392" y="76310"/>
                </a:lnTo>
                <a:cubicBezTo>
                  <a:pt x="45199" y="73404"/>
                  <a:pt x="45802" y="69293"/>
                  <a:pt x="48708" y="67100"/>
                </a:cubicBezTo>
                <a:cubicBezTo>
                  <a:pt x="51613" y="64907"/>
                  <a:pt x="55725" y="65510"/>
                  <a:pt x="57917" y="68416"/>
                </a:cubicBezTo>
                <a:lnTo>
                  <a:pt x="65318" y="78283"/>
                </a:lnTo>
                <a:lnTo>
                  <a:pt x="82148" y="51339"/>
                </a:lnTo>
                <a:cubicBezTo>
                  <a:pt x="84067" y="48269"/>
                  <a:pt x="88123" y="47310"/>
                  <a:pt x="91221" y="49256"/>
                </a:cubicBezTo>
                <a:cubicBezTo>
                  <a:pt x="94318" y="51202"/>
                  <a:pt x="95250" y="55231"/>
                  <a:pt x="93304" y="5832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" name="Text 28"/>
          <p:cNvSpPr/>
          <p:nvPr/>
        </p:nvSpPr>
        <p:spPr>
          <a:xfrm>
            <a:off x="806953" y="3911965"/>
            <a:ext cx="421018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Videos (YouTube, TikTok) with audio, visual, and text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3816" y="4262814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93304" y="58301"/>
                </a:moveTo>
                <a:lnTo>
                  <a:pt x="71376" y="93386"/>
                </a:lnTo>
                <a:cubicBezTo>
                  <a:pt x="70225" y="95223"/>
                  <a:pt x="68251" y="96374"/>
                  <a:pt x="66086" y="96483"/>
                </a:cubicBezTo>
                <a:cubicBezTo>
                  <a:pt x="63920" y="96593"/>
                  <a:pt x="61837" y="95606"/>
                  <a:pt x="60549" y="93852"/>
                </a:cubicBezTo>
                <a:lnTo>
                  <a:pt x="47392" y="76310"/>
                </a:lnTo>
                <a:cubicBezTo>
                  <a:pt x="45199" y="73404"/>
                  <a:pt x="45802" y="69293"/>
                  <a:pt x="48708" y="67100"/>
                </a:cubicBezTo>
                <a:cubicBezTo>
                  <a:pt x="51613" y="64907"/>
                  <a:pt x="55725" y="65510"/>
                  <a:pt x="57917" y="68416"/>
                </a:cubicBezTo>
                <a:lnTo>
                  <a:pt x="65318" y="78283"/>
                </a:lnTo>
                <a:lnTo>
                  <a:pt x="82148" y="51339"/>
                </a:lnTo>
                <a:cubicBezTo>
                  <a:pt x="84067" y="48269"/>
                  <a:pt x="88123" y="47310"/>
                  <a:pt x="91221" y="49256"/>
                </a:cubicBezTo>
                <a:cubicBezTo>
                  <a:pt x="94318" y="51202"/>
                  <a:pt x="95250" y="55231"/>
                  <a:pt x="93304" y="5832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Text 30"/>
          <p:cNvSpPr/>
          <p:nvPr/>
        </p:nvSpPr>
        <p:spPr>
          <a:xfrm>
            <a:off x="806953" y="4227729"/>
            <a:ext cx="453472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Twitter/X, Facebook, WhatsApp, encrypted messaging apps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3816" y="4578578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93304" y="58301"/>
                </a:moveTo>
                <a:lnTo>
                  <a:pt x="71376" y="93386"/>
                </a:lnTo>
                <a:cubicBezTo>
                  <a:pt x="70225" y="95223"/>
                  <a:pt x="68251" y="96374"/>
                  <a:pt x="66086" y="96483"/>
                </a:cubicBezTo>
                <a:cubicBezTo>
                  <a:pt x="63920" y="96593"/>
                  <a:pt x="61837" y="95606"/>
                  <a:pt x="60549" y="93852"/>
                </a:cubicBezTo>
                <a:lnTo>
                  <a:pt x="47392" y="76310"/>
                </a:lnTo>
                <a:cubicBezTo>
                  <a:pt x="45199" y="73404"/>
                  <a:pt x="45802" y="69293"/>
                  <a:pt x="48708" y="67100"/>
                </a:cubicBezTo>
                <a:cubicBezTo>
                  <a:pt x="51613" y="64907"/>
                  <a:pt x="55725" y="65510"/>
                  <a:pt x="57917" y="68416"/>
                </a:cubicBezTo>
                <a:lnTo>
                  <a:pt x="65318" y="78283"/>
                </a:lnTo>
                <a:lnTo>
                  <a:pt x="82148" y="51339"/>
                </a:lnTo>
                <a:cubicBezTo>
                  <a:pt x="84067" y="48269"/>
                  <a:pt x="88123" y="47310"/>
                  <a:pt x="91221" y="49256"/>
                </a:cubicBezTo>
                <a:cubicBezTo>
                  <a:pt x="94318" y="51202"/>
                  <a:pt x="95250" y="55231"/>
                  <a:pt x="93304" y="5832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" name="Text 32"/>
          <p:cNvSpPr/>
          <p:nvPr/>
        </p:nvSpPr>
        <p:spPr>
          <a:xfrm>
            <a:off x="806953" y="4543494"/>
            <a:ext cx="505222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Domains: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COVID-19, vaccines, mental health, cancer, general medicine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4590" y="3034843"/>
            <a:ext cx="5657439" cy="2631367"/>
          </a:xfrm>
          <a:custGeom>
            <a:avLst/>
            <a:gdLst/>
            <a:ahLst/>
            <a:cxnLst/>
            <a:rect l="l" t="t" r="r" b="b"/>
            <a:pathLst>
              <a:path w="5657439" h="2631367">
                <a:moveTo>
                  <a:pt x="70179" y="0"/>
                </a:moveTo>
                <a:lnTo>
                  <a:pt x="5587260" y="0"/>
                </a:lnTo>
                <a:cubicBezTo>
                  <a:pt x="5626019" y="0"/>
                  <a:pt x="5657439" y="31420"/>
                  <a:pt x="5657439" y="70179"/>
                </a:cubicBezTo>
                <a:lnTo>
                  <a:pt x="5657439" y="2561188"/>
                </a:lnTo>
                <a:cubicBezTo>
                  <a:pt x="5657439" y="2599947"/>
                  <a:pt x="5626019" y="2631367"/>
                  <a:pt x="5587260" y="2631367"/>
                </a:cubicBezTo>
                <a:lnTo>
                  <a:pt x="70179" y="2631367"/>
                </a:lnTo>
                <a:cubicBezTo>
                  <a:pt x="31420" y="2631367"/>
                  <a:pt x="0" y="2599947"/>
                  <a:pt x="0" y="2561188"/>
                </a:cubicBezTo>
                <a:lnTo>
                  <a:pt x="0" y="70179"/>
                </a:lnTo>
                <a:cubicBezTo>
                  <a:pt x="0" y="31446"/>
                  <a:pt x="31446" y="0"/>
                  <a:pt x="7017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60014" y="3210268"/>
            <a:ext cx="539430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0014" y="3596201"/>
            <a:ext cx="5306590" cy="421019"/>
          </a:xfrm>
          <a:custGeom>
            <a:avLst/>
            <a:gdLst/>
            <a:ahLst/>
            <a:cxnLst/>
            <a:rect l="l" t="t" r="r" b="b"/>
            <a:pathLst>
              <a:path w="5306590" h="421019">
                <a:moveTo>
                  <a:pt x="35083" y="0"/>
                </a:moveTo>
                <a:lnTo>
                  <a:pt x="5271506" y="0"/>
                </a:lnTo>
                <a:cubicBezTo>
                  <a:pt x="5290883" y="0"/>
                  <a:pt x="5306590" y="15707"/>
                  <a:pt x="5306590" y="35083"/>
                </a:cubicBezTo>
                <a:lnTo>
                  <a:pt x="5306590" y="385935"/>
                </a:lnTo>
                <a:cubicBezTo>
                  <a:pt x="5306590" y="405311"/>
                  <a:pt x="5290883" y="421019"/>
                  <a:pt x="5271506" y="421019"/>
                </a:cubicBezTo>
                <a:lnTo>
                  <a:pt x="35083" y="421019"/>
                </a:lnTo>
                <a:cubicBezTo>
                  <a:pt x="15707" y="421019"/>
                  <a:pt x="0" y="405311"/>
                  <a:pt x="0" y="385935"/>
                </a:cubicBezTo>
                <a:lnTo>
                  <a:pt x="0" y="35083"/>
                </a:lnTo>
                <a:cubicBezTo>
                  <a:pt x="0" y="15720"/>
                  <a:pt x="15720" y="0"/>
                  <a:pt x="35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65269" y="3729524"/>
            <a:ext cx="592825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Lexical: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26956" y="3729524"/>
            <a:ext cx="1965083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choice, n-grams, TF-IDF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0014" y="4087390"/>
            <a:ext cx="5306590" cy="421019"/>
          </a:xfrm>
          <a:custGeom>
            <a:avLst/>
            <a:gdLst/>
            <a:ahLst/>
            <a:cxnLst/>
            <a:rect l="l" t="t" r="r" b="b"/>
            <a:pathLst>
              <a:path w="5306590" h="421019">
                <a:moveTo>
                  <a:pt x="35083" y="0"/>
                </a:moveTo>
                <a:lnTo>
                  <a:pt x="5271506" y="0"/>
                </a:lnTo>
                <a:cubicBezTo>
                  <a:pt x="5290883" y="0"/>
                  <a:pt x="5306590" y="15707"/>
                  <a:pt x="5306590" y="35083"/>
                </a:cubicBezTo>
                <a:lnTo>
                  <a:pt x="5306590" y="385935"/>
                </a:lnTo>
                <a:cubicBezTo>
                  <a:pt x="5306590" y="405311"/>
                  <a:pt x="5290883" y="421019"/>
                  <a:pt x="5271506" y="421019"/>
                </a:cubicBezTo>
                <a:lnTo>
                  <a:pt x="35083" y="421019"/>
                </a:lnTo>
                <a:cubicBezTo>
                  <a:pt x="15707" y="421019"/>
                  <a:pt x="0" y="405311"/>
                  <a:pt x="0" y="385935"/>
                </a:cubicBezTo>
                <a:lnTo>
                  <a:pt x="0" y="35083"/>
                </a:lnTo>
                <a:cubicBezTo>
                  <a:pt x="0" y="15720"/>
                  <a:pt x="15720" y="0"/>
                  <a:pt x="35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65269" y="4220712"/>
            <a:ext cx="740949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Syntactic: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75080" y="4220712"/>
            <a:ext cx="2433685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 structure, grammar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0014" y="4578578"/>
            <a:ext cx="5306590" cy="421019"/>
          </a:xfrm>
          <a:custGeom>
            <a:avLst/>
            <a:gdLst/>
            <a:ahLst/>
            <a:cxnLst/>
            <a:rect l="l" t="t" r="r" b="b"/>
            <a:pathLst>
              <a:path w="5306590" h="421019">
                <a:moveTo>
                  <a:pt x="35083" y="0"/>
                </a:moveTo>
                <a:lnTo>
                  <a:pt x="5271506" y="0"/>
                </a:lnTo>
                <a:cubicBezTo>
                  <a:pt x="5290883" y="0"/>
                  <a:pt x="5306590" y="15707"/>
                  <a:pt x="5306590" y="35083"/>
                </a:cubicBezTo>
                <a:lnTo>
                  <a:pt x="5306590" y="385935"/>
                </a:lnTo>
                <a:cubicBezTo>
                  <a:pt x="5306590" y="405311"/>
                  <a:pt x="5290883" y="421019"/>
                  <a:pt x="5271506" y="421019"/>
                </a:cubicBezTo>
                <a:lnTo>
                  <a:pt x="35083" y="421019"/>
                </a:lnTo>
                <a:cubicBezTo>
                  <a:pt x="15707" y="421019"/>
                  <a:pt x="0" y="405311"/>
                  <a:pt x="0" y="385935"/>
                </a:cubicBezTo>
                <a:lnTo>
                  <a:pt x="0" y="35083"/>
                </a:lnTo>
                <a:cubicBezTo>
                  <a:pt x="0" y="15720"/>
                  <a:pt x="15720" y="0"/>
                  <a:pt x="35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65269" y="4711901"/>
            <a:ext cx="740949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75080" y="4711901"/>
            <a:ext cx="2933207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embeddings, contextual representations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0014" y="5069767"/>
            <a:ext cx="5306590" cy="421019"/>
          </a:xfrm>
          <a:custGeom>
            <a:avLst/>
            <a:gdLst/>
            <a:ahLst/>
            <a:cxnLst/>
            <a:rect l="l" t="t" r="r" b="b"/>
            <a:pathLst>
              <a:path w="5306590" h="421019">
                <a:moveTo>
                  <a:pt x="35083" y="0"/>
                </a:moveTo>
                <a:lnTo>
                  <a:pt x="5271506" y="0"/>
                </a:lnTo>
                <a:cubicBezTo>
                  <a:pt x="5290883" y="0"/>
                  <a:pt x="5306590" y="15707"/>
                  <a:pt x="5306590" y="35083"/>
                </a:cubicBezTo>
                <a:lnTo>
                  <a:pt x="5306590" y="385935"/>
                </a:lnTo>
                <a:cubicBezTo>
                  <a:pt x="5306590" y="405311"/>
                  <a:pt x="5290883" y="421019"/>
                  <a:pt x="5271506" y="421019"/>
                </a:cubicBezTo>
                <a:lnTo>
                  <a:pt x="35083" y="421019"/>
                </a:lnTo>
                <a:cubicBezTo>
                  <a:pt x="15707" y="421019"/>
                  <a:pt x="0" y="405311"/>
                  <a:pt x="0" y="385935"/>
                </a:cubicBezTo>
                <a:lnTo>
                  <a:pt x="0" y="35083"/>
                </a:lnTo>
                <a:cubicBezTo>
                  <a:pt x="0" y="15720"/>
                  <a:pt x="15720" y="0"/>
                  <a:pt x="35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65269" y="5203089"/>
            <a:ext cx="795550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Discourse: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29681" y="5203089"/>
            <a:ext cx="2613167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Persuasive strategies, rhetorical patterns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8391" y="5806550"/>
            <a:ext cx="11472760" cy="701698"/>
          </a:xfrm>
          <a:custGeom>
            <a:avLst/>
            <a:gdLst/>
            <a:ahLst/>
            <a:cxnLst/>
            <a:rect l="l" t="t" r="r" b="b"/>
            <a:pathLst>
              <a:path w="11472760" h="701698">
                <a:moveTo>
                  <a:pt x="35085" y="0"/>
                </a:moveTo>
                <a:lnTo>
                  <a:pt x="11402590" y="0"/>
                </a:lnTo>
                <a:cubicBezTo>
                  <a:pt x="11441344" y="0"/>
                  <a:pt x="11472760" y="31416"/>
                  <a:pt x="11472760" y="70170"/>
                </a:cubicBezTo>
                <a:lnTo>
                  <a:pt x="11472760" y="631528"/>
                </a:lnTo>
                <a:cubicBezTo>
                  <a:pt x="11472760" y="670282"/>
                  <a:pt x="11441344" y="701698"/>
                  <a:pt x="11402590" y="701698"/>
                </a:cubicBezTo>
                <a:lnTo>
                  <a:pt x="35085" y="701698"/>
                </a:lnTo>
                <a:cubicBezTo>
                  <a:pt x="15708" y="701698"/>
                  <a:pt x="0" y="685990"/>
                  <a:pt x="0" y="66661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68391" y="5806550"/>
            <a:ext cx="35085" cy="701698"/>
          </a:xfrm>
          <a:custGeom>
            <a:avLst/>
            <a:gdLst/>
            <a:ahLst/>
            <a:cxnLst/>
            <a:rect l="l" t="t" r="r" b="b"/>
            <a:pathLst>
              <a:path w="35085" h="701698">
                <a:moveTo>
                  <a:pt x="35085" y="0"/>
                </a:moveTo>
                <a:lnTo>
                  <a:pt x="35085" y="0"/>
                </a:lnTo>
                <a:lnTo>
                  <a:pt x="35085" y="701698"/>
                </a:lnTo>
                <a:lnTo>
                  <a:pt x="35085" y="701698"/>
                </a:lnTo>
                <a:cubicBezTo>
                  <a:pt x="15708" y="701698"/>
                  <a:pt x="0" y="685990"/>
                  <a:pt x="0" y="66661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Shape 49"/>
          <p:cNvSpPr/>
          <p:nvPr/>
        </p:nvSpPr>
        <p:spPr>
          <a:xfrm>
            <a:off x="561358" y="5981974"/>
            <a:ext cx="105255" cy="140340"/>
          </a:xfrm>
          <a:custGeom>
            <a:avLst/>
            <a:gdLst/>
            <a:ahLst/>
            <a:cxnLst/>
            <a:rect l="l" t="t" r="r" b="b"/>
            <a:pathLst>
              <a:path w="105255" h="140340">
                <a:moveTo>
                  <a:pt x="80284" y="105255"/>
                </a:moveTo>
                <a:cubicBezTo>
                  <a:pt x="82285" y="99142"/>
                  <a:pt x="86287" y="93605"/>
                  <a:pt x="90810" y="88836"/>
                </a:cubicBezTo>
                <a:cubicBezTo>
                  <a:pt x="99773" y="79407"/>
                  <a:pt x="105255" y="66661"/>
                  <a:pt x="105255" y="52627"/>
                </a:cubicBezTo>
                <a:cubicBezTo>
                  <a:pt x="105255" y="23573"/>
                  <a:pt x="81682" y="0"/>
                  <a:pt x="52627" y="0"/>
                </a:cubicBezTo>
                <a:cubicBezTo>
                  <a:pt x="23573" y="0"/>
                  <a:pt x="0" y="23573"/>
                  <a:pt x="0" y="52627"/>
                </a:cubicBezTo>
                <a:cubicBezTo>
                  <a:pt x="0" y="66661"/>
                  <a:pt x="5482" y="79407"/>
                  <a:pt x="14445" y="88836"/>
                </a:cubicBezTo>
                <a:cubicBezTo>
                  <a:pt x="18968" y="93605"/>
                  <a:pt x="22997" y="99142"/>
                  <a:pt x="24971" y="105255"/>
                </a:cubicBezTo>
                <a:lnTo>
                  <a:pt x="80257" y="105255"/>
                </a:lnTo>
                <a:close/>
                <a:moveTo>
                  <a:pt x="78941" y="118412"/>
                </a:moveTo>
                <a:lnTo>
                  <a:pt x="26314" y="118412"/>
                </a:lnTo>
                <a:lnTo>
                  <a:pt x="26314" y="122797"/>
                </a:lnTo>
                <a:cubicBezTo>
                  <a:pt x="26314" y="134912"/>
                  <a:pt x="36126" y="144725"/>
                  <a:pt x="48242" y="144725"/>
                </a:cubicBezTo>
                <a:lnTo>
                  <a:pt x="57013" y="144725"/>
                </a:lnTo>
                <a:cubicBezTo>
                  <a:pt x="69128" y="144725"/>
                  <a:pt x="78941" y="134912"/>
                  <a:pt x="78941" y="122797"/>
                </a:cubicBezTo>
                <a:lnTo>
                  <a:pt x="78941" y="118412"/>
                </a:lnTo>
                <a:close/>
                <a:moveTo>
                  <a:pt x="50435" y="30699"/>
                </a:moveTo>
                <a:cubicBezTo>
                  <a:pt x="39525" y="30699"/>
                  <a:pt x="30699" y="39525"/>
                  <a:pt x="30699" y="50435"/>
                </a:cubicBezTo>
                <a:cubicBezTo>
                  <a:pt x="30699" y="54080"/>
                  <a:pt x="27766" y="57013"/>
                  <a:pt x="24121" y="57013"/>
                </a:cubicBezTo>
                <a:cubicBezTo>
                  <a:pt x="20475" y="57013"/>
                  <a:pt x="17542" y="54080"/>
                  <a:pt x="17542" y="50435"/>
                </a:cubicBezTo>
                <a:cubicBezTo>
                  <a:pt x="17542" y="32262"/>
                  <a:pt x="32262" y="17542"/>
                  <a:pt x="50435" y="17542"/>
                </a:cubicBezTo>
                <a:cubicBezTo>
                  <a:pt x="54080" y="17542"/>
                  <a:pt x="57013" y="20475"/>
                  <a:pt x="57013" y="24121"/>
                </a:cubicBezTo>
                <a:cubicBezTo>
                  <a:pt x="57013" y="27766"/>
                  <a:pt x="54080" y="30699"/>
                  <a:pt x="50435" y="3069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810900" y="5974957"/>
            <a:ext cx="873285" cy="15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6273" y="5974957"/>
            <a:ext cx="11158092" cy="364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binary classification dominates, recent research emphasizes the importance of 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fine-grained thematic analysis 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understanding misinformation narratives and developing targeted interventions.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521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spc="112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39813"/>
            <a:ext cx="1164105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Scope &amp;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224" y="1172991"/>
            <a:ext cx="5633913" cy="2239347"/>
          </a:xfrm>
          <a:custGeom>
            <a:avLst/>
            <a:gdLst/>
            <a:ahLst/>
            <a:cxnLst/>
            <a:rect l="l" t="t" r="r" b="b"/>
            <a:pathLst>
              <a:path w="5633913" h="2239347">
                <a:moveTo>
                  <a:pt x="35545" y="0"/>
                </a:moveTo>
                <a:lnTo>
                  <a:pt x="5562813" y="0"/>
                </a:lnTo>
                <a:cubicBezTo>
                  <a:pt x="5602080" y="0"/>
                  <a:pt x="5633913" y="31832"/>
                  <a:pt x="5633913" y="71099"/>
                </a:cubicBezTo>
                <a:lnTo>
                  <a:pt x="5633913" y="2168248"/>
                </a:lnTo>
                <a:cubicBezTo>
                  <a:pt x="5633913" y="2207515"/>
                  <a:pt x="5602080" y="2239347"/>
                  <a:pt x="5562813" y="2239347"/>
                </a:cubicBezTo>
                <a:lnTo>
                  <a:pt x="35545" y="2239347"/>
                </a:lnTo>
                <a:cubicBezTo>
                  <a:pt x="15914" y="2239347"/>
                  <a:pt x="0" y="2223433"/>
                  <a:pt x="0" y="220380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3224" y="1172991"/>
            <a:ext cx="35545" cy="2239347"/>
          </a:xfrm>
          <a:custGeom>
            <a:avLst/>
            <a:gdLst/>
            <a:ahLst/>
            <a:cxnLst/>
            <a:rect l="l" t="t" r="r" b="b"/>
            <a:pathLst>
              <a:path w="35545" h="2239347">
                <a:moveTo>
                  <a:pt x="35545" y="0"/>
                </a:moveTo>
                <a:lnTo>
                  <a:pt x="35545" y="0"/>
                </a:lnTo>
                <a:lnTo>
                  <a:pt x="35545" y="2239347"/>
                </a:lnTo>
                <a:lnTo>
                  <a:pt x="35545" y="2239347"/>
                </a:lnTo>
                <a:cubicBezTo>
                  <a:pt x="15914" y="2239347"/>
                  <a:pt x="0" y="2223433"/>
                  <a:pt x="0" y="220380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68723" y="1350717"/>
            <a:ext cx="5349551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Literature Selection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8723" y="1777259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8697" y="1857236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93306" y="124408"/>
                </a:moveTo>
                <a:lnTo>
                  <a:pt x="23327" y="124408"/>
                </a:lnTo>
                <a:cubicBezTo>
                  <a:pt x="10448" y="124408"/>
                  <a:pt x="0" y="113960"/>
                  <a:pt x="0" y="101082"/>
                </a:cubicBezTo>
                <a:lnTo>
                  <a:pt x="0" y="23327"/>
                </a:lnTo>
                <a:cubicBezTo>
                  <a:pt x="0" y="10448"/>
                  <a:pt x="10448" y="0"/>
                  <a:pt x="23327" y="0"/>
                </a:cubicBezTo>
                <a:lnTo>
                  <a:pt x="97194" y="0"/>
                </a:lnTo>
                <a:cubicBezTo>
                  <a:pt x="103633" y="0"/>
                  <a:pt x="108857" y="5224"/>
                  <a:pt x="108857" y="11663"/>
                </a:cubicBezTo>
                <a:lnTo>
                  <a:pt x="108857" y="81643"/>
                </a:lnTo>
                <a:cubicBezTo>
                  <a:pt x="108857" y="86721"/>
                  <a:pt x="105601" y="91046"/>
                  <a:pt x="101082" y="92650"/>
                </a:cubicBezTo>
                <a:lnTo>
                  <a:pt x="101082" y="108857"/>
                </a:lnTo>
                <a:cubicBezTo>
                  <a:pt x="105382" y="108857"/>
                  <a:pt x="108857" y="112332"/>
                  <a:pt x="108857" y="116633"/>
                </a:cubicBezTo>
                <a:cubicBezTo>
                  <a:pt x="108857" y="120933"/>
                  <a:pt x="105382" y="124408"/>
                  <a:pt x="101082" y="124408"/>
                </a:cubicBezTo>
                <a:lnTo>
                  <a:pt x="93306" y="124408"/>
                </a:lnTo>
                <a:close/>
                <a:moveTo>
                  <a:pt x="23327" y="93306"/>
                </a:moveTo>
                <a:cubicBezTo>
                  <a:pt x="19026" y="93306"/>
                  <a:pt x="15551" y="96781"/>
                  <a:pt x="15551" y="101082"/>
                </a:cubicBezTo>
                <a:cubicBezTo>
                  <a:pt x="15551" y="105382"/>
                  <a:pt x="19026" y="108857"/>
                  <a:pt x="23327" y="108857"/>
                </a:cubicBezTo>
                <a:lnTo>
                  <a:pt x="85531" y="108857"/>
                </a:lnTo>
                <a:lnTo>
                  <a:pt x="85531" y="93306"/>
                </a:lnTo>
                <a:lnTo>
                  <a:pt x="23327" y="93306"/>
                </a:lnTo>
                <a:close/>
                <a:moveTo>
                  <a:pt x="31102" y="36934"/>
                </a:moveTo>
                <a:cubicBezTo>
                  <a:pt x="31102" y="40165"/>
                  <a:pt x="33702" y="42765"/>
                  <a:pt x="36934" y="42765"/>
                </a:cubicBezTo>
                <a:lnTo>
                  <a:pt x="79699" y="42765"/>
                </a:lnTo>
                <a:cubicBezTo>
                  <a:pt x="82931" y="42765"/>
                  <a:pt x="85531" y="40165"/>
                  <a:pt x="85531" y="36934"/>
                </a:cubicBezTo>
                <a:cubicBezTo>
                  <a:pt x="85531" y="33702"/>
                  <a:pt x="82931" y="31102"/>
                  <a:pt x="79699" y="31102"/>
                </a:cubicBezTo>
                <a:lnTo>
                  <a:pt x="36934" y="31102"/>
                </a:lnTo>
                <a:cubicBezTo>
                  <a:pt x="33702" y="31102"/>
                  <a:pt x="31102" y="33702"/>
                  <a:pt x="31102" y="36934"/>
                </a:cubicBezTo>
                <a:close/>
                <a:moveTo>
                  <a:pt x="36934" y="54429"/>
                </a:moveTo>
                <a:cubicBezTo>
                  <a:pt x="33702" y="54429"/>
                  <a:pt x="31102" y="57029"/>
                  <a:pt x="31102" y="60260"/>
                </a:cubicBezTo>
                <a:cubicBezTo>
                  <a:pt x="31102" y="63492"/>
                  <a:pt x="33702" y="66092"/>
                  <a:pt x="36934" y="66092"/>
                </a:cubicBezTo>
                <a:lnTo>
                  <a:pt x="79699" y="66092"/>
                </a:lnTo>
                <a:cubicBezTo>
                  <a:pt x="82931" y="66092"/>
                  <a:pt x="85531" y="63492"/>
                  <a:pt x="85531" y="60260"/>
                </a:cubicBezTo>
                <a:cubicBezTo>
                  <a:pt x="85531" y="57029"/>
                  <a:pt x="82931" y="54429"/>
                  <a:pt x="79699" y="54429"/>
                </a:cubicBezTo>
                <a:lnTo>
                  <a:pt x="36934" y="5442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959720" y="1741714"/>
            <a:ext cx="29680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Research Papers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9720" y="1954985"/>
            <a:ext cx="29680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selection from top-tier venues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723" y="2310437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697" y="2390414"/>
            <a:ext cx="108857" cy="124408"/>
          </a:xfrm>
          <a:custGeom>
            <a:avLst/>
            <a:gdLst/>
            <a:ahLst/>
            <a:cxnLst/>
            <a:rect l="l" t="t" r="r" b="b"/>
            <a:pathLst>
              <a:path w="108857" h="124408">
                <a:moveTo>
                  <a:pt x="31102" y="0"/>
                </a:moveTo>
                <a:cubicBezTo>
                  <a:pt x="26801" y="0"/>
                  <a:pt x="23327" y="3475"/>
                  <a:pt x="23327" y="7776"/>
                </a:cubicBezTo>
                <a:lnTo>
                  <a:pt x="23327" y="15551"/>
                </a:lnTo>
                <a:lnTo>
                  <a:pt x="15551" y="15551"/>
                </a:lnTo>
                <a:cubicBezTo>
                  <a:pt x="6974" y="15551"/>
                  <a:pt x="0" y="22525"/>
                  <a:pt x="0" y="31102"/>
                </a:cubicBezTo>
                <a:lnTo>
                  <a:pt x="0" y="42765"/>
                </a:lnTo>
                <a:lnTo>
                  <a:pt x="108857" y="42765"/>
                </a:lnTo>
                <a:lnTo>
                  <a:pt x="108857" y="31102"/>
                </a:lnTo>
                <a:cubicBezTo>
                  <a:pt x="108857" y="22525"/>
                  <a:pt x="101883" y="15551"/>
                  <a:pt x="93306" y="15551"/>
                </a:cubicBezTo>
                <a:lnTo>
                  <a:pt x="85531" y="15551"/>
                </a:lnTo>
                <a:lnTo>
                  <a:pt x="85531" y="7776"/>
                </a:lnTo>
                <a:cubicBezTo>
                  <a:pt x="85531" y="3475"/>
                  <a:pt x="82056" y="0"/>
                  <a:pt x="77755" y="0"/>
                </a:cubicBezTo>
                <a:cubicBezTo>
                  <a:pt x="73454" y="0"/>
                  <a:pt x="69980" y="3475"/>
                  <a:pt x="69980" y="7776"/>
                </a:cubicBezTo>
                <a:lnTo>
                  <a:pt x="69980" y="15551"/>
                </a:lnTo>
                <a:lnTo>
                  <a:pt x="38878" y="15551"/>
                </a:lnTo>
                <a:lnTo>
                  <a:pt x="38878" y="7776"/>
                </a:lnTo>
                <a:cubicBezTo>
                  <a:pt x="38878" y="3475"/>
                  <a:pt x="35403" y="0"/>
                  <a:pt x="31102" y="0"/>
                </a:cubicBezTo>
                <a:close/>
                <a:moveTo>
                  <a:pt x="0" y="54429"/>
                </a:moveTo>
                <a:lnTo>
                  <a:pt x="0" y="101082"/>
                </a:lnTo>
                <a:cubicBezTo>
                  <a:pt x="0" y="109659"/>
                  <a:pt x="6974" y="116633"/>
                  <a:pt x="15551" y="116633"/>
                </a:cubicBezTo>
                <a:lnTo>
                  <a:pt x="93306" y="116633"/>
                </a:lnTo>
                <a:cubicBezTo>
                  <a:pt x="101883" y="116633"/>
                  <a:pt x="108857" y="109659"/>
                  <a:pt x="108857" y="101082"/>
                </a:cubicBezTo>
                <a:lnTo>
                  <a:pt x="108857" y="54429"/>
                </a:lnTo>
                <a:lnTo>
                  <a:pt x="0" y="5442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959720" y="2274892"/>
            <a:ext cx="20527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Period: 2019-2025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9720" y="2488163"/>
            <a:ext cx="20527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recent advancements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723" y="2843615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0921" y="2923592"/>
            <a:ext cx="124408" cy="124408"/>
          </a:xfrm>
          <a:custGeom>
            <a:avLst/>
            <a:gdLst/>
            <a:ahLst/>
            <a:cxnLst/>
            <a:rect l="l" t="t" r="r" b="b"/>
            <a:pathLst>
              <a:path w="124408" h="124408">
                <a:moveTo>
                  <a:pt x="7776" y="15551"/>
                </a:moveTo>
                <a:cubicBezTo>
                  <a:pt x="4641" y="15551"/>
                  <a:pt x="1798" y="17446"/>
                  <a:pt x="583" y="20362"/>
                </a:cubicBezTo>
                <a:cubicBezTo>
                  <a:pt x="-632" y="23278"/>
                  <a:pt x="49" y="26607"/>
                  <a:pt x="2284" y="28818"/>
                </a:cubicBezTo>
                <a:lnTo>
                  <a:pt x="46653" y="73211"/>
                </a:lnTo>
                <a:lnTo>
                  <a:pt x="46653" y="101082"/>
                </a:lnTo>
                <a:cubicBezTo>
                  <a:pt x="46653" y="103147"/>
                  <a:pt x="47479" y="105115"/>
                  <a:pt x="48937" y="106573"/>
                </a:cubicBezTo>
                <a:lnTo>
                  <a:pt x="64488" y="122124"/>
                </a:lnTo>
                <a:cubicBezTo>
                  <a:pt x="66724" y="124360"/>
                  <a:pt x="70052" y="125016"/>
                  <a:pt x="72968" y="123801"/>
                </a:cubicBezTo>
                <a:cubicBezTo>
                  <a:pt x="75884" y="122586"/>
                  <a:pt x="77755" y="119767"/>
                  <a:pt x="77755" y="116633"/>
                </a:cubicBezTo>
                <a:lnTo>
                  <a:pt x="77755" y="73211"/>
                </a:lnTo>
                <a:lnTo>
                  <a:pt x="122124" y="28842"/>
                </a:lnTo>
                <a:cubicBezTo>
                  <a:pt x="124360" y="26607"/>
                  <a:pt x="125016" y="23278"/>
                  <a:pt x="123801" y="20362"/>
                </a:cubicBezTo>
                <a:cubicBezTo>
                  <a:pt x="122586" y="17446"/>
                  <a:pt x="119767" y="15551"/>
                  <a:pt x="116633" y="15551"/>
                </a:cubicBezTo>
                <a:lnTo>
                  <a:pt x="7776" y="1555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959720" y="2808070"/>
            <a:ext cx="28613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Criteria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9720" y="3021341"/>
            <a:ext cx="28613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Peer-reviewed, NLP-focused, health domain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452" y="3554519"/>
            <a:ext cx="5651685" cy="1954985"/>
          </a:xfrm>
          <a:custGeom>
            <a:avLst/>
            <a:gdLst/>
            <a:ahLst/>
            <a:cxnLst/>
            <a:rect l="l" t="t" r="r" b="b"/>
            <a:pathLst>
              <a:path w="5651685" h="1954985">
                <a:moveTo>
                  <a:pt x="71083" y="0"/>
                </a:moveTo>
                <a:lnTo>
                  <a:pt x="5580602" y="0"/>
                </a:lnTo>
                <a:cubicBezTo>
                  <a:pt x="5619860" y="0"/>
                  <a:pt x="5651685" y="31825"/>
                  <a:pt x="5651685" y="71083"/>
                </a:cubicBezTo>
                <a:lnTo>
                  <a:pt x="5651685" y="1883902"/>
                </a:lnTo>
                <a:cubicBezTo>
                  <a:pt x="5651685" y="1923160"/>
                  <a:pt x="5619860" y="1954985"/>
                  <a:pt x="5580602" y="1954985"/>
                </a:cubicBezTo>
                <a:lnTo>
                  <a:pt x="71083" y="1954985"/>
                </a:lnTo>
                <a:cubicBezTo>
                  <a:pt x="31825" y="1954985"/>
                  <a:pt x="0" y="1923160"/>
                  <a:pt x="0" y="1883902"/>
                </a:cubicBezTo>
                <a:lnTo>
                  <a:pt x="0" y="71083"/>
                </a:lnTo>
                <a:cubicBezTo>
                  <a:pt x="0" y="31851"/>
                  <a:pt x="31851" y="0"/>
                  <a:pt x="7108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3178" y="3732245"/>
            <a:ext cx="538509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Venue Distribution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178" y="4123242"/>
            <a:ext cx="10396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 Articles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46716" y="4123242"/>
            <a:ext cx="3554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178" y="4407603"/>
            <a:ext cx="5296233" cy="71090"/>
          </a:xfrm>
          <a:custGeom>
            <a:avLst/>
            <a:gdLst/>
            <a:ahLst/>
            <a:cxnLst/>
            <a:rect l="l" t="t" r="r" b="b"/>
            <a:pathLst>
              <a:path w="5296233" h="71090">
                <a:moveTo>
                  <a:pt x="35545" y="0"/>
                </a:moveTo>
                <a:lnTo>
                  <a:pt x="5260688" y="0"/>
                </a:lnTo>
                <a:cubicBezTo>
                  <a:pt x="5280319" y="0"/>
                  <a:pt x="5296233" y="15914"/>
                  <a:pt x="5296233" y="35545"/>
                </a:cubicBezTo>
                <a:lnTo>
                  <a:pt x="5296233" y="35545"/>
                </a:lnTo>
                <a:cubicBezTo>
                  <a:pt x="5296233" y="55176"/>
                  <a:pt x="5280319" y="71090"/>
                  <a:pt x="5260688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3178" y="4407603"/>
            <a:ext cx="3181294" cy="71090"/>
          </a:xfrm>
          <a:custGeom>
            <a:avLst/>
            <a:gdLst/>
            <a:ahLst/>
            <a:cxnLst/>
            <a:rect l="l" t="t" r="r" b="b"/>
            <a:pathLst>
              <a:path w="3181294" h="71090">
                <a:moveTo>
                  <a:pt x="35545" y="0"/>
                </a:moveTo>
                <a:lnTo>
                  <a:pt x="3145749" y="0"/>
                </a:lnTo>
                <a:cubicBezTo>
                  <a:pt x="3165380" y="0"/>
                  <a:pt x="3181294" y="15914"/>
                  <a:pt x="3181294" y="35545"/>
                </a:cubicBezTo>
                <a:lnTo>
                  <a:pt x="3181294" y="35545"/>
                </a:lnTo>
                <a:cubicBezTo>
                  <a:pt x="3181294" y="55176"/>
                  <a:pt x="3165380" y="71090"/>
                  <a:pt x="3145749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33178" y="4549784"/>
            <a:ext cx="12973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Conference Papers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46716" y="4549784"/>
            <a:ext cx="3554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3178" y="4834146"/>
            <a:ext cx="5296233" cy="71090"/>
          </a:xfrm>
          <a:custGeom>
            <a:avLst/>
            <a:gdLst/>
            <a:ahLst/>
            <a:cxnLst/>
            <a:rect l="l" t="t" r="r" b="b"/>
            <a:pathLst>
              <a:path w="5296233" h="71090">
                <a:moveTo>
                  <a:pt x="35545" y="0"/>
                </a:moveTo>
                <a:lnTo>
                  <a:pt x="5260688" y="0"/>
                </a:lnTo>
                <a:cubicBezTo>
                  <a:pt x="5280319" y="0"/>
                  <a:pt x="5296233" y="15914"/>
                  <a:pt x="5296233" y="35545"/>
                </a:cubicBezTo>
                <a:lnTo>
                  <a:pt x="5296233" y="35545"/>
                </a:lnTo>
                <a:cubicBezTo>
                  <a:pt x="5296233" y="55176"/>
                  <a:pt x="5280319" y="71090"/>
                  <a:pt x="5260688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3178" y="4834146"/>
            <a:ext cx="1697283" cy="71090"/>
          </a:xfrm>
          <a:custGeom>
            <a:avLst/>
            <a:gdLst/>
            <a:ahLst/>
            <a:cxnLst/>
            <a:rect l="l" t="t" r="r" b="b"/>
            <a:pathLst>
              <a:path w="1697283" h="71090">
                <a:moveTo>
                  <a:pt x="35545" y="0"/>
                </a:moveTo>
                <a:lnTo>
                  <a:pt x="1661738" y="0"/>
                </a:lnTo>
                <a:cubicBezTo>
                  <a:pt x="1681369" y="0"/>
                  <a:pt x="1697283" y="15914"/>
                  <a:pt x="1697283" y="35545"/>
                </a:cubicBezTo>
                <a:lnTo>
                  <a:pt x="1697283" y="35545"/>
                </a:lnTo>
                <a:cubicBezTo>
                  <a:pt x="1697283" y="55176"/>
                  <a:pt x="1681369" y="71090"/>
                  <a:pt x="1661738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533178" y="4976327"/>
            <a:ext cx="6398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Preprints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5804" y="4976327"/>
            <a:ext cx="2754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3178" y="5260688"/>
            <a:ext cx="5296233" cy="71090"/>
          </a:xfrm>
          <a:custGeom>
            <a:avLst/>
            <a:gdLst/>
            <a:ahLst/>
            <a:cxnLst/>
            <a:rect l="l" t="t" r="r" b="b"/>
            <a:pathLst>
              <a:path w="5296233" h="71090">
                <a:moveTo>
                  <a:pt x="35545" y="0"/>
                </a:moveTo>
                <a:lnTo>
                  <a:pt x="5260688" y="0"/>
                </a:lnTo>
                <a:cubicBezTo>
                  <a:pt x="5280319" y="0"/>
                  <a:pt x="5296233" y="15914"/>
                  <a:pt x="5296233" y="35545"/>
                </a:cubicBezTo>
                <a:lnTo>
                  <a:pt x="5296233" y="35545"/>
                </a:lnTo>
                <a:cubicBezTo>
                  <a:pt x="5296233" y="55176"/>
                  <a:pt x="5280319" y="71090"/>
                  <a:pt x="5260688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33178" y="5260688"/>
            <a:ext cx="426542" cy="71090"/>
          </a:xfrm>
          <a:custGeom>
            <a:avLst/>
            <a:gdLst/>
            <a:ahLst/>
            <a:cxnLst/>
            <a:rect l="l" t="t" r="r" b="b"/>
            <a:pathLst>
              <a:path w="426542" h="71090">
                <a:moveTo>
                  <a:pt x="35545" y="0"/>
                </a:moveTo>
                <a:lnTo>
                  <a:pt x="390997" y="0"/>
                </a:lnTo>
                <a:cubicBezTo>
                  <a:pt x="410628" y="0"/>
                  <a:pt x="426542" y="15914"/>
                  <a:pt x="426542" y="35545"/>
                </a:cubicBezTo>
                <a:lnTo>
                  <a:pt x="426542" y="35545"/>
                </a:lnTo>
                <a:cubicBezTo>
                  <a:pt x="426542" y="55176"/>
                  <a:pt x="410628" y="71090"/>
                  <a:pt x="390997" y="71090"/>
                </a:cubicBezTo>
                <a:lnTo>
                  <a:pt x="35545" y="71090"/>
                </a:lnTo>
                <a:cubicBezTo>
                  <a:pt x="15927" y="71090"/>
                  <a:pt x="0" y="55163"/>
                  <a:pt x="0" y="35545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6752" y="1172991"/>
            <a:ext cx="5651685" cy="2274892"/>
          </a:xfrm>
          <a:custGeom>
            <a:avLst/>
            <a:gdLst/>
            <a:ahLst/>
            <a:cxnLst/>
            <a:rect l="l" t="t" r="r" b="b"/>
            <a:pathLst>
              <a:path w="5651685" h="2274892">
                <a:moveTo>
                  <a:pt x="71090" y="0"/>
                </a:moveTo>
                <a:lnTo>
                  <a:pt x="5580595" y="0"/>
                </a:lnTo>
                <a:cubicBezTo>
                  <a:pt x="5619857" y="0"/>
                  <a:pt x="5651685" y="31828"/>
                  <a:pt x="5651685" y="71090"/>
                </a:cubicBezTo>
                <a:lnTo>
                  <a:pt x="5651685" y="2203802"/>
                </a:lnTo>
                <a:cubicBezTo>
                  <a:pt x="5651685" y="2243064"/>
                  <a:pt x="5619857" y="2274892"/>
                  <a:pt x="5580595" y="2274892"/>
                </a:cubicBezTo>
                <a:lnTo>
                  <a:pt x="71090" y="2274892"/>
                </a:lnTo>
                <a:cubicBezTo>
                  <a:pt x="31828" y="2274892"/>
                  <a:pt x="0" y="2243064"/>
                  <a:pt x="0" y="220380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64477" y="1350717"/>
            <a:ext cx="538509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 Dimensions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4477" y="1741714"/>
            <a:ext cx="2594799" cy="710904"/>
          </a:xfrm>
          <a:custGeom>
            <a:avLst/>
            <a:gdLst/>
            <a:ahLst/>
            <a:cxnLst/>
            <a:rect l="l" t="t" r="r" b="b"/>
            <a:pathLst>
              <a:path w="2594799" h="710904">
                <a:moveTo>
                  <a:pt x="35545" y="0"/>
                </a:moveTo>
                <a:lnTo>
                  <a:pt x="2559254" y="0"/>
                </a:lnTo>
                <a:cubicBezTo>
                  <a:pt x="2578885" y="0"/>
                  <a:pt x="2594799" y="15914"/>
                  <a:pt x="2594799" y="35545"/>
                </a:cubicBezTo>
                <a:lnTo>
                  <a:pt x="2594799" y="675359"/>
                </a:lnTo>
                <a:cubicBezTo>
                  <a:pt x="2594799" y="694990"/>
                  <a:pt x="2578885" y="710904"/>
                  <a:pt x="2559254" y="710904"/>
                </a:cubicBezTo>
                <a:lnTo>
                  <a:pt x="35545" y="710904"/>
                </a:lnTo>
                <a:cubicBezTo>
                  <a:pt x="15914" y="710904"/>
                  <a:pt x="0" y="694990"/>
                  <a:pt x="0" y="67535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29027" y="1848350"/>
            <a:ext cx="266589" cy="213271"/>
          </a:xfrm>
          <a:custGeom>
            <a:avLst/>
            <a:gdLst/>
            <a:ahLst/>
            <a:cxnLst/>
            <a:rect l="l" t="t" r="r" b="b"/>
            <a:pathLst>
              <a:path w="266589" h="213271">
                <a:moveTo>
                  <a:pt x="173241" y="87683"/>
                </a:moveTo>
                <a:cubicBezTo>
                  <a:pt x="178323" y="86308"/>
                  <a:pt x="183655" y="88724"/>
                  <a:pt x="185946" y="93431"/>
                </a:cubicBezTo>
                <a:lnTo>
                  <a:pt x="193694" y="109093"/>
                </a:lnTo>
                <a:cubicBezTo>
                  <a:pt x="197984" y="109676"/>
                  <a:pt x="202191" y="110843"/>
                  <a:pt x="206148" y="112467"/>
                </a:cubicBezTo>
                <a:lnTo>
                  <a:pt x="220727" y="102762"/>
                </a:lnTo>
                <a:cubicBezTo>
                  <a:pt x="225101" y="99846"/>
                  <a:pt x="230891" y="100429"/>
                  <a:pt x="234598" y="104136"/>
                </a:cubicBezTo>
                <a:lnTo>
                  <a:pt x="242596" y="112134"/>
                </a:lnTo>
                <a:cubicBezTo>
                  <a:pt x="246303" y="115841"/>
                  <a:pt x="246886" y="121673"/>
                  <a:pt x="243971" y="126005"/>
                </a:cubicBezTo>
                <a:lnTo>
                  <a:pt x="234265" y="140542"/>
                </a:lnTo>
                <a:cubicBezTo>
                  <a:pt x="235056" y="142500"/>
                  <a:pt x="235765" y="144541"/>
                  <a:pt x="236348" y="146666"/>
                </a:cubicBezTo>
                <a:cubicBezTo>
                  <a:pt x="236931" y="148790"/>
                  <a:pt x="237306" y="150873"/>
                  <a:pt x="237597" y="152997"/>
                </a:cubicBezTo>
                <a:lnTo>
                  <a:pt x="253301" y="160745"/>
                </a:lnTo>
                <a:cubicBezTo>
                  <a:pt x="258008" y="163077"/>
                  <a:pt x="260424" y="168409"/>
                  <a:pt x="259049" y="173449"/>
                </a:cubicBezTo>
                <a:lnTo>
                  <a:pt x="256134" y="184363"/>
                </a:lnTo>
                <a:cubicBezTo>
                  <a:pt x="254759" y="189403"/>
                  <a:pt x="250052" y="192819"/>
                  <a:pt x="244804" y="192486"/>
                </a:cubicBezTo>
                <a:lnTo>
                  <a:pt x="227309" y="191361"/>
                </a:lnTo>
                <a:cubicBezTo>
                  <a:pt x="224684" y="194735"/>
                  <a:pt x="221644" y="197859"/>
                  <a:pt x="218186" y="200525"/>
                </a:cubicBezTo>
                <a:lnTo>
                  <a:pt x="219311" y="217978"/>
                </a:lnTo>
                <a:cubicBezTo>
                  <a:pt x="219644" y="223227"/>
                  <a:pt x="216229" y="227975"/>
                  <a:pt x="211188" y="229308"/>
                </a:cubicBezTo>
                <a:lnTo>
                  <a:pt x="200275" y="232224"/>
                </a:lnTo>
                <a:cubicBezTo>
                  <a:pt x="195193" y="233599"/>
                  <a:pt x="189903" y="231183"/>
                  <a:pt x="187570" y="226476"/>
                </a:cubicBezTo>
                <a:lnTo>
                  <a:pt x="179823" y="210814"/>
                </a:lnTo>
                <a:cubicBezTo>
                  <a:pt x="175532" y="210230"/>
                  <a:pt x="171325" y="209064"/>
                  <a:pt x="167368" y="207440"/>
                </a:cubicBezTo>
                <a:lnTo>
                  <a:pt x="152789" y="217145"/>
                </a:lnTo>
                <a:cubicBezTo>
                  <a:pt x="148415" y="220061"/>
                  <a:pt x="142625" y="219478"/>
                  <a:pt x="138918" y="215770"/>
                </a:cubicBezTo>
                <a:lnTo>
                  <a:pt x="130920" y="207773"/>
                </a:lnTo>
                <a:cubicBezTo>
                  <a:pt x="127213" y="204065"/>
                  <a:pt x="126630" y="198276"/>
                  <a:pt x="129546" y="193902"/>
                </a:cubicBezTo>
                <a:lnTo>
                  <a:pt x="139251" y="179323"/>
                </a:lnTo>
                <a:cubicBezTo>
                  <a:pt x="138460" y="177365"/>
                  <a:pt x="137751" y="175324"/>
                  <a:pt x="137168" y="173199"/>
                </a:cubicBezTo>
                <a:cubicBezTo>
                  <a:pt x="136585" y="171075"/>
                  <a:pt x="136210" y="168951"/>
                  <a:pt x="135919" y="166868"/>
                </a:cubicBezTo>
                <a:lnTo>
                  <a:pt x="120215" y="159120"/>
                </a:lnTo>
                <a:cubicBezTo>
                  <a:pt x="115508" y="156788"/>
                  <a:pt x="113134" y="151456"/>
                  <a:pt x="114467" y="146416"/>
                </a:cubicBezTo>
                <a:lnTo>
                  <a:pt x="117382" y="135502"/>
                </a:lnTo>
                <a:cubicBezTo>
                  <a:pt x="118757" y="130462"/>
                  <a:pt x="123464" y="127046"/>
                  <a:pt x="128712" y="127380"/>
                </a:cubicBezTo>
                <a:lnTo>
                  <a:pt x="146166" y="128504"/>
                </a:lnTo>
                <a:cubicBezTo>
                  <a:pt x="148790" y="125130"/>
                  <a:pt x="151831" y="122006"/>
                  <a:pt x="155288" y="119340"/>
                </a:cubicBezTo>
                <a:lnTo>
                  <a:pt x="154163" y="101929"/>
                </a:lnTo>
                <a:cubicBezTo>
                  <a:pt x="153830" y="96680"/>
                  <a:pt x="157246" y="91932"/>
                  <a:pt x="162286" y="90599"/>
                </a:cubicBezTo>
                <a:lnTo>
                  <a:pt x="173199" y="87683"/>
                </a:lnTo>
                <a:close/>
                <a:moveTo>
                  <a:pt x="186779" y="141625"/>
                </a:moveTo>
                <a:cubicBezTo>
                  <a:pt x="176663" y="141637"/>
                  <a:pt x="168460" y="149859"/>
                  <a:pt x="168472" y="159974"/>
                </a:cubicBezTo>
                <a:cubicBezTo>
                  <a:pt x="168483" y="170090"/>
                  <a:pt x="176705" y="178293"/>
                  <a:pt x="186821" y="178281"/>
                </a:cubicBezTo>
                <a:cubicBezTo>
                  <a:pt x="196936" y="178270"/>
                  <a:pt x="205139" y="170048"/>
                  <a:pt x="205128" y="159933"/>
                </a:cubicBezTo>
                <a:cubicBezTo>
                  <a:pt x="205116" y="149817"/>
                  <a:pt x="196894" y="141614"/>
                  <a:pt x="186779" y="141625"/>
                </a:cubicBezTo>
                <a:close/>
                <a:moveTo>
                  <a:pt x="93681" y="-18953"/>
                </a:moveTo>
                <a:lnTo>
                  <a:pt x="104594" y="-16037"/>
                </a:lnTo>
                <a:cubicBezTo>
                  <a:pt x="109635" y="-14662"/>
                  <a:pt x="113050" y="-9914"/>
                  <a:pt x="112717" y="-4707"/>
                </a:cubicBezTo>
                <a:lnTo>
                  <a:pt x="111592" y="12705"/>
                </a:lnTo>
                <a:cubicBezTo>
                  <a:pt x="115050" y="15371"/>
                  <a:pt x="118091" y="18453"/>
                  <a:pt x="120715" y="21869"/>
                </a:cubicBezTo>
                <a:lnTo>
                  <a:pt x="138210" y="20744"/>
                </a:lnTo>
                <a:cubicBezTo>
                  <a:pt x="143417" y="20411"/>
                  <a:pt x="148165" y="23826"/>
                  <a:pt x="149540" y="28867"/>
                </a:cubicBezTo>
                <a:lnTo>
                  <a:pt x="152456" y="39780"/>
                </a:lnTo>
                <a:cubicBezTo>
                  <a:pt x="153788" y="44820"/>
                  <a:pt x="151414" y="50152"/>
                  <a:pt x="146707" y="52485"/>
                </a:cubicBezTo>
                <a:lnTo>
                  <a:pt x="131003" y="60232"/>
                </a:lnTo>
                <a:cubicBezTo>
                  <a:pt x="130712" y="62357"/>
                  <a:pt x="130295" y="64481"/>
                  <a:pt x="129754" y="66564"/>
                </a:cubicBezTo>
                <a:cubicBezTo>
                  <a:pt x="129212" y="68647"/>
                  <a:pt x="128463" y="70729"/>
                  <a:pt x="127671" y="72687"/>
                </a:cubicBezTo>
                <a:lnTo>
                  <a:pt x="137377" y="87266"/>
                </a:lnTo>
                <a:cubicBezTo>
                  <a:pt x="140292" y="91640"/>
                  <a:pt x="139709" y="97430"/>
                  <a:pt x="136002" y="101137"/>
                </a:cubicBezTo>
                <a:lnTo>
                  <a:pt x="128004" y="109135"/>
                </a:lnTo>
                <a:cubicBezTo>
                  <a:pt x="124297" y="112842"/>
                  <a:pt x="118507" y="113425"/>
                  <a:pt x="114133" y="110509"/>
                </a:cubicBezTo>
                <a:lnTo>
                  <a:pt x="99554" y="100804"/>
                </a:lnTo>
                <a:cubicBezTo>
                  <a:pt x="95597" y="102428"/>
                  <a:pt x="91390" y="103595"/>
                  <a:pt x="87100" y="104178"/>
                </a:cubicBezTo>
                <a:lnTo>
                  <a:pt x="79352" y="119840"/>
                </a:lnTo>
                <a:cubicBezTo>
                  <a:pt x="77019" y="124547"/>
                  <a:pt x="71687" y="126921"/>
                  <a:pt x="66647" y="125588"/>
                </a:cubicBezTo>
                <a:lnTo>
                  <a:pt x="55734" y="122673"/>
                </a:lnTo>
                <a:cubicBezTo>
                  <a:pt x="50652" y="121298"/>
                  <a:pt x="47278" y="116549"/>
                  <a:pt x="47611" y="111343"/>
                </a:cubicBezTo>
                <a:lnTo>
                  <a:pt x="48736" y="93889"/>
                </a:lnTo>
                <a:cubicBezTo>
                  <a:pt x="45278" y="91223"/>
                  <a:pt x="42238" y="88141"/>
                  <a:pt x="39613" y="84725"/>
                </a:cubicBezTo>
                <a:lnTo>
                  <a:pt x="22119" y="85850"/>
                </a:lnTo>
                <a:cubicBezTo>
                  <a:pt x="16912" y="86183"/>
                  <a:pt x="12163" y="82768"/>
                  <a:pt x="10789" y="77727"/>
                </a:cubicBezTo>
                <a:lnTo>
                  <a:pt x="7873" y="66814"/>
                </a:lnTo>
                <a:cubicBezTo>
                  <a:pt x="6540" y="61774"/>
                  <a:pt x="8914" y="56442"/>
                  <a:pt x="13621" y="54109"/>
                </a:cubicBezTo>
                <a:lnTo>
                  <a:pt x="29325" y="46361"/>
                </a:lnTo>
                <a:cubicBezTo>
                  <a:pt x="29616" y="44237"/>
                  <a:pt x="30033" y="42154"/>
                  <a:pt x="30574" y="40030"/>
                </a:cubicBezTo>
                <a:cubicBezTo>
                  <a:pt x="31158" y="37906"/>
                  <a:pt x="31824" y="35865"/>
                  <a:pt x="32657" y="33907"/>
                </a:cubicBezTo>
                <a:lnTo>
                  <a:pt x="22952" y="19369"/>
                </a:lnTo>
                <a:cubicBezTo>
                  <a:pt x="20036" y="14996"/>
                  <a:pt x="20619" y="9206"/>
                  <a:pt x="24326" y="5498"/>
                </a:cubicBezTo>
                <a:lnTo>
                  <a:pt x="32324" y="-2499"/>
                </a:lnTo>
                <a:cubicBezTo>
                  <a:pt x="36031" y="-6207"/>
                  <a:pt x="41821" y="-6790"/>
                  <a:pt x="46195" y="-3874"/>
                </a:cubicBezTo>
                <a:lnTo>
                  <a:pt x="60774" y="5832"/>
                </a:lnTo>
                <a:cubicBezTo>
                  <a:pt x="64731" y="4207"/>
                  <a:pt x="68938" y="3041"/>
                  <a:pt x="73229" y="2458"/>
                </a:cubicBezTo>
                <a:lnTo>
                  <a:pt x="80976" y="-13204"/>
                </a:lnTo>
                <a:cubicBezTo>
                  <a:pt x="83309" y="-17911"/>
                  <a:pt x="88599" y="-20286"/>
                  <a:pt x="93681" y="-18953"/>
                </a:cubicBezTo>
                <a:close/>
                <a:moveTo>
                  <a:pt x="80143" y="34990"/>
                </a:moveTo>
                <a:cubicBezTo>
                  <a:pt x="70028" y="34990"/>
                  <a:pt x="61815" y="43202"/>
                  <a:pt x="61815" y="53318"/>
                </a:cubicBezTo>
                <a:cubicBezTo>
                  <a:pt x="61815" y="63433"/>
                  <a:pt x="70028" y="71646"/>
                  <a:pt x="80143" y="71646"/>
                </a:cubicBezTo>
                <a:cubicBezTo>
                  <a:pt x="90259" y="71646"/>
                  <a:pt x="98471" y="63433"/>
                  <a:pt x="98471" y="53318"/>
                </a:cubicBezTo>
                <a:cubicBezTo>
                  <a:pt x="98471" y="43202"/>
                  <a:pt x="90259" y="34990"/>
                  <a:pt x="80143" y="3499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6435568" y="2132711"/>
            <a:ext cx="2452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Methods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6911" y="1741714"/>
            <a:ext cx="2594799" cy="710904"/>
          </a:xfrm>
          <a:custGeom>
            <a:avLst/>
            <a:gdLst/>
            <a:ahLst/>
            <a:cxnLst/>
            <a:rect l="l" t="t" r="r" b="b"/>
            <a:pathLst>
              <a:path w="2594799" h="710904">
                <a:moveTo>
                  <a:pt x="35545" y="0"/>
                </a:moveTo>
                <a:lnTo>
                  <a:pt x="2559254" y="0"/>
                </a:lnTo>
                <a:cubicBezTo>
                  <a:pt x="2578885" y="0"/>
                  <a:pt x="2594799" y="15914"/>
                  <a:pt x="2594799" y="35545"/>
                </a:cubicBezTo>
                <a:lnTo>
                  <a:pt x="2594799" y="675359"/>
                </a:lnTo>
                <a:cubicBezTo>
                  <a:pt x="2594799" y="694990"/>
                  <a:pt x="2578885" y="710904"/>
                  <a:pt x="2559254" y="710904"/>
                </a:cubicBezTo>
                <a:lnTo>
                  <a:pt x="35545" y="710904"/>
                </a:lnTo>
                <a:cubicBezTo>
                  <a:pt x="15914" y="710904"/>
                  <a:pt x="0" y="694990"/>
                  <a:pt x="0" y="67535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71449" y="1848350"/>
            <a:ext cx="186612" cy="213271"/>
          </a:xfrm>
          <a:custGeom>
            <a:avLst/>
            <a:gdLst/>
            <a:ahLst/>
            <a:cxnLst/>
            <a:rect l="l" t="t" r="r" b="b"/>
            <a:pathLst>
              <a:path w="186612" h="213271">
                <a:moveTo>
                  <a:pt x="186612" y="85725"/>
                </a:moveTo>
                <a:cubicBezTo>
                  <a:pt x="180447" y="89807"/>
                  <a:pt x="173366" y="93098"/>
                  <a:pt x="165993" y="95722"/>
                </a:cubicBezTo>
                <a:cubicBezTo>
                  <a:pt x="146416" y="102720"/>
                  <a:pt x="120715" y="106636"/>
                  <a:pt x="93306" y="106636"/>
                </a:cubicBezTo>
                <a:cubicBezTo>
                  <a:pt x="65897" y="106636"/>
                  <a:pt x="40155" y="102678"/>
                  <a:pt x="20619" y="95722"/>
                </a:cubicBezTo>
                <a:cubicBezTo>
                  <a:pt x="13288" y="93098"/>
                  <a:pt x="6165" y="89807"/>
                  <a:pt x="0" y="85725"/>
                </a:cubicBezTo>
                <a:lnTo>
                  <a:pt x="0" y="119965"/>
                </a:lnTo>
                <a:cubicBezTo>
                  <a:pt x="0" y="138376"/>
                  <a:pt x="41779" y="153289"/>
                  <a:pt x="93306" y="153289"/>
                </a:cubicBezTo>
                <a:cubicBezTo>
                  <a:pt x="144833" y="153289"/>
                  <a:pt x="186612" y="138376"/>
                  <a:pt x="186612" y="119965"/>
                </a:cubicBezTo>
                <a:lnTo>
                  <a:pt x="186612" y="85725"/>
                </a:lnTo>
                <a:close/>
                <a:moveTo>
                  <a:pt x="186612" y="53318"/>
                </a:moveTo>
                <a:lnTo>
                  <a:pt x="186612" y="33324"/>
                </a:lnTo>
                <a:cubicBezTo>
                  <a:pt x="186612" y="14912"/>
                  <a:pt x="144833" y="0"/>
                  <a:pt x="93306" y="0"/>
                </a:cubicBezTo>
                <a:cubicBezTo>
                  <a:pt x="41779" y="0"/>
                  <a:pt x="0" y="14912"/>
                  <a:pt x="0" y="33324"/>
                </a:cubicBezTo>
                <a:lnTo>
                  <a:pt x="0" y="53318"/>
                </a:lnTo>
                <a:cubicBezTo>
                  <a:pt x="0" y="71729"/>
                  <a:pt x="41779" y="86641"/>
                  <a:pt x="93306" y="86641"/>
                </a:cubicBezTo>
                <a:cubicBezTo>
                  <a:pt x="144833" y="86641"/>
                  <a:pt x="186612" y="71729"/>
                  <a:pt x="186612" y="53318"/>
                </a:cubicBezTo>
                <a:close/>
                <a:moveTo>
                  <a:pt x="165993" y="162369"/>
                </a:moveTo>
                <a:cubicBezTo>
                  <a:pt x="146457" y="169326"/>
                  <a:pt x="120756" y="173283"/>
                  <a:pt x="93306" y="173283"/>
                </a:cubicBezTo>
                <a:cubicBezTo>
                  <a:pt x="65856" y="173283"/>
                  <a:pt x="40155" y="169326"/>
                  <a:pt x="20619" y="162369"/>
                </a:cubicBezTo>
                <a:cubicBezTo>
                  <a:pt x="13288" y="159745"/>
                  <a:pt x="6165" y="156454"/>
                  <a:pt x="0" y="152372"/>
                </a:cubicBezTo>
                <a:lnTo>
                  <a:pt x="0" y="179948"/>
                </a:lnTo>
                <a:cubicBezTo>
                  <a:pt x="0" y="198359"/>
                  <a:pt x="41779" y="213271"/>
                  <a:pt x="93306" y="213271"/>
                </a:cubicBezTo>
                <a:cubicBezTo>
                  <a:pt x="144833" y="213271"/>
                  <a:pt x="186612" y="198359"/>
                  <a:pt x="186612" y="179948"/>
                </a:cubicBezTo>
                <a:lnTo>
                  <a:pt x="186612" y="152372"/>
                </a:lnTo>
                <a:cubicBezTo>
                  <a:pt x="180447" y="156454"/>
                  <a:pt x="173366" y="159745"/>
                  <a:pt x="165993" y="16236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9138002" y="2132711"/>
            <a:ext cx="2452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4477" y="2559254"/>
            <a:ext cx="2594799" cy="710904"/>
          </a:xfrm>
          <a:custGeom>
            <a:avLst/>
            <a:gdLst/>
            <a:ahLst/>
            <a:cxnLst/>
            <a:rect l="l" t="t" r="r" b="b"/>
            <a:pathLst>
              <a:path w="2594799" h="710904">
                <a:moveTo>
                  <a:pt x="35545" y="0"/>
                </a:moveTo>
                <a:lnTo>
                  <a:pt x="2559254" y="0"/>
                </a:lnTo>
                <a:cubicBezTo>
                  <a:pt x="2578885" y="0"/>
                  <a:pt x="2594799" y="15914"/>
                  <a:pt x="2594799" y="35545"/>
                </a:cubicBezTo>
                <a:lnTo>
                  <a:pt x="2594799" y="675359"/>
                </a:lnTo>
                <a:cubicBezTo>
                  <a:pt x="2594799" y="694990"/>
                  <a:pt x="2578885" y="710904"/>
                  <a:pt x="2559254" y="710904"/>
                </a:cubicBezTo>
                <a:lnTo>
                  <a:pt x="35545" y="710904"/>
                </a:lnTo>
                <a:cubicBezTo>
                  <a:pt x="15914" y="710904"/>
                  <a:pt x="0" y="694990"/>
                  <a:pt x="0" y="67535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55686" y="266588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6659" y="26659"/>
                </a:moveTo>
                <a:cubicBezTo>
                  <a:pt x="26659" y="19286"/>
                  <a:pt x="20702" y="13329"/>
                  <a:pt x="13329" y="13329"/>
                </a:cubicBezTo>
                <a:cubicBezTo>
                  <a:pt x="5957" y="13329"/>
                  <a:pt x="0" y="19286"/>
                  <a:pt x="0" y="26659"/>
                </a:cubicBezTo>
                <a:lnTo>
                  <a:pt x="0" y="166618"/>
                </a:lnTo>
                <a:cubicBezTo>
                  <a:pt x="0" y="185029"/>
                  <a:pt x="14912" y="199942"/>
                  <a:pt x="33324" y="199942"/>
                </a:cubicBezTo>
                <a:lnTo>
                  <a:pt x="199942" y="199942"/>
                </a:lnTo>
                <a:cubicBezTo>
                  <a:pt x="207315" y="199942"/>
                  <a:pt x="213271" y="193985"/>
                  <a:pt x="213271" y="186612"/>
                </a:cubicBezTo>
                <a:cubicBezTo>
                  <a:pt x="213271" y="179239"/>
                  <a:pt x="207315" y="173283"/>
                  <a:pt x="199942" y="173283"/>
                </a:cubicBezTo>
                <a:lnTo>
                  <a:pt x="33324" y="173283"/>
                </a:lnTo>
                <a:cubicBezTo>
                  <a:pt x="29658" y="173283"/>
                  <a:pt x="26659" y="170284"/>
                  <a:pt x="26659" y="166618"/>
                </a:cubicBezTo>
                <a:lnTo>
                  <a:pt x="26659" y="26659"/>
                </a:lnTo>
                <a:close/>
                <a:moveTo>
                  <a:pt x="196026" y="62732"/>
                </a:moveTo>
                <a:cubicBezTo>
                  <a:pt x="201233" y="57525"/>
                  <a:pt x="201233" y="49069"/>
                  <a:pt x="196026" y="43862"/>
                </a:cubicBezTo>
                <a:cubicBezTo>
                  <a:pt x="190819" y="38655"/>
                  <a:pt x="182363" y="38655"/>
                  <a:pt x="177157" y="43862"/>
                </a:cubicBezTo>
                <a:lnTo>
                  <a:pt x="133294" y="87766"/>
                </a:lnTo>
                <a:lnTo>
                  <a:pt x="109385" y="63898"/>
                </a:lnTo>
                <a:cubicBezTo>
                  <a:pt x="104178" y="58691"/>
                  <a:pt x="95722" y="58691"/>
                  <a:pt x="90515" y="63898"/>
                </a:cubicBezTo>
                <a:lnTo>
                  <a:pt x="50527" y="103886"/>
                </a:lnTo>
                <a:cubicBezTo>
                  <a:pt x="45320" y="109093"/>
                  <a:pt x="45320" y="117549"/>
                  <a:pt x="50527" y="122756"/>
                </a:cubicBezTo>
                <a:cubicBezTo>
                  <a:pt x="55734" y="127963"/>
                  <a:pt x="64190" y="127963"/>
                  <a:pt x="69396" y="122756"/>
                </a:cubicBezTo>
                <a:lnTo>
                  <a:pt x="99971" y="92181"/>
                </a:lnTo>
                <a:lnTo>
                  <a:pt x="123881" y="116091"/>
                </a:lnTo>
                <a:cubicBezTo>
                  <a:pt x="129087" y="121298"/>
                  <a:pt x="137543" y="121298"/>
                  <a:pt x="142750" y="116091"/>
                </a:cubicBezTo>
                <a:lnTo>
                  <a:pt x="196068" y="6277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3" name="Text 41"/>
          <p:cNvSpPr/>
          <p:nvPr/>
        </p:nvSpPr>
        <p:spPr>
          <a:xfrm>
            <a:off x="6435568" y="2950251"/>
            <a:ext cx="2452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66911" y="2559254"/>
            <a:ext cx="2594799" cy="710904"/>
          </a:xfrm>
          <a:custGeom>
            <a:avLst/>
            <a:gdLst/>
            <a:ahLst/>
            <a:cxnLst/>
            <a:rect l="l" t="t" r="r" b="b"/>
            <a:pathLst>
              <a:path w="2594799" h="710904">
                <a:moveTo>
                  <a:pt x="35545" y="0"/>
                </a:moveTo>
                <a:lnTo>
                  <a:pt x="2559254" y="0"/>
                </a:lnTo>
                <a:cubicBezTo>
                  <a:pt x="2578885" y="0"/>
                  <a:pt x="2594799" y="15914"/>
                  <a:pt x="2594799" y="35545"/>
                </a:cubicBezTo>
                <a:lnTo>
                  <a:pt x="2594799" y="675359"/>
                </a:lnTo>
                <a:cubicBezTo>
                  <a:pt x="2594799" y="694990"/>
                  <a:pt x="2578885" y="710904"/>
                  <a:pt x="2559254" y="710904"/>
                </a:cubicBezTo>
                <a:lnTo>
                  <a:pt x="35545" y="710904"/>
                </a:lnTo>
                <a:cubicBezTo>
                  <a:pt x="15914" y="710904"/>
                  <a:pt x="0" y="694990"/>
                  <a:pt x="0" y="67535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258120" y="266588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213271"/>
                </a:moveTo>
                <a:cubicBezTo>
                  <a:pt x="165489" y="213271"/>
                  <a:pt x="213271" y="165489"/>
                  <a:pt x="213271" y="106636"/>
                </a:cubicBezTo>
                <a:cubicBezTo>
                  <a:pt x="213271" y="47782"/>
                  <a:pt x="165489" y="0"/>
                  <a:pt x="106636" y="0"/>
                </a:cubicBezTo>
                <a:cubicBezTo>
                  <a:pt x="47782" y="0"/>
                  <a:pt x="0" y="47782"/>
                  <a:pt x="0" y="106636"/>
                </a:cubicBezTo>
                <a:cubicBezTo>
                  <a:pt x="0" y="165489"/>
                  <a:pt x="47782" y="213271"/>
                  <a:pt x="106636" y="213271"/>
                </a:cubicBezTo>
                <a:close/>
                <a:moveTo>
                  <a:pt x="106636" y="56650"/>
                </a:moveTo>
                <a:cubicBezTo>
                  <a:pt x="112176" y="56650"/>
                  <a:pt x="116633" y="61107"/>
                  <a:pt x="116633" y="66647"/>
                </a:cubicBezTo>
                <a:lnTo>
                  <a:pt x="116633" y="113300"/>
                </a:lnTo>
                <a:cubicBezTo>
                  <a:pt x="116633" y="118840"/>
                  <a:pt x="112176" y="123297"/>
                  <a:pt x="106636" y="123297"/>
                </a:cubicBezTo>
                <a:cubicBezTo>
                  <a:pt x="101096" y="123297"/>
                  <a:pt x="96638" y="118840"/>
                  <a:pt x="96638" y="113300"/>
                </a:cubicBezTo>
                <a:lnTo>
                  <a:pt x="96638" y="66647"/>
                </a:lnTo>
                <a:cubicBezTo>
                  <a:pt x="96638" y="61107"/>
                  <a:pt x="101096" y="56650"/>
                  <a:pt x="106636" y="56650"/>
                </a:cubicBezTo>
                <a:close/>
                <a:moveTo>
                  <a:pt x="95514" y="146624"/>
                </a:moveTo>
                <a:cubicBezTo>
                  <a:pt x="95261" y="142496"/>
                  <a:pt x="97320" y="138568"/>
                  <a:pt x="100859" y="136427"/>
                </a:cubicBezTo>
                <a:cubicBezTo>
                  <a:pt x="104397" y="134287"/>
                  <a:pt x="108832" y="134287"/>
                  <a:pt x="112371" y="136427"/>
                </a:cubicBezTo>
                <a:cubicBezTo>
                  <a:pt x="115910" y="138568"/>
                  <a:pt x="117969" y="142496"/>
                  <a:pt x="117716" y="146624"/>
                </a:cubicBezTo>
                <a:cubicBezTo>
                  <a:pt x="117969" y="150752"/>
                  <a:pt x="115910" y="154680"/>
                  <a:pt x="112371" y="156820"/>
                </a:cubicBezTo>
                <a:cubicBezTo>
                  <a:pt x="108832" y="158961"/>
                  <a:pt x="104397" y="158961"/>
                  <a:pt x="100859" y="156820"/>
                </a:cubicBezTo>
                <a:cubicBezTo>
                  <a:pt x="97320" y="154680"/>
                  <a:pt x="95261" y="150752"/>
                  <a:pt x="95514" y="14662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Text 44"/>
          <p:cNvSpPr/>
          <p:nvPr/>
        </p:nvSpPr>
        <p:spPr>
          <a:xfrm>
            <a:off x="9138002" y="2950251"/>
            <a:ext cx="2452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6752" y="3590064"/>
            <a:ext cx="5651685" cy="1030810"/>
          </a:xfrm>
          <a:custGeom>
            <a:avLst/>
            <a:gdLst/>
            <a:ahLst/>
            <a:cxnLst/>
            <a:rect l="l" t="t" r="r" b="b"/>
            <a:pathLst>
              <a:path w="5651685" h="1030810">
                <a:moveTo>
                  <a:pt x="71095" y="0"/>
                </a:moveTo>
                <a:lnTo>
                  <a:pt x="5580590" y="0"/>
                </a:lnTo>
                <a:cubicBezTo>
                  <a:pt x="5619855" y="0"/>
                  <a:pt x="5651685" y="31830"/>
                  <a:pt x="5651685" y="71095"/>
                </a:cubicBezTo>
                <a:lnTo>
                  <a:pt x="5651685" y="959715"/>
                </a:lnTo>
                <a:cubicBezTo>
                  <a:pt x="5651685" y="998980"/>
                  <a:pt x="5619855" y="1030810"/>
                  <a:pt x="5580590" y="1030810"/>
                </a:cubicBezTo>
                <a:lnTo>
                  <a:pt x="71095" y="1030810"/>
                </a:lnTo>
                <a:cubicBezTo>
                  <a:pt x="31830" y="1030810"/>
                  <a:pt x="0" y="998980"/>
                  <a:pt x="0" y="959715"/>
                </a:cubicBezTo>
                <a:lnTo>
                  <a:pt x="0" y="71095"/>
                </a:lnTo>
                <a:cubicBezTo>
                  <a:pt x="0" y="31857"/>
                  <a:pt x="31857" y="0"/>
                  <a:pt x="710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64477" y="3767790"/>
            <a:ext cx="538509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Health Topics Covered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64477" y="4158787"/>
            <a:ext cx="870857" cy="284362"/>
          </a:xfrm>
          <a:custGeom>
            <a:avLst/>
            <a:gdLst/>
            <a:ahLst/>
            <a:cxnLst/>
            <a:rect l="l" t="t" r="r" b="b"/>
            <a:pathLst>
              <a:path w="870857" h="284362">
                <a:moveTo>
                  <a:pt x="142181" y="0"/>
                </a:moveTo>
                <a:lnTo>
                  <a:pt x="728676" y="0"/>
                </a:lnTo>
                <a:cubicBezTo>
                  <a:pt x="807201" y="0"/>
                  <a:pt x="870857" y="63656"/>
                  <a:pt x="870857" y="142181"/>
                </a:cubicBezTo>
                <a:lnTo>
                  <a:pt x="870857" y="142181"/>
                </a:lnTo>
                <a:cubicBezTo>
                  <a:pt x="870857" y="220705"/>
                  <a:pt x="807201" y="284362"/>
                  <a:pt x="728676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64477" y="4158787"/>
            <a:ext cx="941948" cy="284362"/>
          </a:xfrm>
          <a:prstGeom prst="rect">
            <a:avLst/>
          </a:prstGeom>
          <a:noFill/>
          <a:ln/>
        </p:spPr>
        <p:txBody>
          <a:bodyPr wrap="square" lIns="106636" tIns="35545" rIns="106636" bIns="35545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04648" y="4158787"/>
            <a:ext cx="790880" cy="284362"/>
          </a:xfrm>
          <a:custGeom>
            <a:avLst/>
            <a:gdLst/>
            <a:ahLst/>
            <a:cxnLst/>
            <a:rect l="l" t="t" r="r" b="b"/>
            <a:pathLst>
              <a:path w="790880" h="284362">
                <a:moveTo>
                  <a:pt x="142181" y="0"/>
                </a:moveTo>
                <a:lnTo>
                  <a:pt x="648700" y="0"/>
                </a:lnTo>
                <a:cubicBezTo>
                  <a:pt x="727224" y="0"/>
                  <a:pt x="790880" y="63656"/>
                  <a:pt x="790880" y="142181"/>
                </a:cubicBezTo>
                <a:lnTo>
                  <a:pt x="790880" y="142181"/>
                </a:lnTo>
                <a:cubicBezTo>
                  <a:pt x="790880" y="220705"/>
                  <a:pt x="727224" y="284362"/>
                  <a:pt x="648700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304648" y="4158787"/>
            <a:ext cx="861971" cy="284362"/>
          </a:xfrm>
          <a:prstGeom prst="rect">
            <a:avLst/>
          </a:prstGeom>
          <a:noFill/>
          <a:ln/>
        </p:spPr>
        <p:txBody>
          <a:bodyPr wrap="square" lIns="106636" tIns="35545" rIns="106636" bIns="35545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Vaccines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65952" y="4158787"/>
            <a:ext cx="1093015" cy="284362"/>
          </a:xfrm>
          <a:custGeom>
            <a:avLst/>
            <a:gdLst/>
            <a:ahLst/>
            <a:cxnLst/>
            <a:rect l="l" t="t" r="r" b="b"/>
            <a:pathLst>
              <a:path w="1093015" h="284362">
                <a:moveTo>
                  <a:pt x="142181" y="0"/>
                </a:moveTo>
                <a:lnTo>
                  <a:pt x="950834" y="0"/>
                </a:lnTo>
                <a:cubicBezTo>
                  <a:pt x="1029358" y="0"/>
                  <a:pt x="1093015" y="63656"/>
                  <a:pt x="1093015" y="142181"/>
                </a:cubicBezTo>
                <a:lnTo>
                  <a:pt x="1093015" y="142181"/>
                </a:lnTo>
                <a:cubicBezTo>
                  <a:pt x="1093015" y="220705"/>
                  <a:pt x="1029358" y="284362"/>
                  <a:pt x="950834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165952" y="4158787"/>
            <a:ext cx="1164105" cy="284362"/>
          </a:xfrm>
          <a:prstGeom prst="rect">
            <a:avLst/>
          </a:prstGeom>
          <a:noFill/>
          <a:ln/>
        </p:spPr>
        <p:txBody>
          <a:bodyPr wrap="square" lIns="106636" tIns="35545" rIns="106636" bIns="35545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Health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327613" y="4158787"/>
            <a:ext cx="675359" cy="284362"/>
          </a:xfrm>
          <a:custGeom>
            <a:avLst/>
            <a:gdLst/>
            <a:ahLst/>
            <a:cxnLst/>
            <a:rect l="l" t="t" r="r" b="b"/>
            <a:pathLst>
              <a:path w="675359" h="284362">
                <a:moveTo>
                  <a:pt x="142181" y="0"/>
                </a:moveTo>
                <a:lnTo>
                  <a:pt x="533178" y="0"/>
                </a:lnTo>
                <a:cubicBezTo>
                  <a:pt x="611702" y="0"/>
                  <a:pt x="675359" y="63656"/>
                  <a:pt x="675359" y="142181"/>
                </a:cubicBezTo>
                <a:lnTo>
                  <a:pt x="675359" y="142181"/>
                </a:lnTo>
                <a:cubicBezTo>
                  <a:pt x="675359" y="220705"/>
                  <a:pt x="611702" y="284362"/>
                  <a:pt x="533178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327613" y="4158787"/>
            <a:ext cx="746449" cy="284362"/>
          </a:xfrm>
          <a:prstGeom prst="rect">
            <a:avLst/>
          </a:prstGeom>
          <a:noFill/>
          <a:ln/>
        </p:spPr>
        <p:txBody>
          <a:bodyPr wrap="square" lIns="106636" tIns="35545" rIns="106636" bIns="35545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070397" y="4158787"/>
            <a:ext cx="1324058" cy="284362"/>
          </a:xfrm>
          <a:custGeom>
            <a:avLst/>
            <a:gdLst/>
            <a:ahLst/>
            <a:cxnLst/>
            <a:rect l="l" t="t" r="r" b="b"/>
            <a:pathLst>
              <a:path w="1324058" h="284362">
                <a:moveTo>
                  <a:pt x="142181" y="0"/>
                </a:moveTo>
                <a:lnTo>
                  <a:pt x="1181878" y="0"/>
                </a:lnTo>
                <a:cubicBezTo>
                  <a:pt x="1260402" y="0"/>
                  <a:pt x="1324058" y="63656"/>
                  <a:pt x="1324058" y="142181"/>
                </a:cubicBezTo>
                <a:lnTo>
                  <a:pt x="1324058" y="142181"/>
                </a:lnTo>
                <a:cubicBezTo>
                  <a:pt x="1324058" y="220705"/>
                  <a:pt x="1260402" y="284362"/>
                  <a:pt x="1181878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70397" y="4158787"/>
            <a:ext cx="1395149" cy="284362"/>
          </a:xfrm>
          <a:prstGeom prst="rect">
            <a:avLst/>
          </a:prstGeom>
          <a:noFill/>
          <a:ln/>
        </p:spPr>
        <p:txBody>
          <a:bodyPr wrap="square" lIns="106636" tIns="35545" rIns="106636" bIns="35545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Medicine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0306" y="4766610"/>
            <a:ext cx="5649908" cy="1375599"/>
          </a:xfrm>
          <a:custGeom>
            <a:avLst/>
            <a:gdLst/>
            <a:ahLst/>
            <a:cxnLst/>
            <a:rect l="l" t="t" r="r" b="b"/>
            <a:pathLst>
              <a:path w="5649908" h="1375599">
                <a:moveTo>
                  <a:pt x="71091" y="0"/>
                </a:moveTo>
                <a:lnTo>
                  <a:pt x="5578817" y="0"/>
                </a:lnTo>
                <a:cubicBezTo>
                  <a:pt x="5618079" y="0"/>
                  <a:pt x="5649908" y="31829"/>
                  <a:pt x="5649908" y="71091"/>
                </a:cubicBezTo>
                <a:lnTo>
                  <a:pt x="5649908" y="1304508"/>
                </a:lnTo>
                <a:cubicBezTo>
                  <a:pt x="5649908" y="1343770"/>
                  <a:pt x="5618079" y="1375599"/>
                  <a:pt x="5578817" y="1375599"/>
                </a:cubicBezTo>
                <a:lnTo>
                  <a:pt x="71091" y="1375599"/>
                </a:lnTo>
                <a:cubicBezTo>
                  <a:pt x="31855" y="1375599"/>
                  <a:pt x="0" y="1343744"/>
                  <a:pt x="0" y="1304508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1586" y="4947893"/>
            <a:ext cx="536732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Synthesis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71586" y="5267800"/>
            <a:ext cx="5358437" cy="69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categorization across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types, sources, health topics, misinformation categories, detection tasks, and modeling techniques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identify patterns, gaps, and future directions.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hapter2_imag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81175"/>
            <a:ext cx="1628775" cy="381000"/>
          </a:xfrm>
          <a:custGeom>
            <a:avLst/>
            <a:gdLst/>
            <a:ahLst/>
            <a:cxnLst/>
            <a:rect l="l" t="t" r="r" b="b"/>
            <a:pathLst>
              <a:path w="1628775" h="381000">
                <a:moveTo>
                  <a:pt x="0" y="0"/>
                </a:moveTo>
                <a:lnTo>
                  <a:pt x="1628775" y="0"/>
                </a:lnTo>
                <a:lnTo>
                  <a:pt x="16287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81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5737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90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Detection Approaches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Methodologies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traditional machine learning to state-of-the-art transformers and large language models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spc="118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74730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Traditional Machine Learning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3593" y="1237005"/>
            <a:ext cx="5613380" cy="3823471"/>
          </a:xfrm>
          <a:custGeom>
            <a:avLst/>
            <a:gdLst/>
            <a:ahLst/>
            <a:cxnLst/>
            <a:rect l="l" t="t" r="r" b="b"/>
            <a:pathLst>
              <a:path w="5613380" h="3823471">
                <a:moveTo>
                  <a:pt x="37485" y="0"/>
                </a:moveTo>
                <a:lnTo>
                  <a:pt x="5538402" y="0"/>
                </a:lnTo>
                <a:cubicBezTo>
                  <a:pt x="5579812" y="0"/>
                  <a:pt x="5613380" y="33569"/>
                  <a:pt x="5613380" y="74978"/>
                </a:cubicBezTo>
                <a:lnTo>
                  <a:pt x="5613380" y="3748493"/>
                </a:lnTo>
                <a:cubicBezTo>
                  <a:pt x="5613380" y="3789902"/>
                  <a:pt x="5579812" y="3823471"/>
                  <a:pt x="5538402" y="3823471"/>
                </a:cubicBezTo>
                <a:lnTo>
                  <a:pt x="37485" y="3823471"/>
                </a:lnTo>
                <a:cubicBezTo>
                  <a:pt x="16783" y="3823471"/>
                  <a:pt x="0" y="3806689"/>
                  <a:pt x="0" y="378598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3593" y="1237005"/>
            <a:ext cx="37485" cy="3823471"/>
          </a:xfrm>
          <a:custGeom>
            <a:avLst/>
            <a:gdLst/>
            <a:ahLst/>
            <a:cxnLst/>
            <a:rect l="l" t="t" r="r" b="b"/>
            <a:pathLst>
              <a:path w="37485" h="3823471">
                <a:moveTo>
                  <a:pt x="37485" y="0"/>
                </a:moveTo>
                <a:lnTo>
                  <a:pt x="37485" y="0"/>
                </a:lnTo>
                <a:lnTo>
                  <a:pt x="37485" y="3823471"/>
                </a:lnTo>
                <a:lnTo>
                  <a:pt x="37485" y="3823471"/>
                </a:lnTo>
                <a:cubicBezTo>
                  <a:pt x="16783" y="3823471"/>
                  <a:pt x="0" y="3806689"/>
                  <a:pt x="0" y="378598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Text 4"/>
          <p:cNvSpPr/>
          <p:nvPr/>
        </p:nvSpPr>
        <p:spPr>
          <a:xfrm>
            <a:off x="599760" y="1424430"/>
            <a:ext cx="531350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Algorithms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9760" y="1836766"/>
            <a:ext cx="5219788" cy="674730"/>
          </a:xfrm>
          <a:custGeom>
            <a:avLst/>
            <a:gdLst/>
            <a:ahLst/>
            <a:cxnLst/>
            <a:rect l="l" t="t" r="r" b="b"/>
            <a:pathLst>
              <a:path w="5219788" h="674730">
                <a:moveTo>
                  <a:pt x="37488" y="0"/>
                </a:moveTo>
                <a:lnTo>
                  <a:pt x="5182300" y="0"/>
                </a:lnTo>
                <a:cubicBezTo>
                  <a:pt x="5203004" y="0"/>
                  <a:pt x="5219788" y="16784"/>
                  <a:pt x="5219788" y="37488"/>
                </a:cubicBezTo>
                <a:lnTo>
                  <a:pt x="5219788" y="637242"/>
                </a:lnTo>
                <a:cubicBezTo>
                  <a:pt x="5219788" y="657946"/>
                  <a:pt x="5203004" y="674730"/>
                  <a:pt x="5182300" y="674730"/>
                </a:cubicBezTo>
                <a:lnTo>
                  <a:pt x="37488" y="674730"/>
                </a:lnTo>
                <a:cubicBezTo>
                  <a:pt x="16784" y="674730"/>
                  <a:pt x="0" y="657946"/>
                  <a:pt x="0" y="637242"/>
                </a:cubicBezTo>
                <a:lnTo>
                  <a:pt x="0" y="37488"/>
                </a:lnTo>
                <a:cubicBezTo>
                  <a:pt x="0" y="16798"/>
                  <a:pt x="16798" y="0"/>
                  <a:pt x="374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2215" y="1949221"/>
            <a:ext cx="235218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 Machines (SVM)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35248" y="198670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" name="Text 8"/>
          <p:cNvSpPr/>
          <p:nvPr/>
        </p:nvSpPr>
        <p:spPr>
          <a:xfrm>
            <a:off x="712215" y="2211616"/>
            <a:ext cx="50604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with high-dimensional TF-IDF features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760" y="2623951"/>
            <a:ext cx="5219788" cy="674730"/>
          </a:xfrm>
          <a:custGeom>
            <a:avLst/>
            <a:gdLst/>
            <a:ahLst/>
            <a:cxnLst/>
            <a:rect l="l" t="t" r="r" b="b"/>
            <a:pathLst>
              <a:path w="5219788" h="674730">
                <a:moveTo>
                  <a:pt x="37488" y="0"/>
                </a:moveTo>
                <a:lnTo>
                  <a:pt x="5182300" y="0"/>
                </a:lnTo>
                <a:cubicBezTo>
                  <a:pt x="5203004" y="0"/>
                  <a:pt x="5219788" y="16784"/>
                  <a:pt x="5219788" y="37488"/>
                </a:cubicBezTo>
                <a:lnTo>
                  <a:pt x="5219788" y="637242"/>
                </a:lnTo>
                <a:cubicBezTo>
                  <a:pt x="5219788" y="657946"/>
                  <a:pt x="5203004" y="674730"/>
                  <a:pt x="5182300" y="674730"/>
                </a:cubicBezTo>
                <a:lnTo>
                  <a:pt x="37488" y="674730"/>
                </a:lnTo>
                <a:cubicBezTo>
                  <a:pt x="16784" y="674730"/>
                  <a:pt x="0" y="657946"/>
                  <a:pt x="0" y="637242"/>
                </a:cubicBezTo>
                <a:lnTo>
                  <a:pt x="0" y="37488"/>
                </a:lnTo>
                <a:cubicBezTo>
                  <a:pt x="0" y="16798"/>
                  <a:pt x="16798" y="0"/>
                  <a:pt x="374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2215" y="2736406"/>
            <a:ext cx="117140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5248" y="277389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Text 12"/>
          <p:cNvSpPr/>
          <p:nvPr/>
        </p:nvSpPr>
        <p:spPr>
          <a:xfrm>
            <a:off x="712215" y="2998801"/>
            <a:ext cx="50604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 with good interpretability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9760" y="3411136"/>
            <a:ext cx="5219788" cy="674730"/>
          </a:xfrm>
          <a:custGeom>
            <a:avLst/>
            <a:gdLst/>
            <a:ahLst/>
            <a:cxnLst/>
            <a:rect l="l" t="t" r="r" b="b"/>
            <a:pathLst>
              <a:path w="5219788" h="674730">
                <a:moveTo>
                  <a:pt x="37488" y="0"/>
                </a:moveTo>
                <a:lnTo>
                  <a:pt x="5182300" y="0"/>
                </a:lnTo>
                <a:cubicBezTo>
                  <a:pt x="5203004" y="0"/>
                  <a:pt x="5219788" y="16784"/>
                  <a:pt x="5219788" y="37488"/>
                </a:cubicBezTo>
                <a:lnTo>
                  <a:pt x="5219788" y="637242"/>
                </a:lnTo>
                <a:cubicBezTo>
                  <a:pt x="5219788" y="657946"/>
                  <a:pt x="5203004" y="674730"/>
                  <a:pt x="5182300" y="674730"/>
                </a:cubicBezTo>
                <a:lnTo>
                  <a:pt x="37488" y="674730"/>
                </a:lnTo>
                <a:cubicBezTo>
                  <a:pt x="16784" y="674730"/>
                  <a:pt x="0" y="657946"/>
                  <a:pt x="0" y="637242"/>
                </a:cubicBezTo>
                <a:lnTo>
                  <a:pt x="0" y="37488"/>
                </a:lnTo>
                <a:cubicBezTo>
                  <a:pt x="0" y="16798"/>
                  <a:pt x="16798" y="0"/>
                  <a:pt x="374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2215" y="3523591"/>
            <a:ext cx="150877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35248" y="356107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712215" y="3785986"/>
            <a:ext cx="50604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classifier, highly interpretable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760" y="4198321"/>
            <a:ext cx="5219788" cy="674730"/>
          </a:xfrm>
          <a:custGeom>
            <a:avLst/>
            <a:gdLst/>
            <a:ahLst/>
            <a:cxnLst/>
            <a:rect l="l" t="t" r="r" b="b"/>
            <a:pathLst>
              <a:path w="5219788" h="674730">
                <a:moveTo>
                  <a:pt x="37488" y="0"/>
                </a:moveTo>
                <a:lnTo>
                  <a:pt x="5182300" y="0"/>
                </a:lnTo>
                <a:cubicBezTo>
                  <a:pt x="5203004" y="0"/>
                  <a:pt x="5219788" y="16784"/>
                  <a:pt x="5219788" y="37488"/>
                </a:cubicBezTo>
                <a:lnTo>
                  <a:pt x="5219788" y="637242"/>
                </a:lnTo>
                <a:cubicBezTo>
                  <a:pt x="5219788" y="657946"/>
                  <a:pt x="5203004" y="674730"/>
                  <a:pt x="5182300" y="674730"/>
                </a:cubicBezTo>
                <a:lnTo>
                  <a:pt x="37488" y="674730"/>
                </a:lnTo>
                <a:cubicBezTo>
                  <a:pt x="16784" y="674730"/>
                  <a:pt x="0" y="657946"/>
                  <a:pt x="0" y="637242"/>
                </a:cubicBezTo>
                <a:lnTo>
                  <a:pt x="0" y="37488"/>
                </a:lnTo>
                <a:cubicBezTo>
                  <a:pt x="0" y="16798"/>
                  <a:pt x="16798" y="0"/>
                  <a:pt x="374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2215" y="4310776"/>
            <a:ext cx="95586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Naïve Bayes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5248" y="434826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Text 20"/>
          <p:cNvSpPr/>
          <p:nvPr/>
        </p:nvSpPr>
        <p:spPr>
          <a:xfrm>
            <a:off x="712215" y="4573171"/>
            <a:ext cx="50604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training, probabilistic outputs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4850" y="5210417"/>
            <a:ext cx="5632123" cy="1274490"/>
          </a:xfrm>
          <a:custGeom>
            <a:avLst/>
            <a:gdLst/>
            <a:ahLst/>
            <a:cxnLst/>
            <a:rect l="l" t="t" r="r" b="b"/>
            <a:pathLst>
              <a:path w="5632123" h="1274490">
                <a:moveTo>
                  <a:pt x="74966" y="0"/>
                </a:moveTo>
                <a:lnTo>
                  <a:pt x="5557157" y="0"/>
                </a:lnTo>
                <a:cubicBezTo>
                  <a:pt x="5598560" y="0"/>
                  <a:pt x="5632123" y="33563"/>
                  <a:pt x="5632123" y="74966"/>
                </a:cubicBezTo>
                <a:lnTo>
                  <a:pt x="5632123" y="1199525"/>
                </a:lnTo>
                <a:cubicBezTo>
                  <a:pt x="5632123" y="1240927"/>
                  <a:pt x="5598560" y="1274490"/>
                  <a:pt x="5557157" y="1274490"/>
                </a:cubicBezTo>
                <a:lnTo>
                  <a:pt x="74966" y="1274490"/>
                </a:lnTo>
                <a:cubicBezTo>
                  <a:pt x="33563" y="1274490"/>
                  <a:pt x="0" y="1240927"/>
                  <a:pt x="0" y="1199525"/>
                </a:cubicBezTo>
                <a:lnTo>
                  <a:pt x="0" y="74966"/>
                </a:lnTo>
                <a:cubicBezTo>
                  <a:pt x="0" y="33591"/>
                  <a:pt x="33591" y="0"/>
                  <a:pt x="7496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62275" y="5397842"/>
            <a:ext cx="534161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Characteristics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18" y="581017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67942" y="100741"/>
                </a:moveTo>
                <a:lnTo>
                  <a:pt x="67942" y="81998"/>
                </a:lnTo>
                <a:lnTo>
                  <a:pt x="49199" y="81998"/>
                </a:lnTo>
                <a:cubicBezTo>
                  <a:pt x="45304" y="81998"/>
                  <a:pt x="42171" y="78865"/>
                  <a:pt x="42171" y="74970"/>
                </a:cubicBezTo>
                <a:cubicBezTo>
                  <a:pt x="42171" y="71075"/>
                  <a:pt x="45304" y="67942"/>
                  <a:pt x="49199" y="67942"/>
                </a:cubicBezTo>
                <a:lnTo>
                  <a:pt x="67942" y="67942"/>
                </a:lnTo>
                <a:lnTo>
                  <a:pt x="67942" y="49199"/>
                </a:lnTo>
                <a:cubicBezTo>
                  <a:pt x="67942" y="45304"/>
                  <a:pt x="71075" y="42171"/>
                  <a:pt x="74970" y="42171"/>
                </a:cubicBezTo>
                <a:cubicBezTo>
                  <a:pt x="78865" y="42171"/>
                  <a:pt x="81998" y="45304"/>
                  <a:pt x="81998" y="49199"/>
                </a:cubicBezTo>
                <a:lnTo>
                  <a:pt x="81998" y="67942"/>
                </a:lnTo>
                <a:lnTo>
                  <a:pt x="100741" y="67942"/>
                </a:lnTo>
                <a:cubicBezTo>
                  <a:pt x="104636" y="67942"/>
                  <a:pt x="107769" y="71075"/>
                  <a:pt x="107769" y="74970"/>
                </a:cubicBezTo>
                <a:cubicBezTo>
                  <a:pt x="107769" y="78865"/>
                  <a:pt x="104636" y="81998"/>
                  <a:pt x="100741" y="81998"/>
                </a:cubicBezTo>
                <a:lnTo>
                  <a:pt x="81998" y="81998"/>
                </a:lnTo>
                <a:lnTo>
                  <a:pt x="81998" y="100741"/>
                </a:lnTo>
                <a:cubicBezTo>
                  <a:pt x="81998" y="104636"/>
                  <a:pt x="78865" y="107769"/>
                  <a:pt x="74970" y="107769"/>
                </a:cubicBezTo>
                <a:cubicBezTo>
                  <a:pt x="71075" y="107769"/>
                  <a:pt x="67942" y="104636"/>
                  <a:pt x="67942" y="10074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824670" y="5772692"/>
            <a:ext cx="327056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Interpretable, fast, low computational cost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1018" y="611005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49199" y="67942"/>
                </a:moveTo>
                <a:lnTo>
                  <a:pt x="100741" y="67942"/>
                </a:lnTo>
                <a:cubicBezTo>
                  <a:pt x="104636" y="67942"/>
                  <a:pt x="107769" y="71075"/>
                  <a:pt x="107769" y="74970"/>
                </a:cubicBezTo>
                <a:cubicBezTo>
                  <a:pt x="107769" y="78865"/>
                  <a:pt x="104636" y="81998"/>
                  <a:pt x="100741" y="81998"/>
                </a:cubicBezTo>
                <a:lnTo>
                  <a:pt x="49199" y="81998"/>
                </a:lnTo>
                <a:cubicBezTo>
                  <a:pt x="45304" y="81998"/>
                  <a:pt x="42171" y="78865"/>
                  <a:pt x="42171" y="74970"/>
                </a:cubicBezTo>
                <a:cubicBezTo>
                  <a:pt x="42171" y="71075"/>
                  <a:pt x="45304" y="67942"/>
                  <a:pt x="49199" y="6794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824670" y="6072572"/>
            <a:ext cx="266143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Limited semantic understanding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9978" y="1237005"/>
            <a:ext cx="5613380" cy="2773891"/>
          </a:xfrm>
          <a:custGeom>
            <a:avLst/>
            <a:gdLst/>
            <a:ahLst/>
            <a:cxnLst/>
            <a:rect l="l" t="t" r="r" b="b"/>
            <a:pathLst>
              <a:path w="5613380" h="2773891">
                <a:moveTo>
                  <a:pt x="37485" y="0"/>
                </a:moveTo>
                <a:lnTo>
                  <a:pt x="5538402" y="0"/>
                </a:lnTo>
                <a:cubicBezTo>
                  <a:pt x="5579812" y="0"/>
                  <a:pt x="5613380" y="33569"/>
                  <a:pt x="5613380" y="74978"/>
                </a:cubicBezTo>
                <a:lnTo>
                  <a:pt x="5613380" y="2698913"/>
                </a:lnTo>
                <a:cubicBezTo>
                  <a:pt x="5613380" y="2740322"/>
                  <a:pt x="5579812" y="2773891"/>
                  <a:pt x="5538402" y="2773891"/>
                </a:cubicBezTo>
                <a:lnTo>
                  <a:pt x="37485" y="2773891"/>
                </a:lnTo>
                <a:cubicBezTo>
                  <a:pt x="16783" y="2773891"/>
                  <a:pt x="0" y="2757108"/>
                  <a:pt x="0" y="273640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9978" y="1237005"/>
            <a:ext cx="37485" cy="2773891"/>
          </a:xfrm>
          <a:custGeom>
            <a:avLst/>
            <a:gdLst/>
            <a:ahLst/>
            <a:cxnLst/>
            <a:rect l="l" t="t" r="r" b="b"/>
            <a:pathLst>
              <a:path w="37485" h="2773891">
                <a:moveTo>
                  <a:pt x="37485" y="0"/>
                </a:moveTo>
                <a:lnTo>
                  <a:pt x="37485" y="0"/>
                </a:lnTo>
                <a:lnTo>
                  <a:pt x="37485" y="2773891"/>
                </a:lnTo>
                <a:lnTo>
                  <a:pt x="37485" y="2773891"/>
                </a:lnTo>
                <a:cubicBezTo>
                  <a:pt x="16783" y="2773891"/>
                  <a:pt x="0" y="2757108"/>
                  <a:pt x="0" y="273640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16146" y="1424430"/>
            <a:ext cx="531350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6146" y="187425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0"/>
                </a:moveTo>
                <a:lnTo>
                  <a:pt x="262395" y="0"/>
                </a:lnTo>
                <a:cubicBezTo>
                  <a:pt x="283097" y="0"/>
                  <a:pt x="299880" y="16783"/>
                  <a:pt x="299880" y="37485"/>
                </a:cubicBezTo>
                <a:lnTo>
                  <a:pt x="299880" y="262395"/>
                </a:lnTo>
                <a:cubicBezTo>
                  <a:pt x="299880" y="283097"/>
                  <a:pt x="283097" y="299880"/>
                  <a:pt x="262395" y="299880"/>
                </a:cubicBezTo>
                <a:lnTo>
                  <a:pt x="37485" y="299880"/>
                </a:lnTo>
                <a:cubicBezTo>
                  <a:pt x="16783" y="299880"/>
                  <a:pt x="0" y="283097"/>
                  <a:pt x="0" y="2623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29538" y="1930478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8481" y="1836766"/>
            <a:ext cx="327993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Vectors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28481" y="2061676"/>
            <a:ext cx="327056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 frequency-inverse document frequency weighting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6146" y="239904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0"/>
                </a:moveTo>
                <a:lnTo>
                  <a:pt x="262395" y="0"/>
                </a:lnTo>
                <a:cubicBezTo>
                  <a:pt x="283097" y="0"/>
                  <a:pt x="299880" y="16783"/>
                  <a:pt x="299880" y="37485"/>
                </a:cubicBezTo>
                <a:lnTo>
                  <a:pt x="299880" y="262395"/>
                </a:lnTo>
                <a:cubicBezTo>
                  <a:pt x="299880" y="283097"/>
                  <a:pt x="283097" y="299880"/>
                  <a:pt x="262395" y="299880"/>
                </a:cubicBezTo>
                <a:lnTo>
                  <a:pt x="37485" y="299880"/>
                </a:lnTo>
                <a:cubicBezTo>
                  <a:pt x="16783" y="299880"/>
                  <a:pt x="0" y="283097"/>
                  <a:pt x="0" y="2623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29538" y="2455268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28481" y="2361556"/>
            <a:ext cx="314874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28481" y="2586466"/>
            <a:ext cx="313937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Uni-grams, bi-grams, tri-grams capture local patterns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6146" y="292383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0"/>
                </a:moveTo>
                <a:lnTo>
                  <a:pt x="262395" y="0"/>
                </a:lnTo>
                <a:cubicBezTo>
                  <a:pt x="283097" y="0"/>
                  <a:pt x="299880" y="16783"/>
                  <a:pt x="299880" y="37485"/>
                </a:cubicBezTo>
                <a:lnTo>
                  <a:pt x="299880" y="262395"/>
                </a:lnTo>
                <a:cubicBezTo>
                  <a:pt x="299880" y="283097"/>
                  <a:pt x="283097" y="299880"/>
                  <a:pt x="262395" y="299880"/>
                </a:cubicBezTo>
                <a:lnTo>
                  <a:pt x="37485" y="299880"/>
                </a:lnTo>
                <a:cubicBezTo>
                  <a:pt x="16783" y="299880"/>
                  <a:pt x="0" y="283097"/>
                  <a:pt x="0" y="2623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29538" y="2980058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28481" y="2886346"/>
            <a:ext cx="282074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Embeddings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28481" y="3111256"/>
            <a:ext cx="281137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Word2Vec, GloVe for semantic representations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6146" y="344862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0"/>
                </a:moveTo>
                <a:lnTo>
                  <a:pt x="262395" y="0"/>
                </a:lnTo>
                <a:cubicBezTo>
                  <a:pt x="283097" y="0"/>
                  <a:pt x="299880" y="16783"/>
                  <a:pt x="299880" y="37485"/>
                </a:cubicBezTo>
                <a:lnTo>
                  <a:pt x="299880" y="262395"/>
                </a:lnTo>
                <a:cubicBezTo>
                  <a:pt x="299880" y="283097"/>
                  <a:pt x="283097" y="299880"/>
                  <a:pt x="262395" y="299880"/>
                </a:cubicBezTo>
                <a:lnTo>
                  <a:pt x="37485" y="299880"/>
                </a:lnTo>
                <a:cubicBezTo>
                  <a:pt x="16783" y="299880"/>
                  <a:pt x="0" y="283097"/>
                  <a:pt x="0" y="2623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29538" y="3504849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28481" y="3411136"/>
            <a:ext cx="259583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Linguistic Features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28481" y="3636046"/>
            <a:ext cx="258646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LIWC, sentiment scores, readability metrics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4984" y="4164585"/>
            <a:ext cx="5620877" cy="1750550"/>
          </a:xfrm>
          <a:custGeom>
            <a:avLst/>
            <a:gdLst/>
            <a:ahLst/>
            <a:cxnLst/>
            <a:rect l="l" t="t" r="r" b="b"/>
            <a:pathLst>
              <a:path w="5620877" h="1750550">
                <a:moveTo>
                  <a:pt x="74976" y="0"/>
                </a:moveTo>
                <a:lnTo>
                  <a:pt x="5545901" y="0"/>
                </a:lnTo>
                <a:cubicBezTo>
                  <a:pt x="5587310" y="0"/>
                  <a:pt x="5620877" y="33568"/>
                  <a:pt x="5620877" y="74976"/>
                </a:cubicBezTo>
                <a:lnTo>
                  <a:pt x="5620877" y="1675574"/>
                </a:lnTo>
                <a:cubicBezTo>
                  <a:pt x="5620877" y="1716982"/>
                  <a:pt x="5587310" y="1750550"/>
                  <a:pt x="5545901" y="1750550"/>
                </a:cubicBezTo>
                <a:lnTo>
                  <a:pt x="74976" y="1750550"/>
                </a:lnTo>
                <a:cubicBezTo>
                  <a:pt x="33596" y="1750550"/>
                  <a:pt x="0" y="1716954"/>
                  <a:pt x="0" y="1675574"/>
                </a:cubicBezTo>
                <a:lnTo>
                  <a:pt x="0" y="74976"/>
                </a:lnTo>
                <a:cubicBezTo>
                  <a:pt x="0" y="33596"/>
                  <a:pt x="33596" y="0"/>
                  <a:pt x="74976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6158" y="4355761"/>
            <a:ext cx="532287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6158" y="4730611"/>
            <a:ext cx="5313500" cy="73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 with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careful feature engineering 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remains competitive in scenarios with limited data or when interpretability is critical. Bigrams and trigrams significantly improve performance over unigrams alone.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6158" y="5536539"/>
            <a:ext cx="530412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FakeWhatsApp.BR study, 2021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113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Approaches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 Learning Architectures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199507"/>
            <a:ext cx="3732793" cy="2184176"/>
          </a:xfrm>
          <a:custGeom>
            <a:avLst/>
            <a:gdLst/>
            <a:ahLst/>
            <a:cxnLst/>
            <a:rect l="l" t="t" r="r" b="b"/>
            <a:pathLst>
              <a:path w="3732793" h="218417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112557"/>
                </a:lnTo>
                <a:cubicBezTo>
                  <a:pt x="3732793" y="2152111"/>
                  <a:pt x="3700728" y="2184176"/>
                  <a:pt x="3661174" y="2184176"/>
                </a:cubicBezTo>
                <a:lnTo>
                  <a:pt x="71619" y="2184176"/>
                </a:lnTo>
                <a:cubicBezTo>
                  <a:pt x="32065" y="2184176"/>
                  <a:pt x="0" y="2152111"/>
                  <a:pt x="0" y="2112557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8062" y="1199507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537093" y="1396441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Shape 5"/>
          <p:cNvSpPr/>
          <p:nvPr/>
        </p:nvSpPr>
        <p:spPr>
          <a:xfrm>
            <a:off x="673604" y="1521762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134273" y="33568"/>
                </a:moveTo>
                <a:lnTo>
                  <a:pt x="134273" y="55947"/>
                </a:lnTo>
                <a:lnTo>
                  <a:pt x="111894" y="55947"/>
                </a:lnTo>
                <a:lnTo>
                  <a:pt x="111894" y="33568"/>
                </a:lnTo>
                <a:lnTo>
                  <a:pt x="134273" y="33568"/>
                </a:lnTo>
                <a:close/>
                <a:moveTo>
                  <a:pt x="134273" y="78326"/>
                </a:moveTo>
                <a:lnTo>
                  <a:pt x="134273" y="100705"/>
                </a:lnTo>
                <a:lnTo>
                  <a:pt x="111894" y="100705"/>
                </a:lnTo>
                <a:lnTo>
                  <a:pt x="111894" y="78326"/>
                </a:lnTo>
                <a:lnTo>
                  <a:pt x="134273" y="78326"/>
                </a:lnTo>
                <a:close/>
                <a:moveTo>
                  <a:pt x="134273" y="123084"/>
                </a:moveTo>
                <a:lnTo>
                  <a:pt x="134273" y="145463"/>
                </a:lnTo>
                <a:lnTo>
                  <a:pt x="111894" y="145463"/>
                </a:lnTo>
                <a:lnTo>
                  <a:pt x="111894" y="123084"/>
                </a:lnTo>
                <a:lnTo>
                  <a:pt x="134273" y="123084"/>
                </a:lnTo>
                <a:close/>
                <a:moveTo>
                  <a:pt x="89515" y="100705"/>
                </a:moveTo>
                <a:lnTo>
                  <a:pt x="67137" y="100705"/>
                </a:lnTo>
                <a:lnTo>
                  <a:pt x="67137" y="78326"/>
                </a:lnTo>
                <a:lnTo>
                  <a:pt x="89515" y="78326"/>
                </a:lnTo>
                <a:lnTo>
                  <a:pt x="89515" y="100705"/>
                </a:lnTo>
                <a:close/>
                <a:moveTo>
                  <a:pt x="67137" y="123084"/>
                </a:moveTo>
                <a:lnTo>
                  <a:pt x="89515" y="123084"/>
                </a:lnTo>
                <a:lnTo>
                  <a:pt x="89515" y="145463"/>
                </a:lnTo>
                <a:lnTo>
                  <a:pt x="67137" y="145463"/>
                </a:lnTo>
                <a:lnTo>
                  <a:pt x="67137" y="123084"/>
                </a:lnTo>
                <a:close/>
                <a:moveTo>
                  <a:pt x="44758" y="100705"/>
                </a:moveTo>
                <a:lnTo>
                  <a:pt x="22379" y="100705"/>
                </a:lnTo>
                <a:lnTo>
                  <a:pt x="22379" y="78326"/>
                </a:lnTo>
                <a:lnTo>
                  <a:pt x="44758" y="78326"/>
                </a:lnTo>
                <a:lnTo>
                  <a:pt x="44758" y="100705"/>
                </a:lnTo>
                <a:close/>
                <a:moveTo>
                  <a:pt x="22379" y="123084"/>
                </a:moveTo>
                <a:lnTo>
                  <a:pt x="44758" y="123084"/>
                </a:lnTo>
                <a:lnTo>
                  <a:pt x="44758" y="145463"/>
                </a:lnTo>
                <a:lnTo>
                  <a:pt x="22379" y="145463"/>
                </a:lnTo>
                <a:lnTo>
                  <a:pt x="22379" y="123084"/>
                </a:lnTo>
                <a:close/>
                <a:moveTo>
                  <a:pt x="22379" y="55947"/>
                </a:moveTo>
                <a:lnTo>
                  <a:pt x="22379" y="33568"/>
                </a:lnTo>
                <a:lnTo>
                  <a:pt x="44758" y="33568"/>
                </a:lnTo>
                <a:lnTo>
                  <a:pt x="44758" y="55947"/>
                </a:lnTo>
                <a:lnTo>
                  <a:pt x="22379" y="55947"/>
                </a:lnTo>
                <a:close/>
                <a:moveTo>
                  <a:pt x="67137" y="55947"/>
                </a:moveTo>
                <a:lnTo>
                  <a:pt x="67137" y="33568"/>
                </a:lnTo>
                <a:lnTo>
                  <a:pt x="89515" y="33568"/>
                </a:lnTo>
                <a:lnTo>
                  <a:pt x="89515" y="55947"/>
                </a:lnTo>
                <a:lnTo>
                  <a:pt x="67137" y="55947"/>
                </a:lnTo>
                <a:close/>
                <a:moveTo>
                  <a:pt x="22379" y="11189"/>
                </a:moveTo>
                <a:cubicBezTo>
                  <a:pt x="10036" y="11189"/>
                  <a:pt x="0" y="21225"/>
                  <a:pt x="0" y="33568"/>
                </a:cubicBezTo>
                <a:lnTo>
                  <a:pt x="0" y="145463"/>
                </a:lnTo>
                <a:cubicBezTo>
                  <a:pt x="0" y="157806"/>
                  <a:pt x="10036" y="167841"/>
                  <a:pt x="22379" y="167841"/>
                </a:cubicBezTo>
                <a:lnTo>
                  <a:pt x="134273" y="167841"/>
                </a:lnTo>
                <a:cubicBezTo>
                  <a:pt x="146616" y="167841"/>
                  <a:pt x="156652" y="157806"/>
                  <a:pt x="156652" y="145463"/>
                </a:cubicBezTo>
                <a:lnTo>
                  <a:pt x="156652" y="33568"/>
                </a:lnTo>
                <a:cubicBezTo>
                  <a:pt x="156652" y="21225"/>
                  <a:pt x="146616" y="11189"/>
                  <a:pt x="134273" y="11189"/>
                </a:cubicBezTo>
                <a:lnTo>
                  <a:pt x="22379" y="11189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1074185" y="1485956"/>
            <a:ext cx="47443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093" y="1969339"/>
            <a:ext cx="2196485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Convolutional Neural Networks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7093" y="2273692"/>
            <a:ext cx="344634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local n-gram patterns through convolutional filters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7093" y="2810784"/>
            <a:ext cx="3374731" cy="393868"/>
          </a:xfrm>
          <a:custGeom>
            <a:avLst/>
            <a:gdLst/>
            <a:ahLst/>
            <a:cxnLst/>
            <a:rect l="l" t="t" r="r" b="b"/>
            <a:pathLst>
              <a:path w="3374731" h="393868">
                <a:moveTo>
                  <a:pt x="35807" y="0"/>
                </a:moveTo>
                <a:lnTo>
                  <a:pt x="3338925" y="0"/>
                </a:lnTo>
                <a:cubicBezTo>
                  <a:pt x="3358700" y="0"/>
                  <a:pt x="3374731" y="16031"/>
                  <a:pt x="3374731" y="35807"/>
                </a:cubicBezTo>
                <a:lnTo>
                  <a:pt x="3374731" y="358061"/>
                </a:lnTo>
                <a:cubicBezTo>
                  <a:pt x="3374731" y="377837"/>
                  <a:pt x="3358700" y="393868"/>
                  <a:pt x="3338925" y="393868"/>
                </a:cubicBezTo>
                <a:lnTo>
                  <a:pt x="35807" y="393868"/>
                </a:lnTo>
                <a:cubicBezTo>
                  <a:pt x="16031" y="393868"/>
                  <a:pt x="0" y="377837"/>
                  <a:pt x="0" y="358061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511" y="2918203"/>
            <a:ext cx="322255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9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Local feature extraction, parallel processing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0387" y="1199507"/>
            <a:ext cx="3732793" cy="2184176"/>
          </a:xfrm>
          <a:custGeom>
            <a:avLst/>
            <a:gdLst/>
            <a:ahLst/>
            <a:cxnLst/>
            <a:rect l="l" t="t" r="r" b="b"/>
            <a:pathLst>
              <a:path w="3732793" h="218417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112557"/>
                </a:lnTo>
                <a:cubicBezTo>
                  <a:pt x="3732793" y="2152111"/>
                  <a:pt x="3700728" y="2184176"/>
                  <a:pt x="3661174" y="2184176"/>
                </a:cubicBezTo>
                <a:lnTo>
                  <a:pt x="71619" y="2184176"/>
                </a:lnTo>
                <a:cubicBezTo>
                  <a:pt x="32065" y="2184176"/>
                  <a:pt x="0" y="2152111"/>
                  <a:pt x="0" y="2112557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30387" y="1199507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Shape 13"/>
          <p:cNvSpPr/>
          <p:nvPr/>
        </p:nvSpPr>
        <p:spPr>
          <a:xfrm>
            <a:off x="4409418" y="1396441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4739" y="1521762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52701" y="26120"/>
                </a:moveTo>
                <a:lnTo>
                  <a:pt x="156652" y="29862"/>
                </a:lnTo>
                <a:lnTo>
                  <a:pt x="156652" y="11189"/>
                </a:lnTo>
                <a:cubicBezTo>
                  <a:pt x="156652" y="5000"/>
                  <a:pt x="161652" y="0"/>
                  <a:pt x="167841" y="0"/>
                </a:cubicBezTo>
                <a:cubicBezTo>
                  <a:pt x="174031" y="0"/>
                  <a:pt x="179031" y="5000"/>
                  <a:pt x="179031" y="11189"/>
                </a:cubicBezTo>
                <a:lnTo>
                  <a:pt x="179031" y="55947"/>
                </a:lnTo>
                <a:cubicBezTo>
                  <a:pt x="179031" y="62136"/>
                  <a:pt x="174031" y="67137"/>
                  <a:pt x="167841" y="67137"/>
                </a:cubicBezTo>
                <a:lnTo>
                  <a:pt x="123084" y="67137"/>
                </a:lnTo>
                <a:cubicBezTo>
                  <a:pt x="116895" y="67137"/>
                  <a:pt x="111894" y="62136"/>
                  <a:pt x="111894" y="55947"/>
                </a:cubicBezTo>
                <a:cubicBezTo>
                  <a:pt x="111894" y="49758"/>
                  <a:pt x="116895" y="44758"/>
                  <a:pt x="123084" y="44758"/>
                </a:cubicBezTo>
                <a:lnTo>
                  <a:pt x="139833" y="44758"/>
                </a:lnTo>
                <a:lnTo>
                  <a:pt x="137175" y="42240"/>
                </a:lnTo>
                <a:cubicBezTo>
                  <a:pt x="137105" y="42170"/>
                  <a:pt x="137036" y="42100"/>
                  <a:pt x="136966" y="42030"/>
                </a:cubicBezTo>
                <a:cubicBezTo>
                  <a:pt x="110740" y="15805"/>
                  <a:pt x="68256" y="15805"/>
                  <a:pt x="42030" y="42030"/>
                </a:cubicBezTo>
                <a:cubicBezTo>
                  <a:pt x="15805" y="68256"/>
                  <a:pt x="15805" y="110740"/>
                  <a:pt x="42030" y="136966"/>
                </a:cubicBezTo>
                <a:cubicBezTo>
                  <a:pt x="68256" y="163191"/>
                  <a:pt x="110740" y="163191"/>
                  <a:pt x="136966" y="136966"/>
                </a:cubicBezTo>
                <a:cubicBezTo>
                  <a:pt x="139833" y="134098"/>
                  <a:pt x="142385" y="131056"/>
                  <a:pt x="144623" y="127839"/>
                </a:cubicBezTo>
                <a:cubicBezTo>
                  <a:pt x="148155" y="122769"/>
                  <a:pt x="155148" y="121545"/>
                  <a:pt x="160219" y="125077"/>
                </a:cubicBezTo>
                <a:cubicBezTo>
                  <a:pt x="165289" y="128608"/>
                  <a:pt x="166513" y="135602"/>
                  <a:pt x="162981" y="140672"/>
                </a:cubicBezTo>
                <a:cubicBezTo>
                  <a:pt x="160009" y="144938"/>
                  <a:pt x="156617" y="148994"/>
                  <a:pt x="152806" y="152806"/>
                </a:cubicBezTo>
                <a:cubicBezTo>
                  <a:pt x="117839" y="187773"/>
                  <a:pt x="61157" y="187773"/>
                  <a:pt x="26225" y="152806"/>
                </a:cubicBezTo>
                <a:cubicBezTo>
                  <a:pt x="-8707" y="117839"/>
                  <a:pt x="-8742" y="61192"/>
                  <a:pt x="26225" y="26225"/>
                </a:cubicBezTo>
                <a:cubicBezTo>
                  <a:pt x="61157" y="-8707"/>
                  <a:pt x="117734" y="-8742"/>
                  <a:pt x="152701" y="2612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4946510" y="1485956"/>
            <a:ext cx="57289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LSTM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9418" y="1969339"/>
            <a:ext cx="1822198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Short-Term Memory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9418" y="2273692"/>
            <a:ext cx="344634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long-range dependencies with gating mechanisms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9418" y="2810784"/>
            <a:ext cx="3374731" cy="393868"/>
          </a:xfrm>
          <a:custGeom>
            <a:avLst/>
            <a:gdLst/>
            <a:ahLst/>
            <a:cxnLst/>
            <a:rect l="l" t="t" r="r" b="b"/>
            <a:pathLst>
              <a:path w="3374731" h="393868">
                <a:moveTo>
                  <a:pt x="35807" y="0"/>
                </a:moveTo>
                <a:lnTo>
                  <a:pt x="3338925" y="0"/>
                </a:lnTo>
                <a:cubicBezTo>
                  <a:pt x="3358700" y="0"/>
                  <a:pt x="3374731" y="16031"/>
                  <a:pt x="3374731" y="35807"/>
                </a:cubicBezTo>
                <a:lnTo>
                  <a:pt x="3374731" y="358061"/>
                </a:lnTo>
                <a:cubicBezTo>
                  <a:pt x="3374731" y="377837"/>
                  <a:pt x="3358700" y="393868"/>
                  <a:pt x="3338925" y="393868"/>
                </a:cubicBezTo>
                <a:lnTo>
                  <a:pt x="35807" y="393868"/>
                </a:lnTo>
                <a:cubicBezTo>
                  <a:pt x="16031" y="393868"/>
                  <a:pt x="0" y="377837"/>
                  <a:pt x="0" y="358061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16836" y="2918203"/>
            <a:ext cx="322255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9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Sequential patterns, long contexts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2712" y="1199507"/>
            <a:ext cx="3732793" cy="2184176"/>
          </a:xfrm>
          <a:custGeom>
            <a:avLst/>
            <a:gdLst/>
            <a:ahLst/>
            <a:cxnLst/>
            <a:rect l="l" t="t" r="r" b="b"/>
            <a:pathLst>
              <a:path w="3732793" h="218417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112557"/>
                </a:lnTo>
                <a:cubicBezTo>
                  <a:pt x="3732793" y="2152111"/>
                  <a:pt x="3700728" y="2184176"/>
                  <a:pt x="3661174" y="2184176"/>
                </a:cubicBezTo>
                <a:lnTo>
                  <a:pt x="71619" y="2184176"/>
                </a:lnTo>
                <a:cubicBezTo>
                  <a:pt x="32065" y="2184176"/>
                  <a:pt x="0" y="2152111"/>
                  <a:pt x="0" y="2112557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02712" y="1199507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81743" y="1396441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8407064" y="1521762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75744" y="52660"/>
                </a:moveTo>
                <a:lnTo>
                  <a:pt x="142176" y="86229"/>
                </a:lnTo>
                <a:cubicBezTo>
                  <a:pt x="138959" y="89445"/>
                  <a:pt x="134168" y="90390"/>
                  <a:pt x="129972" y="88641"/>
                </a:cubicBezTo>
                <a:cubicBezTo>
                  <a:pt x="125776" y="86893"/>
                  <a:pt x="123084" y="82837"/>
                  <a:pt x="123084" y="78326"/>
                </a:cubicBezTo>
                <a:lnTo>
                  <a:pt x="123084" y="55947"/>
                </a:lnTo>
                <a:lnTo>
                  <a:pt x="11189" y="55947"/>
                </a:lnTo>
                <a:cubicBezTo>
                  <a:pt x="5000" y="55947"/>
                  <a:pt x="0" y="50947"/>
                  <a:pt x="0" y="44758"/>
                </a:cubicBezTo>
                <a:cubicBezTo>
                  <a:pt x="0" y="38569"/>
                  <a:pt x="5000" y="33568"/>
                  <a:pt x="11189" y="33568"/>
                </a:cubicBezTo>
                <a:lnTo>
                  <a:pt x="123084" y="33568"/>
                </a:lnTo>
                <a:lnTo>
                  <a:pt x="123084" y="11189"/>
                </a:lnTo>
                <a:cubicBezTo>
                  <a:pt x="123084" y="6679"/>
                  <a:pt x="125811" y="2588"/>
                  <a:pt x="130007" y="839"/>
                </a:cubicBezTo>
                <a:cubicBezTo>
                  <a:pt x="134203" y="-909"/>
                  <a:pt x="138994" y="70"/>
                  <a:pt x="142211" y="3252"/>
                </a:cubicBezTo>
                <a:lnTo>
                  <a:pt x="175779" y="36820"/>
                </a:lnTo>
                <a:cubicBezTo>
                  <a:pt x="180150" y="41191"/>
                  <a:pt x="180150" y="48289"/>
                  <a:pt x="175779" y="52660"/>
                </a:cubicBezTo>
                <a:close/>
                <a:moveTo>
                  <a:pt x="36820" y="175744"/>
                </a:moveTo>
                <a:lnTo>
                  <a:pt x="3252" y="142176"/>
                </a:lnTo>
                <a:cubicBezTo>
                  <a:pt x="-1119" y="137805"/>
                  <a:pt x="-1119" y="130706"/>
                  <a:pt x="3252" y="126336"/>
                </a:cubicBezTo>
                <a:lnTo>
                  <a:pt x="36820" y="92767"/>
                </a:lnTo>
                <a:cubicBezTo>
                  <a:pt x="40037" y="89550"/>
                  <a:pt x="44828" y="88606"/>
                  <a:pt x="49024" y="90355"/>
                </a:cubicBezTo>
                <a:cubicBezTo>
                  <a:pt x="53220" y="92103"/>
                  <a:pt x="55947" y="96194"/>
                  <a:pt x="55947" y="100705"/>
                </a:cubicBezTo>
                <a:lnTo>
                  <a:pt x="55947" y="123084"/>
                </a:lnTo>
                <a:lnTo>
                  <a:pt x="167841" y="123084"/>
                </a:lnTo>
                <a:cubicBezTo>
                  <a:pt x="174031" y="123084"/>
                  <a:pt x="179031" y="128084"/>
                  <a:pt x="179031" y="134273"/>
                </a:cubicBezTo>
                <a:cubicBezTo>
                  <a:pt x="179031" y="140462"/>
                  <a:pt x="174031" y="145463"/>
                  <a:pt x="167841" y="145463"/>
                </a:cubicBezTo>
                <a:lnTo>
                  <a:pt x="55947" y="145463"/>
                </a:lnTo>
                <a:lnTo>
                  <a:pt x="55947" y="167841"/>
                </a:lnTo>
                <a:cubicBezTo>
                  <a:pt x="55947" y="172352"/>
                  <a:pt x="53220" y="176443"/>
                  <a:pt x="49024" y="178192"/>
                </a:cubicBezTo>
                <a:cubicBezTo>
                  <a:pt x="44828" y="179940"/>
                  <a:pt x="40037" y="178961"/>
                  <a:pt x="36820" y="175779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6" name="Text 24"/>
          <p:cNvSpPr/>
          <p:nvPr/>
        </p:nvSpPr>
        <p:spPr>
          <a:xfrm>
            <a:off x="8818835" y="1485956"/>
            <a:ext cx="48338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1743" y="1969339"/>
            <a:ext cx="1512139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Gated Recurrent Unit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81743" y="2273692"/>
            <a:ext cx="3446344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gating with fewer parameters than LSTM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1743" y="2595947"/>
            <a:ext cx="3374731" cy="393868"/>
          </a:xfrm>
          <a:custGeom>
            <a:avLst/>
            <a:gdLst/>
            <a:ahLst/>
            <a:cxnLst/>
            <a:rect l="l" t="t" r="r" b="b"/>
            <a:pathLst>
              <a:path w="3374731" h="393868">
                <a:moveTo>
                  <a:pt x="35807" y="0"/>
                </a:moveTo>
                <a:lnTo>
                  <a:pt x="3338925" y="0"/>
                </a:lnTo>
                <a:cubicBezTo>
                  <a:pt x="3358700" y="0"/>
                  <a:pt x="3374731" y="16031"/>
                  <a:pt x="3374731" y="35807"/>
                </a:cubicBezTo>
                <a:lnTo>
                  <a:pt x="3374731" y="358061"/>
                </a:lnTo>
                <a:cubicBezTo>
                  <a:pt x="3374731" y="377837"/>
                  <a:pt x="3358700" y="393868"/>
                  <a:pt x="3338925" y="393868"/>
                </a:cubicBezTo>
                <a:lnTo>
                  <a:pt x="35807" y="393868"/>
                </a:lnTo>
                <a:cubicBezTo>
                  <a:pt x="16031" y="393868"/>
                  <a:pt x="0" y="377837"/>
                  <a:pt x="0" y="358061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389161" y="2703366"/>
            <a:ext cx="322255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9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Efficiency, faster training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8062" y="3526907"/>
            <a:ext cx="5666326" cy="1933533"/>
          </a:xfrm>
          <a:custGeom>
            <a:avLst/>
            <a:gdLst/>
            <a:ahLst/>
            <a:cxnLst/>
            <a:rect l="l" t="t" r="r" b="b"/>
            <a:pathLst>
              <a:path w="5666326" h="1933533">
                <a:moveTo>
                  <a:pt x="71618" y="0"/>
                </a:moveTo>
                <a:lnTo>
                  <a:pt x="5594708" y="0"/>
                </a:lnTo>
                <a:cubicBezTo>
                  <a:pt x="5634261" y="0"/>
                  <a:pt x="5666326" y="32064"/>
                  <a:pt x="5666326" y="71618"/>
                </a:cubicBezTo>
                <a:lnTo>
                  <a:pt x="5666326" y="1861915"/>
                </a:lnTo>
                <a:cubicBezTo>
                  <a:pt x="5666326" y="1901469"/>
                  <a:pt x="5634261" y="1933533"/>
                  <a:pt x="5594708" y="1933533"/>
                </a:cubicBezTo>
                <a:lnTo>
                  <a:pt x="71618" y="1933533"/>
                </a:lnTo>
                <a:cubicBezTo>
                  <a:pt x="32064" y="1933533"/>
                  <a:pt x="0" y="1901469"/>
                  <a:pt x="0" y="1861915"/>
                </a:cubicBezTo>
                <a:lnTo>
                  <a:pt x="0" y="71618"/>
                </a:lnTo>
                <a:cubicBezTo>
                  <a:pt x="0" y="32091"/>
                  <a:pt x="32091" y="0"/>
                  <a:pt x="7161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7093" y="3705938"/>
            <a:ext cx="539778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Advantages Over Traditional ML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2899" y="4135612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60031" y="4867"/>
                </a:moveTo>
                <a:cubicBezTo>
                  <a:pt x="56535" y="1371"/>
                  <a:pt x="50856" y="1371"/>
                  <a:pt x="47359" y="4867"/>
                </a:cubicBezTo>
                <a:lnTo>
                  <a:pt x="2602" y="49625"/>
                </a:lnTo>
                <a:cubicBezTo>
                  <a:pt x="-895" y="53122"/>
                  <a:pt x="-895" y="58800"/>
                  <a:pt x="2602" y="62297"/>
                </a:cubicBezTo>
                <a:cubicBezTo>
                  <a:pt x="6098" y="65794"/>
                  <a:pt x="11777" y="65794"/>
                  <a:pt x="15274" y="62297"/>
                </a:cubicBezTo>
                <a:lnTo>
                  <a:pt x="44758" y="32813"/>
                </a:lnTo>
                <a:lnTo>
                  <a:pt x="44758" y="136511"/>
                </a:lnTo>
                <a:cubicBezTo>
                  <a:pt x="44758" y="141462"/>
                  <a:pt x="48758" y="145463"/>
                  <a:pt x="53709" y="145463"/>
                </a:cubicBezTo>
                <a:cubicBezTo>
                  <a:pt x="58661" y="145463"/>
                  <a:pt x="62661" y="141462"/>
                  <a:pt x="62661" y="136511"/>
                </a:cubicBezTo>
                <a:lnTo>
                  <a:pt x="62661" y="32813"/>
                </a:lnTo>
                <a:lnTo>
                  <a:pt x="92145" y="62297"/>
                </a:lnTo>
                <a:cubicBezTo>
                  <a:pt x="95642" y="65794"/>
                  <a:pt x="101320" y="65794"/>
                  <a:pt x="104817" y="62297"/>
                </a:cubicBezTo>
                <a:cubicBezTo>
                  <a:pt x="108314" y="58800"/>
                  <a:pt x="108314" y="53122"/>
                  <a:pt x="104817" y="49625"/>
                </a:cubicBezTo>
                <a:lnTo>
                  <a:pt x="60059" y="486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" name="Text 32"/>
          <p:cNvSpPr/>
          <p:nvPr/>
        </p:nvSpPr>
        <p:spPr>
          <a:xfrm>
            <a:off x="823542" y="4128453"/>
            <a:ext cx="2021370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Feature Learning: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13134" y="4128453"/>
            <a:ext cx="2515943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feature engineering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2899" y="4457868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60031" y="4867"/>
                </a:moveTo>
                <a:cubicBezTo>
                  <a:pt x="56535" y="1371"/>
                  <a:pt x="50856" y="1371"/>
                  <a:pt x="47359" y="4867"/>
                </a:cubicBezTo>
                <a:lnTo>
                  <a:pt x="2602" y="49625"/>
                </a:lnTo>
                <a:cubicBezTo>
                  <a:pt x="-895" y="53122"/>
                  <a:pt x="-895" y="58800"/>
                  <a:pt x="2602" y="62297"/>
                </a:cubicBezTo>
                <a:cubicBezTo>
                  <a:pt x="6098" y="65794"/>
                  <a:pt x="11777" y="65794"/>
                  <a:pt x="15274" y="62297"/>
                </a:cubicBezTo>
                <a:lnTo>
                  <a:pt x="44758" y="32813"/>
                </a:lnTo>
                <a:lnTo>
                  <a:pt x="44758" y="136511"/>
                </a:lnTo>
                <a:cubicBezTo>
                  <a:pt x="44758" y="141462"/>
                  <a:pt x="48758" y="145463"/>
                  <a:pt x="53709" y="145463"/>
                </a:cubicBezTo>
                <a:cubicBezTo>
                  <a:pt x="58661" y="145463"/>
                  <a:pt x="62661" y="141462"/>
                  <a:pt x="62661" y="136511"/>
                </a:cubicBezTo>
                <a:lnTo>
                  <a:pt x="62661" y="32813"/>
                </a:lnTo>
                <a:lnTo>
                  <a:pt x="92145" y="62297"/>
                </a:lnTo>
                <a:cubicBezTo>
                  <a:pt x="95642" y="65794"/>
                  <a:pt x="101320" y="65794"/>
                  <a:pt x="104817" y="62297"/>
                </a:cubicBezTo>
                <a:cubicBezTo>
                  <a:pt x="108314" y="58800"/>
                  <a:pt x="108314" y="53122"/>
                  <a:pt x="104817" y="49625"/>
                </a:cubicBezTo>
                <a:lnTo>
                  <a:pt x="60059" y="486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823542" y="4450708"/>
            <a:ext cx="1806533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Understanding: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598297" y="4450708"/>
            <a:ext cx="2627278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word relationships and context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2899" y="4780123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60031" y="4867"/>
                </a:moveTo>
                <a:cubicBezTo>
                  <a:pt x="56535" y="1371"/>
                  <a:pt x="50856" y="1371"/>
                  <a:pt x="47359" y="4867"/>
                </a:cubicBezTo>
                <a:lnTo>
                  <a:pt x="2602" y="49625"/>
                </a:lnTo>
                <a:cubicBezTo>
                  <a:pt x="-895" y="53122"/>
                  <a:pt x="-895" y="58800"/>
                  <a:pt x="2602" y="62297"/>
                </a:cubicBezTo>
                <a:cubicBezTo>
                  <a:pt x="6098" y="65794"/>
                  <a:pt x="11777" y="65794"/>
                  <a:pt x="15274" y="62297"/>
                </a:cubicBezTo>
                <a:lnTo>
                  <a:pt x="44758" y="32813"/>
                </a:lnTo>
                <a:lnTo>
                  <a:pt x="44758" y="136511"/>
                </a:lnTo>
                <a:cubicBezTo>
                  <a:pt x="44758" y="141462"/>
                  <a:pt x="48758" y="145463"/>
                  <a:pt x="53709" y="145463"/>
                </a:cubicBezTo>
                <a:cubicBezTo>
                  <a:pt x="58661" y="145463"/>
                  <a:pt x="62661" y="141462"/>
                  <a:pt x="62661" y="136511"/>
                </a:cubicBezTo>
                <a:lnTo>
                  <a:pt x="62661" y="32813"/>
                </a:lnTo>
                <a:lnTo>
                  <a:pt x="92145" y="62297"/>
                </a:lnTo>
                <a:cubicBezTo>
                  <a:pt x="95642" y="65794"/>
                  <a:pt x="101320" y="65794"/>
                  <a:pt x="104817" y="62297"/>
                </a:cubicBezTo>
                <a:cubicBezTo>
                  <a:pt x="108314" y="58800"/>
                  <a:pt x="108314" y="53122"/>
                  <a:pt x="104817" y="49625"/>
                </a:cubicBezTo>
                <a:lnTo>
                  <a:pt x="60059" y="486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823542" y="4772964"/>
            <a:ext cx="2101374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Representations: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893138" y="4772964"/>
            <a:ext cx="2189211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multiple abstraction levels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2899" y="5102379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60031" y="4867"/>
                </a:moveTo>
                <a:cubicBezTo>
                  <a:pt x="56535" y="1371"/>
                  <a:pt x="50856" y="1371"/>
                  <a:pt x="47359" y="4867"/>
                </a:cubicBezTo>
                <a:lnTo>
                  <a:pt x="2602" y="49625"/>
                </a:lnTo>
                <a:cubicBezTo>
                  <a:pt x="-895" y="53122"/>
                  <a:pt x="-895" y="58800"/>
                  <a:pt x="2602" y="62297"/>
                </a:cubicBezTo>
                <a:cubicBezTo>
                  <a:pt x="6098" y="65794"/>
                  <a:pt x="11777" y="65794"/>
                  <a:pt x="15274" y="62297"/>
                </a:cubicBezTo>
                <a:lnTo>
                  <a:pt x="44758" y="32813"/>
                </a:lnTo>
                <a:lnTo>
                  <a:pt x="44758" y="136511"/>
                </a:lnTo>
                <a:cubicBezTo>
                  <a:pt x="44758" y="141462"/>
                  <a:pt x="48758" y="145463"/>
                  <a:pt x="53709" y="145463"/>
                </a:cubicBezTo>
                <a:cubicBezTo>
                  <a:pt x="58661" y="145463"/>
                  <a:pt x="62661" y="141462"/>
                  <a:pt x="62661" y="136511"/>
                </a:cubicBezTo>
                <a:lnTo>
                  <a:pt x="62661" y="32813"/>
                </a:lnTo>
                <a:lnTo>
                  <a:pt x="92145" y="62297"/>
                </a:lnTo>
                <a:cubicBezTo>
                  <a:pt x="95642" y="65794"/>
                  <a:pt x="101320" y="65794"/>
                  <a:pt x="104817" y="62297"/>
                </a:cubicBezTo>
                <a:cubicBezTo>
                  <a:pt x="108314" y="58800"/>
                  <a:pt x="108314" y="53122"/>
                  <a:pt x="104817" y="49625"/>
                </a:cubicBezTo>
                <a:lnTo>
                  <a:pt x="60059" y="486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3" name="Text 41"/>
          <p:cNvSpPr/>
          <p:nvPr/>
        </p:nvSpPr>
        <p:spPr>
          <a:xfrm>
            <a:off x="823542" y="5095219"/>
            <a:ext cx="1511916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Modeling: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303679" y="5095219"/>
            <a:ext cx="2468052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text as ordered sequences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6605" y="3526907"/>
            <a:ext cx="5666326" cy="1933533"/>
          </a:xfrm>
          <a:custGeom>
            <a:avLst/>
            <a:gdLst/>
            <a:ahLst/>
            <a:cxnLst/>
            <a:rect l="l" t="t" r="r" b="b"/>
            <a:pathLst>
              <a:path w="5666326" h="1933533">
                <a:moveTo>
                  <a:pt x="71618" y="0"/>
                </a:moveTo>
                <a:lnTo>
                  <a:pt x="5594708" y="0"/>
                </a:lnTo>
                <a:cubicBezTo>
                  <a:pt x="5634261" y="0"/>
                  <a:pt x="5666326" y="32064"/>
                  <a:pt x="5666326" y="71618"/>
                </a:cubicBezTo>
                <a:lnTo>
                  <a:pt x="5666326" y="1861915"/>
                </a:lnTo>
                <a:cubicBezTo>
                  <a:pt x="5666326" y="1901469"/>
                  <a:pt x="5634261" y="1933533"/>
                  <a:pt x="5594708" y="1933533"/>
                </a:cubicBezTo>
                <a:lnTo>
                  <a:pt x="71618" y="1933533"/>
                </a:lnTo>
                <a:cubicBezTo>
                  <a:pt x="32064" y="1933533"/>
                  <a:pt x="0" y="1901469"/>
                  <a:pt x="0" y="1861915"/>
                </a:cubicBezTo>
                <a:lnTo>
                  <a:pt x="0" y="71618"/>
                </a:lnTo>
                <a:cubicBezTo>
                  <a:pt x="0" y="32091"/>
                  <a:pt x="32091" y="0"/>
                  <a:pt x="7161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345636" y="3705938"/>
            <a:ext cx="539778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1442" y="4135612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47387" y="140595"/>
                </a:moveTo>
                <a:cubicBezTo>
                  <a:pt x="50884" y="144092"/>
                  <a:pt x="56563" y="144092"/>
                  <a:pt x="60059" y="140595"/>
                </a:cubicBezTo>
                <a:lnTo>
                  <a:pt x="104817" y="95837"/>
                </a:lnTo>
                <a:cubicBezTo>
                  <a:pt x="108314" y="92341"/>
                  <a:pt x="108314" y="86662"/>
                  <a:pt x="104817" y="83165"/>
                </a:cubicBezTo>
                <a:cubicBezTo>
                  <a:pt x="101320" y="79669"/>
                  <a:pt x="95642" y="79669"/>
                  <a:pt x="92145" y="83165"/>
                </a:cubicBezTo>
                <a:lnTo>
                  <a:pt x="62661" y="112650"/>
                </a:lnTo>
                <a:lnTo>
                  <a:pt x="62661" y="8952"/>
                </a:lnTo>
                <a:cubicBezTo>
                  <a:pt x="62661" y="4000"/>
                  <a:pt x="58661" y="0"/>
                  <a:pt x="53709" y="0"/>
                </a:cubicBezTo>
                <a:cubicBezTo>
                  <a:pt x="48758" y="0"/>
                  <a:pt x="44758" y="4000"/>
                  <a:pt x="44758" y="8952"/>
                </a:cubicBezTo>
                <a:lnTo>
                  <a:pt x="44758" y="112650"/>
                </a:lnTo>
                <a:lnTo>
                  <a:pt x="15274" y="83165"/>
                </a:lnTo>
                <a:cubicBezTo>
                  <a:pt x="11777" y="79669"/>
                  <a:pt x="6098" y="79669"/>
                  <a:pt x="2602" y="83165"/>
                </a:cubicBezTo>
                <a:cubicBezTo>
                  <a:pt x="-895" y="86662"/>
                  <a:pt x="-895" y="92341"/>
                  <a:pt x="2602" y="95837"/>
                </a:cubicBezTo>
                <a:lnTo>
                  <a:pt x="47359" y="14059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8" name="Text 46"/>
          <p:cNvSpPr/>
          <p:nvPr/>
        </p:nvSpPr>
        <p:spPr>
          <a:xfrm>
            <a:off x="6632086" y="4128453"/>
            <a:ext cx="1424638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Requirements: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24945" y="4128453"/>
            <a:ext cx="1926819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large labeled datasets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1442" y="4457868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47387" y="140595"/>
                </a:moveTo>
                <a:cubicBezTo>
                  <a:pt x="50884" y="144092"/>
                  <a:pt x="56563" y="144092"/>
                  <a:pt x="60059" y="140595"/>
                </a:cubicBezTo>
                <a:lnTo>
                  <a:pt x="104817" y="95837"/>
                </a:lnTo>
                <a:cubicBezTo>
                  <a:pt x="108314" y="92341"/>
                  <a:pt x="108314" y="86662"/>
                  <a:pt x="104817" y="83165"/>
                </a:cubicBezTo>
                <a:cubicBezTo>
                  <a:pt x="101320" y="79669"/>
                  <a:pt x="95642" y="79669"/>
                  <a:pt x="92145" y="83165"/>
                </a:cubicBezTo>
                <a:lnTo>
                  <a:pt x="62661" y="112650"/>
                </a:lnTo>
                <a:lnTo>
                  <a:pt x="62661" y="8952"/>
                </a:lnTo>
                <a:cubicBezTo>
                  <a:pt x="62661" y="4000"/>
                  <a:pt x="58661" y="0"/>
                  <a:pt x="53709" y="0"/>
                </a:cubicBezTo>
                <a:cubicBezTo>
                  <a:pt x="48758" y="0"/>
                  <a:pt x="44758" y="4000"/>
                  <a:pt x="44758" y="8952"/>
                </a:cubicBezTo>
                <a:lnTo>
                  <a:pt x="44758" y="112650"/>
                </a:lnTo>
                <a:lnTo>
                  <a:pt x="15274" y="83165"/>
                </a:lnTo>
                <a:cubicBezTo>
                  <a:pt x="11777" y="79669"/>
                  <a:pt x="6098" y="79669"/>
                  <a:pt x="2602" y="83165"/>
                </a:cubicBezTo>
                <a:cubicBezTo>
                  <a:pt x="-895" y="86662"/>
                  <a:pt x="-895" y="92341"/>
                  <a:pt x="2602" y="95837"/>
                </a:cubicBezTo>
                <a:lnTo>
                  <a:pt x="47359" y="14059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1" name="Text 49"/>
          <p:cNvSpPr/>
          <p:nvPr/>
        </p:nvSpPr>
        <p:spPr>
          <a:xfrm>
            <a:off x="6632086" y="4450708"/>
            <a:ext cx="1479914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Cost: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80221" y="4450708"/>
            <a:ext cx="2491885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training time and resource needs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1442" y="4780123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47387" y="140595"/>
                </a:moveTo>
                <a:cubicBezTo>
                  <a:pt x="50884" y="144092"/>
                  <a:pt x="56563" y="144092"/>
                  <a:pt x="60059" y="140595"/>
                </a:cubicBezTo>
                <a:lnTo>
                  <a:pt x="104817" y="95837"/>
                </a:lnTo>
                <a:cubicBezTo>
                  <a:pt x="108314" y="92341"/>
                  <a:pt x="108314" y="86662"/>
                  <a:pt x="104817" y="83165"/>
                </a:cubicBezTo>
                <a:cubicBezTo>
                  <a:pt x="101320" y="79669"/>
                  <a:pt x="95642" y="79669"/>
                  <a:pt x="92145" y="83165"/>
                </a:cubicBezTo>
                <a:lnTo>
                  <a:pt x="62661" y="112650"/>
                </a:lnTo>
                <a:lnTo>
                  <a:pt x="62661" y="8952"/>
                </a:lnTo>
                <a:cubicBezTo>
                  <a:pt x="62661" y="4000"/>
                  <a:pt x="58661" y="0"/>
                  <a:pt x="53709" y="0"/>
                </a:cubicBezTo>
                <a:cubicBezTo>
                  <a:pt x="48758" y="0"/>
                  <a:pt x="44758" y="4000"/>
                  <a:pt x="44758" y="8952"/>
                </a:cubicBezTo>
                <a:lnTo>
                  <a:pt x="44758" y="112650"/>
                </a:lnTo>
                <a:lnTo>
                  <a:pt x="15274" y="83165"/>
                </a:lnTo>
                <a:cubicBezTo>
                  <a:pt x="11777" y="79669"/>
                  <a:pt x="6098" y="79669"/>
                  <a:pt x="2602" y="83165"/>
                </a:cubicBezTo>
                <a:cubicBezTo>
                  <a:pt x="-895" y="86662"/>
                  <a:pt x="-895" y="92341"/>
                  <a:pt x="2602" y="95837"/>
                </a:cubicBezTo>
                <a:lnTo>
                  <a:pt x="47359" y="14059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4" name="Text 52"/>
          <p:cNvSpPr/>
          <p:nvPr/>
        </p:nvSpPr>
        <p:spPr>
          <a:xfrm>
            <a:off x="6632086" y="4772964"/>
            <a:ext cx="1114131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14439" y="4772964"/>
            <a:ext cx="2372159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Black-box nature limits explainability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1442" y="5102379"/>
            <a:ext cx="107419" cy="143225"/>
          </a:xfrm>
          <a:custGeom>
            <a:avLst/>
            <a:gdLst/>
            <a:ahLst/>
            <a:cxnLst/>
            <a:rect l="l" t="t" r="r" b="b"/>
            <a:pathLst>
              <a:path w="107419" h="143225">
                <a:moveTo>
                  <a:pt x="47387" y="140595"/>
                </a:moveTo>
                <a:cubicBezTo>
                  <a:pt x="50884" y="144092"/>
                  <a:pt x="56563" y="144092"/>
                  <a:pt x="60059" y="140595"/>
                </a:cubicBezTo>
                <a:lnTo>
                  <a:pt x="104817" y="95837"/>
                </a:lnTo>
                <a:cubicBezTo>
                  <a:pt x="108314" y="92341"/>
                  <a:pt x="108314" y="86662"/>
                  <a:pt x="104817" y="83165"/>
                </a:cubicBezTo>
                <a:cubicBezTo>
                  <a:pt x="101320" y="79669"/>
                  <a:pt x="95642" y="79669"/>
                  <a:pt x="92145" y="83165"/>
                </a:cubicBezTo>
                <a:lnTo>
                  <a:pt x="62661" y="112650"/>
                </a:lnTo>
                <a:lnTo>
                  <a:pt x="62661" y="8952"/>
                </a:lnTo>
                <a:cubicBezTo>
                  <a:pt x="62661" y="4000"/>
                  <a:pt x="58661" y="0"/>
                  <a:pt x="53709" y="0"/>
                </a:cubicBezTo>
                <a:cubicBezTo>
                  <a:pt x="48758" y="0"/>
                  <a:pt x="44758" y="4000"/>
                  <a:pt x="44758" y="8952"/>
                </a:cubicBezTo>
                <a:lnTo>
                  <a:pt x="44758" y="112650"/>
                </a:lnTo>
                <a:lnTo>
                  <a:pt x="15274" y="83165"/>
                </a:lnTo>
                <a:cubicBezTo>
                  <a:pt x="11777" y="79669"/>
                  <a:pt x="6098" y="79669"/>
                  <a:pt x="2602" y="83165"/>
                </a:cubicBezTo>
                <a:cubicBezTo>
                  <a:pt x="-895" y="86662"/>
                  <a:pt x="-895" y="92341"/>
                  <a:pt x="2602" y="95837"/>
                </a:cubicBezTo>
                <a:lnTo>
                  <a:pt x="47359" y="14059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Text 55"/>
          <p:cNvSpPr/>
          <p:nvPr/>
        </p:nvSpPr>
        <p:spPr>
          <a:xfrm>
            <a:off x="6632086" y="5095219"/>
            <a:ext cx="1241131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Window: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841439" y="5095219"/>
            <a:ext cx="2531720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by fixed-length representations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75965" y="5603665"/>
            <a:ext cx="11457974" cy="716123"/>
          </a:xfrm>
          <a:custGeom>
            <a:avLst/>
            <a:gdLst/>
            <a:ahLst/>
            <a:cxnLst/>
            <a:rect l="l" t="t" r="r" b="b"/>
            <a:pathLst>
              <a:path w="11457974" h="716123">
                <a:moveTo>
                  <a:pt x="35806" y="0"/>
                </a:moveTo>
                <a:lnTo>
                  <a:pt x="11386361" y="0"/>
                </a:lnTo>
                <a:cubicBezTo>
                  <a:pt x="11425912" y="0"/>
                  <a:pt x="11457974" y="32062"/>
                  <a:pt x="11457974" y="71612"/>
                </a:cubicBezTo>
                <a:lnTo>
                  <a:pt x="11457974" y="644511"/>
                </a:lnTo>
                <a:cubicBezTo>
                  <a:pt x="11457974" y="684061"/>
                  <a:pt x="11425912" y="716123"/>
                  <a:pt x="11386361" y="716123"/>
                </a:cubicBezTo>
                <a:lnTo>
                  <a:pt x="35806" y="716123"/>
                </a:lnTo>
                <a:cubicBezTo>
                  <a:pt x="16031" y="716123"/>
                  <a:pt x="0" y="700092"/>
                  <a:pt x="0" y="68031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75965" y="5603665"/>
            <a:ext cx="35806" cy="716123"/>
          </a:xfrm>
          <a:custGeom>
            <a:avLst/>
            <a:gdLst/>
            <a:ahLst/>
            <a:cxnLst/>
            <a:rect l="l" t="t" r="r" b="b"/>
            <a:pathLst>
              <a:path w="35806" h="716123">
                <a:moveTo>
                  <a:pt x="35806" y="0"/>
                </a:moveTo>
                <a:lnTo>
                  <a:pt x="35806" y="0"/>
                </a:lnTo>
                <a:lnTo>
                  <a:pt x="35806" y="716123"/>
                </a:lnTo>
                <a:lnTo>
                  <a:pt x="35806" y="716123"/>
                </a:lnTo>
                <a:cubicBezTo>
                  <a:pt x="16031" y="716123"/>
                  <a:pt x="0" y="700092"/>
                  <a:pt x="0" y="680317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1" name="Shape 59"/>
          <p:cNvSpPr/>
          <p:nvPr/>
        </p:nvSpPr>
        <p:spPr>
          <a:xfrm>
            <a:off x="554996" y="578269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7903" y="17903"/>
                </a:moveTo>
                <a:cubicBezTo>
                  <a:pt x="17903" y="12952"/>
                  <a:pt x="13903" y="8952"/>
                  <a:pt x="8952" y="8952"/>
                </a:cubicBezTo>
                <a:cubicBezTo>
                  <a:pt x="4000" y="8952"/>
                  <a:pt x="0" y="12952"/>
                  <a:pt x="0" y="17903"/>
                </a:cubicBezTo>
                <a:lnTo>
                  <a:pt x="0" y="111894"/>
                </a:lnTo>
                <a:cubicBezTo>
                  <a:pt x="0" y="124259"/>
                  <a:pt x="10015" y="134273"/>
                  <a:pt x="22379" y="134273"/>
                </a:cubicBezTo>
                <a:lnTo>
                  <a:pt x="134273" y="134273"/>
                </a:lnTo>
                <a:cubicBezTo>
                  <a:pt x="139224" y="134273"/>
                  <a:pt x="143225" y="130273"/>
                  <a:pt x="143225" y="125322"/>
                </a:cubicBezTo>
                <a:cubicBezTo>
                  <a:pt x="143225" y="120370"/>
                  <a:pt x="139224" y="116370"/>
                  <a:pt x="134273" y="116370"/>
                </a:cubicBezTo>
                <a:lnTo>
                  <a:pt x="22379" y="116370"/>
                </a:lnTo>
                <a:cubicBezTo>
                  <a:pt x="19917" y="116370"/>
                  <a:pt x="17903" y="114356"/>
                  <a:pt x="17903" y="111894"/>
                </a:cubicBezTo>
                <a:lnTo>
                  <a:pt x="17903" y="17903"/>
                </a:lnTo>
                <a:close/>
                <a:moveTo>
                  <a:pt x="131644" y="42128"/>
                </a:moveTo>
                <a:cubicBezTo>
                  <a:pt x="135140" y="38631"/>
                  <a:pt x="135140" y="32953"/>
                  <a:pt x="131644" y="29456"/>
                </a:cubicBezTo>
                <a:cubicBezTo>
                  <a:pt x="128147" y="25959"/>
                  <a:pt x="122468" y="25959"/>
                  <a:pt x="118972" y="29456"/>
                </a:cubicBezTo>
                <a:lnTo>
                  <a:pt x="89515" y="58940"/>
                </a:lnTo>
                <a:lnTo>
                  <a:pt x="73459" y="42911"/>
                </a:lnTo>
                <a:cubicBezTo>
                  <a:pt x="69962" y="39415"/>
                  <a:pt x="64283" y="39415"/>
                  <a:pt x="60787" y="42911"/>
                </a:cubicBezTo>
                <a:lnTo>
                  <a:pt x="33932" y="69766"/>
                </a:lnTo>
                <a:cubicBezTo>
                  <a:pt x="30435" y="73263"/>
                  <a:pt x="30435" y="78941"/>
                  <a:pt x="33932" y="82438"/>
                </a:cubicBezTo>
                <a:cubicBezTo>
                  <a:pt x="37429" y="85935"/>
                  <a:pt x="43107" y="85935"/>
                  <a:pt x="46604" y="82438"/>
                </a:cubicBezTo>
                <a:lnTo>
                  <a:pt x="67137" y="61906"/>
                </a:lnTo>
                <a:lnTo>
                  <a:pt x="83193" y="77962"/>
                </a:lnTo>
                <a:cubicBezTo>
                  <a:pt x="86690" y="81459"/>
                  <a:pt x="92369" y="81459"/>
                  <a:pt x="95865" y="77962"/>
                </a:cubicBezTo>
                <a:lnTo>
                  <a:pt x="131672" y="4215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2" name="Text 60"/>
          <p:cNvSpPr/>
          <p:nvPr/>
        </p:nvSpPr>
        <p:spPr>
          <a:xfrm>
            <a:off x="827570" y="5775537"/>
            <a:ext cx="1321136" cy="15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Finding: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37093" y="5775537"/>
            <a:ext cx="10690491" cy="3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models (CNN, LSTM, GRU) consistently outperform traditional ML when sufficient training data is available, with 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showing superior performance 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sequential health misinformation detection tasks.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111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Transformer-Based Models: The Current Standard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1166191"/>
            <a:ext cx="5636591" cy="3604591"/>
          </a:xfrm>
          <a:custGeom>
            <a:avLst/>
            <a:gdLst/>
            <a:ahLst/>
            <a:cxnLst/>
            <a:rect l="l" t="t" r="r" b="b"/>
            <a:pathLst>
              <a:path w="5636591" h="3604591">
                <a:moveTo>
                  <a:pt x="35339" y="0"/>
                </a:moveTo>
                <a:lnTo>
                  <a:pt x="5565905" y="0"/>
                </a:lnTo>
                <a:cubicBezTo>
                  <a:pt x="5604944" y="0"/>
                  <a:pt x="5636591" y="31647"/>
                  <a:pt x="5636591" y="70686"/>
                </a:cubicBezTo>
                <a:lnTo>
                  <a:pt x="5636591" y="3533905"/>
                </a:lnTo>
                <a:cubicBezTo>
                  <a:pt x="5636591" y="3572944"/>
                  <a:pt x="5604944" y="3604591"/>
                  <a:pt x="5565905" y="3604591"/>
                </a:cubicBezTo>
                <a:lnTo>
                  <a:pt x="35339" y="3604591"/>
                </a:lnTo>
                <a:cubicBezTo>
                  <a:pt x="15822" y="3604591"/>
                  <a:pt x="0" y="3588769"/>
                  <a:pt x="0" y="3569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1061" y="1166191"/>
            <a:ext cx="35339" cy="3604591"/>
          </a:xfrm>
          <a:custGeom>
            <a:avLst/>
            <a:gdLst/>
            <a:ahLst/>
            <a:cxnLst/>
            <a:rect l="l" t="t" r="r" b="b"/>
            <a:pathLst>
              <a:path w="35339" h="3604591">
                <a:moveTo>
                  <a:pt x="35339" y="0"/>
                </a:moveTo>
                <a:lnTo>
                  <a:pt x="35339" y="0"/>
                </a:lnTo>
                <a:lnTo>
                  <a:pt x="35339" y="3604591"/>
                </a:lnTo>
                <a:lnTo>
                  <a:pt x="35339" y="3604591"/>
                </a:lnTo>
                <a:cubicBezTo>
                  <a:pt x="15822" y="3604591"/>
                  <a:pt x="0" y="3588769"/>
                  <a:pt x="0" y="3569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65426" y="1342887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5426" y="1731617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71443" y="1837635"/>
            <a:ext cx="4594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4810" y="1837635"/>
            <a:ext cx="644939" cy="212035"/>
          </a:xfrm>
          <a:custGeom>
            <a:avLst/>
            <a:gdLst/>
            <a:ahLst/>
            <a:cxnLst/>
            <a:rect l="l" t="t" r="r" b="b"/>
            <a:pathLst>
              <a:path w="644939" h="212035">
                <a:moveTo>
                  <a:pt x="35340" y="0"/>
                </a:moveTo>
                <a:lnTo>
                  <a:pt x="609599" y="0"/>
                </a:lnTo>
                <a:cubicBezTo>
                  <a:pt x="629117" y="0"/>
                  <a:pt x="644939" y="15822"/>
                  <a:pt x="644939" y="35340"/>
                </a:cubicBezTo>
                <a:lnTo>
                  <a:pt x="644939" y="176695"/>
                </a:lnTo>
                <a:cubicBezTo>
                  <a:pt x="644939" y="196213"/>
                  <a:pt x="629117" y="212035"/>
                  <a:pt x="609599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74810" y="1837635"/>
            <a:ext cx="697948" cy="212035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Used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443" y="2085009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 Encoder Representations from Transformers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426" y="2473739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1443" y="2579757"/>
            <a:ext cx="7244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RoBERTa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04296" y="2579757"/>
            <a:ext cx="618435" cy="212035"/>
          </a:xfrm>
          <a:custGeom>
            <a:avLst/>
            <a:gdLst/>
            <a:ahLst/>
            <a:cxnLst/>
            <a:rect l="l" t="t" r="r" b="b"/>
            <a:pathLst>
              <a:path w="618435" h="212035">
                <a:moveTo>
                  <a:pt x="35340" y="0"/>
                </a:moveTo>
                <a:lnTo>
                  <a:pt x="583095" y="0"/>
                </a:lnTo>
                <a:cubicBezTo>
                  <a:pt x="602613" y="0"/>
                  <a:pt x="618435" y="15822"/>
                  <a:pt x="618435" y="35340"/>
                </a:cubicBezTo>
                <a:lnTo>
                  <a:pt x="618435" y="176695"/>
                </a:lnTo>
                <a:cubicBezTo>
                  <a:pt x="618435" y="196213"/>
                  <a:pt x="602613" y="212035"/>
                  <a:pt x="583095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04296" y="2579757"/>
            <a:ext cx="671443" cy="212035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1443" y="2827130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Robustly optimized BERT approach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5426" y="3215861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1443" y="3321878"/>
            <a:ext cx="6714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SciBERT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6276" y="3321878"/>
            <a:ext cx="503583" cy="212035"/>
          </a:xfrm>
          <a:custGeom>
            <a:avLst/>
            <a:gdLst/>
            <a:ahLst/>
            <a:cxnLst/>
            <a:rect l="l" t="t" r="r" b="b"/>
            <a:pathLst>
              <a:path w="503583" h="212035">
                <a:moveTo>
                  <a:pt x="35340" y="0"/>
                </a:moveTo>
                <a:lnTo>
                  <a:pt x="468243" y="0"/>
                </a:lnTo>
                <a:cubicBezTo>
                  <a:pt x="487760" y="0"/>
                  <a:pt x="503583" y="15822"/>
                  <a:pt x="503583" y="35340"/>
                </a:cubicBezTo>
                <a:lnTo>
                  <a:pt x="503583" y="176695"/>
                </a:lnTo>
                <a:cubicBezTo>
                  <a:pt x="503583" y="196213"/>
                  <a:pt x="487760" y="212035"/>
                  <a:pt x="468243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16276" y="3321878"/>
            <a:ext cx="556591" cy="212035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443" y="3569252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on scientific corpus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5426" y="3957983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1443" y="4064000"/>
            <a:ext cx="8039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DistilBERT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5213" y="4064000"/>
            <a:ext cx="680278" cy="212035"/>
          </a:xfrm>
          <a:custGeom>
            <a:avLst/>
            <a:gdLst/>
            <a:ahLst/>
            <a:cxnLst/>
            <a:rect l="l" t="t" r="r" b="b"/>
            <a:pathLst>
              <a:path w="680278" h="212035">
                <a:moveTo>
                  <a:pt x="35340" y="0"/>
                </a:moveTo>
                <a:lnTo>
                  <a:pt x="644938" y="0"/>
                </a:lnTo>
                <a:cubicBezTo>
                  <a:pt x="664456" y="0"/>
                  <a:pt x="680278" y="15822"/>
                  <a:pt x="680278" y="35340"/>
                </a:cubicBezTo>
                <a:lnTo>
                  <a:pt x="680278" y="176695"/>
                </a:lnTo>
                <a:cubicBezTo>
                  <a:pt x="680278" y="196213"/>
                  <a:pt x="664456" y="212035"/>
                  <a:pt x="644938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45213" y="4064000"/>
            <a:ext cx="733287" cy="212035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1443" y="4311374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smaller, 60% faster, retains 97% performance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3391" y="4912139"/>
            <a:ext cx="5654261" cy="1590261"/>
          </a:xfrm>
          <a:custGeom>
            <a:avLst/>
            <a:gdLst/>
            <a:ahLst/>
            <a:cxnLst/>
            <a:rect l="l" t="t" r="r" b="b"/>
            <a:pathLst>
              <a:path w="5654261" h="1590261">
                <a:moveTo>
                  <a:pt x="70671" y="0"/>
                </a:moveTo>
                <a:lnTo>
                  <a:pt x="5583590" y="0"/>
                </a:lnTo>
                <a:cubicBezTo>
                  <a:pt x="5622594" y="0"/>
                  <a:pt x="5654261" y="31667"/>
                  <a:pt x="5654261" y="70671"/>
                </a:cubicBezTo>
                <a:lnTo>
                  <a:pt x="5654261" y="1519590"/>
                </a:lnTo>
                <a:cubicBezTo>
                  <a:pt x="5654261" y="1558594"/>
                  <a:pt x="5622594" y="1590261"/>
                  <a:pt x="5583590" y="1590261"/>
                </a:cubicBezTo>
                <a:lnTo>
                  <a:pt x="70671" y="1590261"/>
                </a:lnTo>
                <a:cubicBezTo>
                  <a:pt x="31667" y="1590261"/>
                  <a:pt x="0" y="1558594"/>
                  <a:pt x="0" y="1519590"/>
                </a:cubicBezTo>
                <a:lnTo>
                  <a:pt x="0" y="70671"/>
                </a:lnTo>
                <a:cubicBezTo>
                  <a:pt x="0" y="31641"/>
                  <a:pt x="31641" y="0"/>
                  <a:pt x="7067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0087" y="5088835"/>
            <a:ext cx="53803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Advantage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087" y="5477457"/>
            <a:ext cx="206733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 vs. Traditional ML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74204" y="5442226"/>
            <a:ext cx="9629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+15-25%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087" y="5830737"/>
            <a:ext cx="20938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 vs. Deep Learning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92148" y="5795510"/>
            <a:ext cx="839304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+8-15%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087" y="6148789"/>
            <a:ext cx="536271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F1-score across health misinformation datasets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0030" y="1166191"/>
            <a:ext cx="5636591" cy="2615096"/>
          </a:xfrm>
          <a:custGeom>
            <a:avLst/>
            <a:gdLst/>
            <a:ahLst/>
            <a:cxnLst/>
            <a:rect l="l" t="t" r="r" b="b"/>
            <a:pathLst>
              <a:path w="5636591" h="2615096">
                <a:moveTo>
                  <a:pt x="35339" y="0"/>
                </a:moveTo>
                <a:lnTo>
                  <a:pt x="5565905" y="0"/>
                </a:lnTo>
                <a:cubicBezTo>
                  <a:pt x="5604944" y="0"/>
                  <a:pt x="5636591" y="31647"/>
                  <a:pt x="5636591" y="70686"/>
                </a:cubicBezTo>
                <a:lnTo>
                  <a:pt x="5636591" y="2544410"/>
                </a:lnTo>
                <a:cubicBezTo>
                  <a:pt x="5636591" y="2583448"/>
                  <a:pt x="5604944" y="2615096"/>
                  <a:pt x="5565905" y="2615096"/>
                </a:cubicBezTo>
                <a:lnTo>
                  <a:pt x="35339" y="2615096"/>
                </a:lnTo>
                <a:cubicBezTo>
                  <a:pt x="15822" y="2615096"/>
                  <a:pt x="0" y="2599274"/>
                  <a:pt x="0" y="25797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00030" y="1166191"/>
            <a:ext cx="35339" cy="2615096"/>
          </a:xfrm>
          <a:custGeom>
            <a:avLst/>
            <a:gdLst/>
            <a:ahLst/>
            <a:cxnLst/>
            <a:rect l="l" t="t" r="r" b="b"/>
            <a:pathLst>
              <a:path w="35339" h="2615096">
                <a:moveTo>
                  <a:pt x="35339" y="0"/>
                </a:moveTo>
                <a:lnTo>
                  <a:pt x="35339" y="0"/>
                </a:lnTo>
                <a:lnTo>
                  <a:pt x="35339" y="2615096"/>
                </a:lnTo>
                <a:lnTo>
                  <a:pt x="35339" y="2615096"/>
                </a:lnTo>
                <a:cubicBezTo>
                  <a:pt x="15822" y="2615096"/>
                  <a:pt x="0" y="2599274"/>
                  <a:pt x="0" y="25797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Text 34"/>
          <p:cNvSpPr/>
          <p:nvPr/>
        </p:nvSpPr>
        <p:spPr>
          <a:xfrm>
            <a:off x="6394395" y="1342887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Transformers Excel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4395" y="176695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01296" y="1819965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83125" y="1731617"/>
            <a:ext cx="3313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Self-Attention Mechanism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83125" y="1943652"/>
            <a:ext cx="330420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global dependencies and contextual relationships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4395" y="2261704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01296" y="2314713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83125" y="2226365"/>
            <a:ext cx="31098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 Context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3125" y="2438400"/>
            <a:ext cx="310100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Understands words from both directions simultaneously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4395" y="2756452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501296" y="2809461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3125" y="2721113"/>
            <a:ext cx="35604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+ Fine-tuning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3125" y="2933148"/>
            <a:ext cx="35515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massive general corpora, adapts to specific domains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4395" y="3251200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01296" y="3304209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83125" y="3215861"/>
            <a:ext cx="27564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Embeddings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83125" y="3427896"/>
            <a:ext cx="274761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word, different meanings based on context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85894" y="3926177"/>
            <a:ext cx="5643659" cy="1402963"/>
          </a:xfrm>
          <a:custGeom>
            <a:avLst/>
            <a:gdLst/>
            <a:ahLst/>
            <a:cxnLst/>
            <a:rect l="l" t="t" r="r" b="b"/>
            <a:pathLst>
              <a:path w="5643659" h="1402963">
                <a:moveTo>
                  <a:pt x="70681" y="0"/>
                </a:moveTo>
                <a:lnTo>
                  <a:pt x="5572978" y="0"/>
                </a:lnTo>
                <a:cubicBezTo>
                  <a:pt x="5612014" y="0"/>
                  <a:pt x="5643659" y="31645"/>
                  <a:pt x="5643659" y="70681"/>
                </a:cubicBezTo>
                <a:lnTo>
                  <a:pt x="5643659" y="1332282"/>
                </a:lnTo>
                <a:cubicBezTo>
                  <a:pt x="5643659" y="1371318"/>
                  <a:pt x="5612014" y="1402963"/>
                  <a:pt x="5572978" y="1402963"/>
                </a:cubicBezTo>
                <a:lnTo>
                  <a:pt x="70681" y="1402963"/>
                </a:lnTo>
                <a:cubicBezTo>
                  <a:pt x="31671" y="1402963"/>
                  <a:pt x="0" y="1371292"/>
                  <a:pt x="0" y="1332282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6124" y="4106410"/>
            <a:ext cx="536271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Consensus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66124" y="4459801"/>
            <a:ext cx="535387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transformers (BERT, RoBERTa) </a:t>
            </a:r>
            <a:pPr>
              <a:lnSpc>
                <a:spcPct val="14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outperform traditional ML and deep learning approaches due to superior contextual understanding. Domain-specific variants (SciBERT, BioBERT) show additional gains for health content.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54" y="318954"/>
            <a:ext cx="1161788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spc="10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Frontier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954" y="574116"/>
            <a:ext cx="11697622" cy="31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Large Language Models: The Emerging Frontier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901" y="1052547"/>
            <a:ext cx="5677373" cy="3253326"/>
          </a:xfrm>
          <a:custGeom>
            <a:avLst/>
            <a:gdLst/>
            <a:ahLst/>
            <a:cxnLst/>
            <a:rect l="l" t="t" r="r" b="b"/>
            <a:pathLst>
              <a:path w="5677373" h="3253326">
                <a:moveTo>
                  <a:pt x="31895" y="0"/>
                </a:moveTo>
                <a:lnTo>
                  <a:pt x="5613576" y="0"/>
                </a:lnTo>
                <a:cubicBezTo>
                  <a:pt x="5648810" y="0"/>
                  <a:pt x="5677373" y="28563"/>
                  <a:pt x="5677373" y="63798"/>
                </a:cubicBezTo>
                <a:lnTo>
                  <a:pt x="5677373" y="3189529"/>
                </a:lnTo>
                <a:cubicBezTo>
                  <a:pt x="5677373" y="3224763"/>
                  <a:pt x="5648810" y="3253326"/>
                  <a:pt x="5613576" y="3253326"/>
                </a:cubicBezTo>
                <a:lnTo>
                  <a:pt x="31895" y="3253326"/>
                </a:lnTo>
                <a:cubicBezTo>
                  <a:pt x="14280" y="3253326"/>
                  <a:pt x="0" y="3239046"/>
                  <a:pt x="0" y="3221431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4901" y="1052547"/>
            <a:ext cx="31895" cy="3253326"/>
          </a:xfrm>
          <a:custGeom>
            <a:avLst/>
            <a:gdLst/>
            <a:ahLst/>
            <a:cxnLst/>
            <a:rect l="l" t="t" r="r" b="b"/>
            <a:pathLst>
              <a:path w="31895" h="3253326">
                <a:moveTo>
                  <a:pt x="31895" y="0"/>
                </a:moveTo>
                <a:lnTo>
                  <a:pt x="31895" y="0"/>
                </a:lnTo>
                <a:lnTo>
                  <a:pt x="31895" y="3253326"/>
                </a:lnTo>
                <a:lnTo>
                  <a:pt x="31895" y="3253326"/>
                </a:lnTo>
                <a:cubicBezTo>
                  <a:pt x="14280" y="3253326"/>
                  <a:pt x="0" y="3239046"/>
                  <a:pt x="0" y="3221431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10326" y="1212024"/>
            <a:ext cx="542221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0326" y="1562872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31898" y="0"/>
                </a:moveTo>
                <a:lnTo>
                  <a:pt x="5310574" y="0"/>
                </a:lnTo>
                <a:cubicBezTo>
                  <a:pt x="5328191" y="0"/>
                  <a:pt x="5342472" y="14281"/>
                  <a:pt x="5342472" y="31898"/>
                </a:cubicBezTo>
                <a:lnTo>
                  <a:pt x="5342472" y="542219"/>
                </a:lnTo>
                <a:cubicBezTo>
                  <a:pt x="5342472" y="559835"/>
                  <a:pt x="5328191" y="574116"/>
                  <a:pt x="5310574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959" y="1690454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127581"/>
                </a:moveTo>
                <a:cubicBezTo>
                  <a:pt x="98998" y="127581"/>
                  <a:pt x="127581" y="98998"/>
                  <a:pt x="127581" y="63791"/>
                </a:cubicBezTo>
                <a:cubicBezTo>
                  <a:pt x="127581" y="28584"/>
                  <a:pt x="98998" y="0"/>
                  <a:pt x="63791" y="0"/>
                </a:cubicBezTo>
                <a:cubicBezTo>
                  <a:pt x="28584" y="0"/>
                  <a:pt x="0" y="28584"/>
                  <a:pt x="0" y="63791"/>
                </a:cubicBezTo>
                <a:cubicBezTo>
                  <a:pt x="0" y="98998"/>
                  <a:pt x="28584" y="127581"/>
                  <a:pt x="63791" y="127581"/>
                </a:cubicBezTo>
                <a:close/>
                <a:moveTo>
                  <a:pt x="84822" y="53001"/>
                </a:moveTo>
                <a:lnTo>
                  <a:pt x="64887" y="84896"/>
                </a:lnTo>
                <a:cubicBezTo>
                  <a:pt x="63841" y="86566"/>
                  <a:pt x="62046" y="87613"/>
                  <a:pt x="60078" y="87712"/>
                </a:cubicBezTo>
                <a:cubicBezTo>
                  <a:pt x="58109" y="87812"/>
                  <a:pt x="56216" y="86915"/>
                  <a:pt x="55044" y="85320"/>
                </a:cubicBezTo>
                <a:lnTo>
                  <a:pt x="43084" y="69372"/>
                </a:lnTo>
                <a:cubicBezTo>
                  <a:pt x="41090" y="66731"/>
                  <a:pt x="41638" y="62993"/>
                  <a:pt x="44280" y="61000"/>
                </a:cubicBezTo>
                <a:cubicBezTo>
                  <a:pt x="46921" y="59006"/>
                  <a:pt x="50659" y="59555"/>
                  <a:pt x="52652" y="62196"/>
                </a:cubicBezTo>
                <a:lnTo>
                  <a:pt x="59380" y="71167"/>
                </a:lnTo>
                <a:lnTo>
                  <a:pt x="74680" y="46672"/>
                </a:lnTo>
                <a:cubicBezTo>
                  <a:pt x="76424" y="43881"/>
                  <a:pt x="80112" y="43009"/>
                  <a:pt x="82928" y="44778"/>
                </a:cubicBezTo>
                <a:cubicBezTo>
                  <a:pt x="85744" y="46547"/>
                  <a:pt x="86591" y="50210"/>
                  <a:pt x="84822" y="530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829279" y="1658559"/>
            <a:ext cx="89307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6012" y="1881826"/>
            <a:ext cx="520691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Zero-shot and few-shot misinformation detection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0326" y="2232675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31898" y="0"/>
                </a:moveTo>
                <a:lnTo>
                  <a:pt x="5310574" y="0"/>
                </a:lnTo>
                <a:cubicBezTo>
                  <a:pt x="5328191" y="0"/>
                  <a:pt x="5342472" y="14281"/>
                  <a:pt x="5342472" y="31898"/>
                </a:cubicBezTo>
                <a:lnTo>
                  <a:pt x="5342472" y="542219"/>
                </a:lnTo>
                <a:cubicBezTo>
                  <a:pt x="5342472" y="559835"/>
                  <a:pt x="5328191" y="574116"/>
                  <a:pt x="5310574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1959" y="2360256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127581"/>
                </a:moveTo>
                <a:cubicBezTo>
                  <a:pt x="98998" y="127581"/>
                  <a:pt x="127581" y="98998"/>
                  <a:pt x="127581" y="63791"/>
                </a:cubicBezTo>
                <a:cubicBezTo>
                  <a:pt x="127581" y="28584"/>
                  <a:pt x="98998" y="0"/>
                  <a:pt x="63791" y="0"/>
                </a:cubicBezTo>
                <a:cubicBezTo>
                  <a:pt x="28584" y="0"/>
                  <a:pt x="0" y="28584"/>
                  <a:pt x="0" y="63791"/>
                </a:cubicBezTo>
                <a:cubicBezTo>
                  <a:pt x="0" y="98998"/>
                  <a:pt x="28584" y="127581"/>
                  <a:pt x="63791" y="127581"/>
                </a:cubicBezTo>
                <a:close/>
                <a:moveTo>
                  <a:pt x="84822" y="53001"/>
                </a:moveTo>
                <a:lnTo>
                  <a:pt x="64887" y="84896"/>
                </a:lnTo>
                <a:cubicBezTo>
                  <a:pt x="63841" y="86566"/>
                  <a:pt x="62046" y="87613"/>
                  <a:pt x="60078" y="87712"/>
                </a:cubicBezTo>
                <a:cubicBezTo>
                  <a:pt x="58109" y="87812"/>
                  <a:pt x="56216" y="86915"/>
                  <a:pt x="55044" y="85320"/>
                </a:cubicBezTo>
                <a:lnTo>
                  <a:pt x="43084" y="69372"/>
                </a:lnTo>
                <a:cubicBezTo>
                  <a:pt x="41090" y="66731"/>
                  <a:pt x="41638" y="62993"/>
                  <a:pt x="44280" y="61000"/>
                </a:cubicBezTo>
                <a:cubicBezTo>
                  <a:pt x="46921" y="59006"/>
                  <a:pt x="50659" y="59555"/>
                  <a:pt x="52652" y="62196"/>
                </a:cubicBezTo>
                <a:lnTo>
                  <a:pt x="59380" y="71167"/>
                </a:lnTo>
                <a:lnTo>
                  <a:pt x="74680" y="46672"/>
                </a:lnTo>
                <a:cubicBezTo>
                  <a:pt x="76424" y="43881"/>
                  <a:pt x="80112" y="43009"/>
                  <a:pt x="82928" y="44778"/>
                </a:cubicBezTo>
                <a:cubicBezTo>
                  <a:pt x="85744" y="46547"/>
                  <a:pt x="86591" y="50210"/>
                  <a:pt x="84822" y="530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829279" y="2328361"/>
            <a:ext cx="118810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012" y="2551629"/>
            <a:ext cx="520691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topic modeling and theme extraction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326" y="2902477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31898" y="0"/>
                </a:moveTo>
                <a:lnTo>
                  <a:pt x="5310574" y="0"/>
                </a:lnTo>
                <a:cubicBezTo>
                  <a:pt x="5328191" y="0"/>
                  <a:pt x="5342472" y="14281"/>
                  <a:pt x="5342472" y="31898"/>
                </a:cubicBezTo>
                <a:lnTo>
                  <a:pt x="5342472" y="542219"/>
                </a:lnTo>
                <a:cubicBezTo>
                  <a:pt x="5342472" y="559835"/>
                  <a:pt x="5328191" y="574116"/>
                  <a:pt x="5310574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1959" y="3030059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127581"/>
                </a:moveTo>
                <a:cubicBezTo>
                  <a:pt x="98998" y="127581"/>
                  <a:pt x="127581" y="98998"/>
                  <a:pt x="127581" y="63791"/>
                </a:cubicBezTo>
                <a:cubicBezTo>
                  <a:pt x="127581" y="28584"/>
                  <a:pt x="98998" y="0"/>
                  <a:pt x="63791" y="0"/>
                </a:cubicBezTo>
                <a:cubicBezTo>
                  <a:pt x="28584" y="0"/>
                  <a:pt x="0" y="28584"/>
                  <a:pt x="0" y="63791"/>
                </a:cubicBezTo>
                <a:cubicBezTo>
                  <a:pt x="0" y="98998"/>
                  <a:pt x="28584" y="127581"/>
                  <a:pt x="63791" y="127581"/>
                </a:cubicBezTo>
                <a:close/>
                <a:moveTo>
                  <a:pt x="84822" y="53001"/>
                </a:moveTo>
                <a:lnTo>
                  <a:pt x="64887" y="84896"/>
                </a:lnTo>
                <a:cubicBezTo>
                  <a:pt x="63841" y="86566"/>
                  <a:pt x="62046" y="87613"/>
                  <a:pt x="60078" y="87712"/>
                </a:cubicBezTo>
                <a:cubicBezTo>
                  <a:pt x="58109" y="87812"/>
                  <a:pt x="56216" y="86915"/>
                  <a:pt x="55044" y="85320"/>
                </a:cubicBezTo>
                <a:lnTo>
                  <a:pt x="43084" y="69372"/>
                </a:lnTo>
                <a:cubicBezTo>
                  <a:pt x="41090" y="66731"/>
                  <a:pt x="41638" y="62993"/>
                  <a:pt x="44280" y="61000"/>
                </a:cubicBezTo>
                <a:cubicBezTo>
                  <a:pt x="46921" y="59006"/>
                  <a:pt x="50659" y="59555"/>
                  <a:pt x="52652" y="62196"/>
                </a:cubicBezTo>
                <a:lnTo>
                  <a:pt x="59380" y="71167"/>
                </a:lnTo>
                <a:lnTo>
                  <a:pt x="74680" y="46672"/>
                </a:lnTo>
                <a:cubicBezTo>
                  <a:pt x="76424" y="43881"/>
                  <a:pt x="80112" y="43009"/>
                  <a:pt x="82928" y="44778"/>
                </a:cubicBezTo>
                <a:cubicBezTo>
                  <a:pt x="85744" y="46547"/>
                  <a:pt x="86591" y="50210"/>
                  <a:pt x="84822" y="530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829279" y="2998164"/>
            <a:ext cx="1841957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Counter-Message Generation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012" y="3221431"/>
            <a:ext cx="520691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refutation and corrective explanations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0326" y="3572280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31898" y="0"/>
                </a:moveTo>
                <a:lnTo>
                  <a:pt x="5310574" y="0"/>
                </a:lnTo>
                <a:cubicBezTo>
                  <a:pt x="5328191" y="0"/>
                  <a:pt x="5342472" y="14281"/>
                  <a:pt x="5342472" y="31898"/>
                </a:cubicBezTo>
                <a:lnTo>
                  <a:pt x="5342472" y="542219"/>
                </a:lnTo>
                <a:cubicBezTo>
                  <a:pt x="5342472" y="559835"/>
                  <a:pt x="5328191" y="574116"/>
                  <a:pt x="5310574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1959" y="3699861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127581"/>
                </a:moveTo>
                <a:cubicBezTo>
                  <a:pt x="98998" y="127581"/>
                  <a:pt x="127581" y="98998"/>
                  <a:pt x="127581" y="63791"/>
                </a:cubicBezTo>
                <a:cubicBezTo>
                  <a:pt x="127581" y="28584"/>
                  <a:pt x="98998" y="0"/>
                  <a:pt x="63791" y="0"/>
                </a:cubicBezTo>
                <a:cubicBezTo>
                  <a:pt x="28584" y="0"/>
                  <a:pt x="0" y="28584"/>
                  <a:pt x="0" y="63791"/>
                </a:cubicBezTo>
                <a:cubicBezTo>
                  <a:pt x="0" y="98998"/>
                  <a:pt x="28584" y="127581"/>
                  <a:pt x="63791" y="127581"/>
                </a:cubicBezTo>
                <a:close/>
                <a:moveTo>
                  <a:pt x="84822" y="53001"/>
                </a:moveTo>
                <a:lnTo>
                  <a:pt x="64887" y="84896"/>
                </a:lnTo>
                <a:cubicBezTo>
                  <a:pt x="63841" y="86566"/>
                  <a:pt x="62046" y="87613"/>
                  <a:pt x="60078" y="87712"/>
                </a:cubicBezTo>
                <a:cubicBezTo>
                  <a:pt x="58109" y="87812"/>
                  <a:pt x="56216" y="86915"/>
                  <a:pt x="55044" y="85320"/>
                </a:cubicBezTo>
                <a:lnTo>
                  <a:pt x="43084" y="69372"/>
                </a:lnTo>
                <a:cubicBezTo>
                  <a:pt x="41090" y="66731"/>
                  <a:pt x="41638" y="62993"/>
                  <a:pt x="44280" y="61000"/>
                </a:cubicBezTo>
                <a:cubicBezTo>
                  <a:pt x="46921" y="59006"/>
                  <a:pt x="50659" y="59555"/>
                  <a:pt x="52652" y="62196"/>
                </a:cubicBezTo>
                <a:lnTo>
                  <a:pt x="59380" y="71167"/>
                </a:lnTo>
                <a:lnTo>
                  <a:pt x="74680" y="46672"/>
                </a:lnTo>
                <a:cubicBezTo>
                  <a:pt x="76424" y="43881"/>
                  <a:pt x="80112" y="43009"/>
                  <a:pt x="82928" y="44778"/>
                </a:cubicBezTo>
                <a:cubicBezTo>
                  <a:pt x="85744" y="46547"/>
                  <a:pt x="86591" y="50210"/>
                  <a:pt x="84822" y="530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829279" y="3667966"/>
            <a:ext cx="157882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Inoculation Interventions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6012" y="3891233"/>
            <a:ext cx="520691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Preemptive misinformation warning systems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8954" y="4433455"/>
            <a:ext cx="5693321" cy="1339605"/>
          </a:xfrm>
          <a:custGeom>
            <a:avLst/>
            <a:gdLst/>
            <a:ahLst/>
            <a:cxnLst/>
            <a:rect l="l" t="t" r="r" b="b"/>
            <a:pathLst>
              <a:path w="5693321" h="1339605">
                <a:moveTo>
                  <a:pt x="63792" y="0"/>
                </a:moveTo>
                <a:lnTo>
                  <a:pt x="5629529" y="0"/>
                </a:lnTo>
                <a:cubicBezTo>
                  <a:pt x="5664760" y="0"/>
                  <a:pt x="5693321" y="28561"/>
                  <a:pt x="5693321" y="63792"/>
                </a:cubicBezTo>
                <a:lnTo>
                  <a:pt x="5693321" y="1275813"/>
                </a:lnTo>
                <a:cubicBezTo>
                  <a:pt x="5693321" y="1311044"/>
                  <a:pt x="5664760" y="1339605"/>
                  <a:pt x="5629529" y="1339605"/>
                </a:cubicBezTo>
                <a:lnTo>
                  <a:pt x="63792" y="1339605"/>
                </a:lnTo>
                <a:cubicBezTo>
                  <a:pt x="28561" y="1339605"/>
                  <a:pt x="0" y="1311044"/>
                  <a:pt x="0" y="1275813"/>
                </a:cubicBezTo>
                <a:lnTo>
                  <a:pt x="0" y="63792"/>
                </a:lnTo>
                <a:cubicBezTo>
                  <a:pt x="0" y="28584"/>
                  <a:pt x="28584" y="0"/>
                  <a:pt x="6379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8430" y="4592931"/>
            <a:ext cx="5446132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8430" y="4911885"/>
            <a:ext cx="185790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+ RAG (Taib et al., 2025)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24958" y="4911885"/>
            <a:ext cx="69372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70.1% Acc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430" y="5167048"/>
            <a:ext cx="2136989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+ Debunk Lists (Rostami, 2025)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2074" y="5167048"/>
            <a:ext cx="57411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+11% F1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8430" y="5422211"/>
            <a:ext cx="2113067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Framework (Malek et al., 2025)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31408" y="5422211"/>
            <a:ext cx="59006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98% Acc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188" y="1052547"/>
            <a:ext cx="5677373" cy="1722349"/>
          </a:xfrm>
          <a:custGeom>
            <a:avLst/>
            <a:gdLst/>
            <a:ahLst/>
            <a:cxnLst/>
            <a:rect l="l" t="t" r="r" b="b"/>
            <a:pathLst>
              <a:path w="5677373" h="1722349">
                <a:moveTo>
                  <a:pt x="31895" y="0"/>
                </a:moveTo>
                <a:lnTo>
                  <a:pt x="5613578" y="0"/>
                </a:lnTo>
                <a:cubicBezTo>
                  <a:pt x="5648811" y="0"/>
                  <a:pt x="5677373" y="28562"/>
                  <a:pt x="5677373" y="63796"/>
                </a:cubicBezTo>
                <a:lnTo>
                  <a:pt x="5677373" y="1658553"/>
                </a:lnTo>
                <a:cubicBezTo>
                  <a:pt x="5677373" y="1693787"/>
                  <a:pt x="5648811" y="1722349"/>
                  <a:pt x="5613578" y="1722349"/>
                </a:cubicBezTo>
                <a:lnTo>
                  <a:pt x="31895" y="1722349"/>
                </a:lnTo>
                <a:cubicBezTo>
                  <a:pt x="14280" y="1722349"/>
                  <a:pt x="0" y="1708069"/>
                  <a:pt x="0" y="169045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91188" y="1052547"/>
            <a:ext cx="31895" cy="1722349"/>
          </a:xfrm>
          <a:custGeom>
            <a:avLst/>
            <a:gdLst/>
            <a:ahLst/>
            <a:cxnLst/>
            <a:rect l="l" t="t" r="r" b="b"/>
            <a:pathLst>
              <a:path w="31895" h="1722349">
                <a:moveTo>
                  <a:pt x="31895" y="0"/>
                </a:moveTo>
                <a:lnTo>
                  <a:pt x="31895" y="0"/>
                </a:lnTo>
                <a:lnTo>
                  <a:pt x="31895" y="1722349"/>
                </a:lnTo>
                <a:lnTo>
                  <a:pt x="31895" y="1722349"/>
                </a:lnTo>
                <a:cubicBezTo>
                  <a:pt x="14280" y="1722349"/>
                  <a:pt x="0" y="1708069"/>
                  <a:pt x="0" y="169045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6366612" y="1212024"/>
            <a:ext cx="542221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4586" y="1594768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77122" y="-4710"/>
                </a:moveTo>
                <a:cubicBezTo>
                  <a:pt x="76100" y="-6703"/>
                  <a:pt x="74032" y="-7974"/>
                  <a:pt x="71789" y="-7974"/>
                </a:cubicBezTo>
                <a:cubicBezTo>
                  <a:pt x="69547" y="-7974"/>
                  <a:pt x="67479" y="-6703"/>
                  <a:pt x="66457" y="-4710"/>
                </a:cubicBezTo>
                <a:lnTo>
                  <a:pt x="48117" y="31223"/>
                </a:lnTo>
                <a:lnTo>
                  <a:pt x="8273" y="37552"/>
                </a:lnTo>
                <a:cubicBezTo>
                  <a:pt x="6055" y="37901"/>
                  <a:pt x="4211" y="39471"/>
                  <a:pt x="3513" y="41613"/>
                </a:cubicBezTo>
                <a:cubicBezTo>
                  <a:pt x="2816" y="43756"/>
                  <a:pt x="3389" y="46099"/>
                  <a:pt x="4959" y="47694"/>
                </a:cubicBezTo>
                <a:lnTo>
                  <a:pt x="33465" y="76225"/>
                </a:lnTo>
                <a:lnTo>
                  <a:pt x="27186" y="116069"/>
                </a:lnTo>
                <a:cubicBezTo>
                  <a:pt x="26837" y="118287"/>
                  <a:pt x="27759" y="120530"/>
                  <a:pt x="29578" y="121850"/>
                </a:cubicBezTo>
                <a:cubicBezTo>
                  <a:pt x="31397" y="123171"/>
                  <a:pt x="33789" y="123370"/>
                  <a:pt x="35808" y="122349"/>
                </a:cubicBezTo>
                <a:lnTo>
                  <a:pt x="71789" y="104059"/>
                </a:lnTo>
                <a:lnTo>
                  <a:pt x="107747" y="122349"/>
                </a:lnTo>
                <a:cubicBezTo>
                  <a:pt x="109740" y="123370"/>
                  <a:pt x="112157" y="123171"/>
                  <a:pt x="113976" y="121850"/>
                </a:cubicBezTo>
                <a:cubicBezTo>
                  <a:pt x="115795" y="120530"/>
                  <a:pt x="116717" y="118312"/>
                  <a:pt x="116368" y="116069"/>
                </a:cubicBezTo>
                <a:lnTo>
                  <a:pt x="110064" y="76225"/>
                </a:lnTo>
                <a:lnTo>
                  <a:pt x="138570" y="47694"/>
                </a:lnTo>
                <a:cubicBezTo>
                  <a:pt x="140165" y="46099"/>
                  <a:pt x="140713" y="43756"/>
                  <a:pt x="140016" y="41613"/>
                </a:cubicBezTo>
                <a:cubicBezTo>
                  <a:pt x="139318" y="39471"/>
                  <a:pt x="137499" y="37901"/>
                  <a:pt x="135256" y="37552"/>
                </a:cubicBezTo>
                <a:lnTo>
                  <a:pt x="95437" y="31223"/>
                </a:lnTo>
                <a:lnTo>
                  <a:pt x="77122" y="-471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6621775" y="1588390"/>
            <a:ext cx="1566461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Zero/Few-Shot Learning: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59929" y="1588390"/>
            <a:ext cx="174447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training data required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4586" y="1881826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77122" y="-4710"/>
                </a:moveTo>
                <a:cubicBezTo>
                  <a:pt x="76100" y="-6703"/>
                  <a:pt x="74032" y="-7974"/>
                  <a:pt x="71789" y="-7974"/>
                </a:cubicBezTo>
                <a:cubicBezTo>
                  <a:pt x="69547" y="-7974"/>
                  <a:pt x="67479" y="-6703"/>
                  <a:pt x="66457" y="-4710"/>
                </a:cubicBezTo>
                <a:lnTo>
                  <a:pt x="48117" y="31223"/>
                </a:lnTo>
                <a:lnTo>
                  <a:pt x="8273" y="37552"/>
                </a:lnTo>
                <a:cubicBezTo>
                  <a:pt x="6055" y="37901"/>
                  <a:pt x="4211" y="39471"/>
                  <a:pt x="3513" y="41613"/>
                </a:cubicBezTo>
                <a:cubicBezTo>
                  <a:pt x="2816" y="43756"/>
                  <a:pt x="3389" y="46099"/>
                  <a:pt x="4959" y="47694"/>
                </a:cubicBezTo>
                <a:lnTo>
                  <a:pt x="33465" y="76225"/>
                </a:lnTo>
                <a:lnTo>
                  <a:pt x="27186" y="116069"/>
                </a:lnTo>
                <a:cubicBezTo>
                  <a:pt x="26837" y="118287"/>
                  <a:pt x="27759" y="120530"/>
                  <a:pt x="29578" y="121850"/>
                </a:cubicBezTo>
                <a:cubicBezTo>
                  <a:pt x="31397" y="123171"/>
                  <a:pt x="33789" y="123370"/>
                  <a:pt x="35808" y="122349"/>
                </a:cubicBezTo>
                <a:lnTo>
                  <a:pt x="71789" y="104059"/>
                </a:lnTo>
                <a:lnTo>
                  <a:pt x="107747" y="122349"/>
                </a:lnTo>
                <a:cubicBezTo>
                  <a:pt x="109740" y="123370"/>
                  <a:pt x="112157" y="123171"/>
                  <a:pt x="113976" y="121850"/>
                </a:cubicBezTo>
                <a:cubicBezTo>
                  <a:pt x="115795" y="120530"/>
                  <a:pt x="116717" y="118312"/>
                  <a:pt x="116368" y="116069"/>
                </a:cubicBezTo>
                <a:lnTo>
                  <a:pt x="110064" y="76225"/>
                </a:lnTo>
                <a:lnTo>
                  <a:pt x="138570" y="47694"/>
                </a:lnTo>
                <a:cubicBezTo>
                  <a:pt x="140165" y="46099"/>
                  <a:pt x="140713" y="43756"/>
                  <a:pt x="140016" y="41613"/>
                </a:cubicBezTo>
                <a:cubicBezTo>
                  <a:pt x="139318" y="39471"/>
                  <a:pt x="137499" y="37901"/>
                  <a:pt x="135256" y="37552"/>
                </a:cubicBezTo>
                <a:lnTo>
                  <a:pt x="95437" y="31223"/>
                </a:lnTo>
                <a:lnTo>
                  <a:pt x="77122" y="-471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Text 36"/>
          <p:cNvSpPr/>
          <p:nvPr/>
        </p:nvSpPr>
        <p:spPr>
          <a:xfrm>
            <a:off x="6621775" y="1875449"/>
            <a:ext cx="138236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Multi-Task Capability: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75833" y="1875449"/>
            <a:ext cx="274469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model for detection, analysis, generation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4586" y="2168884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77122" y="-4710"/>
                </a:moveTo>
                <a:cubicBezTo>
                  <a:pt x="76100" y="-6703"/>
                  <a:pt x="74032" y="-7974"/>
                  <a:pt x="71789" y="-7974"/>
                </a:cubicBezTo>
                <a:cubicBezTo>
                  <a:pt x="69547" y="-7974"/>
                  <a:pt x="67479" y="-6703"/>
                  <a:pt x="66457" y="-4710"/>
                </a:cubicBezTo>
                <a:lnTo>
                  <a:pt x="48117" y="31223"/>
                </a:lnTo>
                <a:lnTo>
                  <a:pt x="8273" y="37552"/>
                </a:lnTo>
                <a:cubicBezTo>
                  <a:pt x="6055" y="37901"/>
                  <a:pt x="4211" y="39471"/>
                  <a:pt x="3513" y="41613"/>
                </a:cubicBezTo>
                <a:cubicBezTo>
                  <a:pt x="2816" y="43756"/>
                  <a:pt x="3389" y="46099"/>
                  <a:pt x="4959" y="47694"/>
                </a:cubicBezTo>
                <a:lnTo>
                  <a:pt x="33465" y="76225"/>
                </a:lnTo>
                <a:lnTo>
                  <a:pt x="27186" y="116069"/>
                </a:lnTo>
                <a:cubicBezTo>
                  <a:pt x="26837" y="118287"/>
                  <a:pt x="27759" y="120530"/>
                  <a:pt x="29578" y="121850"/>
                </a:cubicBezTo>
                <a:cubicBezTo>
                  <a:pt x="31397" y="123171"/>
                  <a:pt x="33789" y="123370"/>
                  <a:pt x="35808" y="122349"/>
                </a:cubicBezTo>
                <a:lnTo>
                  <a:pt x="71789" y="104059"/>
                </a:lnTo>
                <a:lnTo>
                  <a:pt x="107747" y="122349"/>
                </a:lnTo>
                <a:cubicBezTo>
                  <a:pt x="109740" y="123370"/>
                  <a:pt x="112157" y="123171"/>
                  <a:pt x="113976" y="121850"/>
                </a:cubicBezTo>
                <a:cubicBezTo>
                  <a:pt x="115795" y="120530"/>
                  <a:pt x="116717" y="118312"/>
                  <a:pt x="116368" y="116069"/>
                </a:cubicBezTo>
                <a:lnTo>
                  <a:pt x="110064" y="76225"/>
                </a:lnTo>
                <a:lnTo>
                  <a:pt x="138570" y="47694"/>
                </a:lnTo>
                <a:cubicBezTo>
                  <a:pt x="140165" y="46099"/>
                  <a:pt x="140713" y="43756"/>
                  <a:pt x="140016" y="41613"/>
                </a:cubicBezTo>
                <a:cubicBezTo>
                  <a:pt x="139318" y="39471"/>
                  <a:pt x="137499" y="37901"/>
                  <a:pt x="135256" y="37552"/>
                </a:cubicBezTo>
                <a:lnTo>
                  <a:pt x="95437" y="31223"/>
                </a:lnTo>
                <a:lnTo>
                  <a:pt x="77122" y="-471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1" name="Text 39"/>
          <p:cNvSpPr/>
          <p:nvPr/>
        </p:nvSpPr>
        <p:spPr>
          <a:xfrm>
            <a:off x="6621775" y="2162507"/>
            <a:ext cx="1375388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Explanations: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68855" y="2162507"/>
            <a:ext cx="174447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 justifications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4586" y="2455942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77122" y="-4710"/>
                </a:moveTo>
                <a:cubicBezTo>
                  <a:pt x="76100" y="-6703"/>
                  <a:pt x="74032" y="-7974"/>
                  <a:pt x="71789" y="-7974"/>
                </a:cubicBezTo>
                <a:cubicBezTo>
                  <a:pt x="69547" y="-7974"/>
                  <a:pt x="67479" y="-6703"/>
                  <a:pt x="66457" y="-4710"/>
                </a:cubicBezTo>
                <a:lnTo>
                  <a:pt x="48117" y="31223"/>
                </a:lnTo>
                <a:lnTo>
                  <a:pt x="8273" y="37552"/>
                </a:lnTo>
                <a:cubicBezTo>
                  <a:pt x="6055" y="37901"/>
                  <a:pt x="4211" y="39471"/>
                  <a:pt x="3513" y="41613"/>
                </a:cubicBezTo>
                <a:cubicBezTo>
                  <a:pt x="2816" y="43756"/>
                  <a:pt x="3389" y="46099"/>
                  <a:pt x="4959" y="47694"/>
                </a:cubicBezTo>
                <a:lnTo>
                  <a:pt x="33465" y="76225"/>
                </a:lnTo>
                <a:lnTo>
                  <a:pt x="27186" y="116069"/>
                </a:lnTo>
                <a:cubicBezTo>
                  <a:pt x="26837" y="118287"/>
                  <a:pt x="27759" y="120530"/>
                  <a:pt x="29578" y="121850"/>
                </a:cubicBezTo>
                <a:cubicBezTo>
                  <a:pt x="31397" y="123171"/>
                  <a:pt x="33789" y="123370"/>
                  <a:pt x="35808" y="122349"/>
                </a:cubicBezTo>
                <a:lnTo>
                  <a:pt x="71789" y="104059"/>
                </a:lnTo>
                <a:lnTo>
                  <a:pt x="107747" y="122349"/>
                </a:lnTo>
                <a:cubicBezTo>
                  <a:pt x="109740" y="123370"/>
                  <a:pt x="112157" y="123171"/>
                  <a:pt x="113976" y="121850"/>
                </a:cubicBezTo>
                <a:cubicBezTo>
                  <a:pt x="115795" y="120530"/>
                  <a:pt x="116717" y="118312"/>
                  <a:pt x="116368" y="116069"/>
                </a:cubicBezTo>
                <a:lnTo>
                  <a:pt x="110064" y="76225"/>
                </a:lnTo>
                <a:lnTo>
                  <a:pt x="138570" y="47694"/>
                </a:lnTo>
                <a:cubicBezTo>
                  <a:pt x="140165" y="46099"/>
                  <a:pt x="140713" y="43756"/>
                  <a:pt x="140016" y="41613"/>
                </a:cubicBezTo>
                <a:cubicBezTo>
                  <a:pt x="139318" y="39471"/>
                  <a:pt x="137499" y="37901"/>
                  <a:pt x="135256" y="37552"/>
                </a:cubicBezTo>
                <a:lnTo>
                  <a:pt x="95437" y="31223"/>
                </a:lnTo>
                <a:lnTo>
                  <a:pt x="77122" y="-471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6621775" y="2449565"/>
            <a:ext cx="17011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Understanding: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94587" y="2449565"/>
            <a:ext cx="1822521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semantic comprehension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8430" y="2905667"/>
            <a:ext cx="5691726" cy="1601147"/>
          </a:xfrm>
          <a:custGeom>
            <a:avLst/>
            <a:gdLst/>
            <a:ahLst/>
            <a:cxnLst/>
            <a:rect l="l" t="t" r="r" b="b"/>
            <a:pathLst>
              <a:path w="5691726" h="1601147">
                <a:moveTo>
                  <a:pt x="63790" y="0"/>
                </a:moveTo>
                <a:lnTo>
                  <a:pt x="5627937" y="0"/>
                </a:lnTo>
                <a:cubicBezTo>
                  <a:pt x="5663167" y="0"/>
                  <a:pt x="5691726" y="28560"/>
                  <a:pt x="5691726" y="63790"/>
                </a:cubicBezTo>
                <a:lnTo>
                  <a:pt x="5691726" y="1537357"/>
                </a:lnTo>
                <a:cubicBezTo>
                  <a:pt x="5691726" y="1572587"/>
                  <a:pt x="5663167" y="1601147"/>
                  <a:pt x="5627937" y="1601147"/>
                </a:cubicBezTo>
                <a:lnTo>
                  <a:pt x="63790" y="1601147"/>
                </a:lnTo>
                <a:cubicBezTo>
                  <a:pt x="28560" y="1601147"/>
                  <a:pt x="0" y="1572587"/>
                  <a:pt x="0" y="1537357"/>
                </a:cubicBezTo>
                <a:lnTo>
                  <a:pt x="0" y="63790"/>
                </a:lnTo>
                <a:cubicBezTo>
                  <a:pt x="0" y="28583"/>
                  <a:pt x="28583" y="0"/>
                  <a:pt x="6379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1096" y="3068332"/>
            <a:ext cx="54381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Challenges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7043" y="3419181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0"/>
                </a:moveTo>
                <a:cubicBezTo>
                  <a:pt x="67454" y="0"/>
                  <a:pt x="70818" y="2018"/>
                  <a:pt x="72562" y="5233"/>
                </a:cubicBezTo>
                <a:lnTo>
                  <a:pt x="126385" y="104906"/>
                </a:lnTo>
                <a:cubicBezTo>
                  <a:pt x="128055" y="107996"/>
                  <a:pt x="127980" y="111733"/>
                  <a:pt x="126186" y="114749"/>
                </a:cubicBezTo>
                <a:cubicBezTo>
                  <a:pt x="124392" y="117764"/>
                  <a:pt x="121128" y="119608"/>
                  <a:pt x="117614" y="119608"/>
                </a:cubicBezTo>
                <a:lnTo>
                  <a:pt x="9967" y="119608"/>
                </a:lnTo>
                <a:cubicBezTo>
                  <a:pt x="6454" y="119608"/>
                  <a:pt x="3214" y="117764"/>
                  <a:pt x="1395" y="114749"/>
                </a:cubicBezTo>
                <a:cubicBezTo>
                  <a:pt x="-424" y="111733"/>
                  <a:pt x="-473" y="107996"/>
                  <a:pt x="1196" y="104906"/>
                </a:cubicBezTo>
                <a:lnTo>
                  <a:pt x="55019" y="5233"/>
                </a:lnTo>
                <a:cubicBezTo>
                  <a:pt x="56764" y="2018"/>
                  <a:pt x="60128" y="0"/>
                  <a:pt x="63791" y="0"/>
                </a:cubicBezTo>
                <a:close/>
                <a:moveTo>
                  <a:pt x="63791" y="41863"/>
                </a:moveTo>
                <a:cubicBezTo>
                  <a:pt x="60477" y="41863"/>
                  <a:pt x="57810" y="44529"/>
                  <a:pt x="57810" y="47843"/>
                </a:cubicBezTo>
                <a:lnTo>
                  <a:pt x="57810" y="75751"/>
                </a:lnTo>
                <a:cubicBezTo>
                  <a:pt x="57810" y="79066"/>
                  <a:pt x="60477" y="81732"/>
                  <a:pt x="63791" y="81732"/>
                </a:cubicBezTo>
                <a:cubicBezTo>
                  <a:pt x="67105" y="81732"/>
                  <a:pt x="69771" y="79066"/>
                  <a:pt x="69771" y="75751"/>
                </a:cubicBezTo>
                <a:lnTo>
                  <a:pt x="69771" y="47843"/>
                </a:lnTo>
                <a:cubicBezTo>
                  <a:pt x="69771" y="44529"/>
                  <a:pt x="67105" y="41863"/>
                  <a:pt x="63791" y="41863"/>
                </a:cubicBezTo>
                <a:close/>
                <a:moveTo>
                  <a:pt x="70444" y="95686"/>
                </a:moveTo>
                <a:cubicBezTo>
                  <a:pt x="70595" y="93216"/>
                  <a:pt x="69364" y="90867"/>
                  <a:pt x="67247" y="89586"/>
                </a:cubicBezTo>
                <a:cubicBezTo>
                  <a:pt x="65130" y="88306"/>
                  <a:pt x="62477" y="88306"/>
                  <a:pt x="60360" y="89586"/>
                </a:cubicBezTo>
                <a:cubicBezTo>
                  <a:pt x="58243" y="90867"/>
                  <a:pt x="57011" y="93216"/>
                  <a:pt x="57162" y="95686"/>
                </a:cubicBezTo>
                <a:cubicBezTo>
                  <a:pt x="57011" y="98156"/>
                  <a:pt x="58243" y="100505"/>
                  <a:pt x="60360" y="101786"/>
                </a:cubicBezTo>
                <a:cubicBezTo>
                  <a:pt x="62477" y="103066"/>
                  <a:pt x="65130" y="103066"/>
                  <a:pt x="67247" y="101786"/>
                </a:cubicBezTo>
                <a:cubicBezTo>
                  <a:pt x="69364" y="100505"/>
                  <a:pt x="70595" y="98156"/>
                  <a:pt x="70444" y="956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6564363" y="3412803"/>
            <a:ext cx="1212223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 Risk: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748279" y="3412803"/>
            <a:ext cx="1815444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generate false information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7043" y="3674344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0"/>
                </a:moveTo>
                <a:cubicBezTo>
                  <a:pt x="67454" y="0"/>
                  <a:pt x="70818" y="2018"/>
                  <a:pt x="72562" y="5233"/>
                </a:cubicBezTo>
                <a:lnTo>
                  <a:pt x="126385" y="104906"/>
                </a:lnTo>
                <a:cubicBezTo>
                  <a:pt x="128055" y="107996"/>
                  <a:pt x="127980" y="111733"/>
                  <a:pt x="126186" y="114749"/>
                </a:cubicBezTo>
                <a:cubicBezTo>
                  <a:pt x="124392" y="117764"/>
                  <a:pt x="121128" y="119608"/>
                  <a:pt x="117614" y="119608"/>
                </a:cubicBezTo>
                <a:lnTo>
                  <a:pt x="9967" y="119608"/>
                </a:lnTo>
                <a:cubicBezTo>
                  <a:pt x="6454" y="119608"/>
                  <a:pt x="3214" y="117764"/>
                  <a:pt x="1395" y="114749"/>
                </a:cubicBezTo>
                <a:cubicBezTo>
                  <a:pt x="-424" y="111733"/>
                  <a:pt x="-473" y="107996"/>
                  <a:pt x="1196" y="104906"/>
                </a:cubicBezTo>
                <a:lnTo>
                  <a:pt x="55019" y="5233"/>
                </a:lnTo>
                <a:cubicBezTo>
                  <a:pt x="56764" y="2018"/>
                  <a:pt x="60128" y="0"/>
                  <a:pt x="63791" y="0"/>
                </a:cubicBezTo>
                <a:close/>
                <a:moveTo>
                  <a:pt x="63791" y="41863"/>
                </a:moveTo>
                <a:cubicBezTo>
                  <a:pt x="60477" y="41863"/>
                  <a:pt x="57810" y="44529"/>
                  <a:pt x="57810" y="47843"/>
                </a:cubicBezTo>
                <a:lnTo>
                  <a:pt x="57810" y="75751"/>
                </a:lnTo>
                <a:cubicBezTo>
                  <a:pt x="57810" y="79066"/>
                  <a:pt x="60477" y="81732"/>
                  <a:pt x="63791" y="81732"/>
                </a:cubicBezTo>
                <a:cubicBezTo>
                  <a:pt x="67105" y="81732"/>
                  <a:pt x="69771" y="79066"/>
                  <a:pt x="69771" y="75751"/>
                </a:cubicBezTo>
                <a:lnTo>
                  <a:pt x="69771" y="47843"/>
                </a:lnTo>
                <a:cubicBezTo>
                  <a:pt x="69771" y="44529"/>
                  <a:pt x="67105" y="41863"/>
                  <a:pt x="63791" y="41863"/>
                </a:cubicBezTo>
                <a:close/>
                <a:moveTo>
                  <a:pt x="70444" y="95686"/>
                </a:moveTo>
                <a:cubicBezTo>
                  <a:pt x="70595" y="93216"/>
                  <a:pt x="69364" y="90867"/>
                  <a:pt x="67247" y="89586"/>
                </a:cubicBezTo>
                <a:cubicBezTo>
                  <a:pt x="65130" y="88306"/>
                  <a:pt x="62477" y="88306"/>
                  <a:pt x="60360" y="89586"/>
                </a:cubicBezTo>
                <a:cubicBezTo>
                  <a:pt x="58243" y="90867"/>
                  <a:pt x="57011" y="93216"/>
                  <a:pt x="57162" y="95686"/>
                </a:cubicBezTo>
                <a:cubicBezTo>
                  <a:pt x="57011" y="98156"/>
                  <a:pt x="58243" y="100505"/>
                  <a:pt x="60360" y="101786"/>
                </a:cubicBezTo>
                <a:cubicBezTo>
                  <a:pt x="62477" y="103066"/>
                  <a:pt x="65130" y="103066"/>
                  <a:pt x="67247" y="101786"/>
                </a:cubicBezTo>
                <a:cubicBezTo>
                  <a:pt x="69364" y="100505"/>
                  <a:pt x="70595" y="98156"/>
                  <a:pt x="70444" y="956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6564363" y="3667966"/>
            <a:ext cx="1070588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Overconfidence: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06644" y="3667966"/>
            <a:ext cx="229058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confidence in incorrect predictions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7043" y="3929506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0"/>
                </a:moveTo>
                <a:cubicBezTo>
                  <a:pt x="67454" y="0"/>
                  <a:pt x="70818" y="2018"/>
                  <a:pt x="72562" y="5233"/>
                </a:cubicBezTo>
                <a:lnTo>
                  <a:pt x="126385" y="104906"/>
                </a:lnTo>
                <a:cubicBezTo>
                  <a:pt x="128055" y="107996"/>
                  <a:pt x="127980" y="111733"/>
                  <a:pt x="126186" y="114749"/>
                </a:cubicBezTo>
                <a:cubicBezTo>
                  <a:pt x="124392" y="117764"/>
                  <a:pt x="121128" y="119608"/>
                  <a:pt x="117614" y="119608"/>
                </a:cubicBezTo>
                <a:lnTo>
                  <a:pt x="9967" y="119608"/>
                </a:lnTo>
                <a:cubicBezTo>
                  <a:pt x="6454" y="119608"/>
                  <a:pt x="3214" y="117764"/>
                  <a:pt x="1395" y="114749"/>
                </a:cubicBezTo>
                <a:cubicBezTo>
                  <a:pt x="-424" y="111733"/>
                  <a:pt x="-473" y="107996"/>
                  <a:pt x="1196" y="104906"/>
                </a:cubicBezTo>
                <a:lnTo>
                  <a:pt x="55019" y="5233"/>
                </a:lnTo>
                <a:cubicBezTo>
                  <a:pt x="56764" y="2018"/>
                  <a:pt x="60128" y="0"/>
                  <a:pt x="63791" y="0"/>
                </a:cubicBezTo>
                <a:close/>
                <a:moveTo>
                  <a:pt x="63791" y="41863"/>
                </a:moveTo>
                <a:cubicBezTo>
                  <a:pt x="60477" y="41863"/>
                  <a:pt x="57810" y="44529"/>
                  <a:pt x="57810" y="47843"/>
                </a:cubicBezTo>
                <a:lnTo>
                  <a:pt x="57810" y="75751"/>
                </a:lnTo>
                <a:cubicBezTo>
                  <a:pt x="57810" y="79066"/>
                  <a:pt x="60477" y="81732"/>
                  <a:pt x="63791" y="81732"/>
                </a:cubicBezTo>
                <a:cubicBezTo>
                  <a:pt x="67105" y="81732"/>
                  <a:pt x="69771" y="79066"/>
                  <a:pt x="69771" y="75751"/>
                </a:cubicBezTo>
                <a:lnTo>
                  <a:pt x="69771" y="47843"/>
                </a:lnTo>
                <a:cubicBezTo>
                  <a:pt x="69771" y="44529"/>
                  <a:pt x="67105" y="41863"/>
                  <a:pt x="63791" y="41863"/>
                </a:cubicBezTo>
                <a:close/>
                <a:moveTo>
                  <a:pt x="70444" y="95686"/>
                </a:moveTo>
                <a:cubicBezTo>
                  <a:pt x="70595" y="93216"/>
                  <a:pt x="69364" y="90867"/>
                  <a:pt x="67247" y="89586"/>
                </a:cubicBezTo>
                <a:cubicBezTo>
                  <a:pt x="65130" y="88306"/>
                  <a:pt x="62477" y="88306"/>
                  <a:pt x="60360" y="89586"/>
                </a:cubicBezTo>
                <a:cubicBezTo>
                  <a:pt x="58243" y="90867"/>
                  <a:pt x="57011" y="93216"/>
                  <a:pt x="57162" y="95686"/>
                </a:cubicBezTo>
                <a:cubicBezTo>
                  <a:pt x="57011" y="98156"/>
                  <a:pt x="58243" y="100505"/>
                  <a:pt x="60360" y="101786"/>
                </a:cubicBezTo>
                <a:cubicBezTo>
                  <a:pt x="62477" y="103066"/>
                  <a:pt x="65130" y="103066"/>
                  <a:pt x="67247" y="101786"/>
                </a:cubicBezTo>
                <a:cubicBezTo>
                  <a:pt x="69364" y="100505"/>
                  <a:pt x="70595" y="98156"/>
                  <a:pt x="70444" y="956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5" name="Text 53"/>
          <p:cNvSpPr/>
          <p:nvPr/>
        </p:nvSpPr>
        <p:spPr>
          <a:xfrm>
            <a:off x="6564363" y="3923129"/>
            <a:ext cx="131827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Cost: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54331" y="3923129"/>
            <a:ext cx="1907741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inference costs and latency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7043" y="4184669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63791" y="0"/>
                </a:moveTo>
                <a:cubicBezTo>
                  <a:pt x="67454" y="0"/>
                  <a:pt x="70818" y="2018"/>
                  <a:pt x="72562" y="5233"/>
                </a:cubicBezTo>
                <a:lnTo>
                  <a:pt x="126385" y="104906"/>
                </a:lnTo>
                <a:cubicBezTo>
                  <a:pt x="128055" y="107996"/>
                  <a:pt x="127980" y="111733"/>
                  <a:pt x="126186" y="114749"/>
                </a:cubicBezTo>
                <a:cubicBezTo>
                  <a:pt x="124392" y="117764"/>
                  <a:pt x="121128" y="119608"/>
                  <a:pt x="117614" y="119608"/>
                </a:cubicBezTo>
                <a:lnTo>
                  <a:pt x="9967" y="119608"/>
                </a:lnTo>
                <a:cubicBezTo>
                  <a:pt x="6454" y="119608"/>
                  <a:pt x="3214" y="117764"/>
                  <a:pt x="1395" y="114749"/>
                </a:cubicBezTo>
                <a:cubicBezTo>
                  <a:pt x="-424" y="111733"/>
                  <a:pt x="-473" y="107996"/>
                  <a:pt x="1196" y="104906"/>
                </a:cubicBezTo>
                <a:lnTo>
                  <a:pt x="55019" y="5233"/>
                </a:lnTo>
                <a:cubicBezTo>
                  <a:pt x="56764" y="2018"/>
                  <a:pt x="60128" y="0"/>
                  <a:pt x="63791" y="0"/>
                </a:cubicBezTo>
                <a:close/>
                <a:moveTo>
                  <a:pt x="63791" y="41863"/>
                </a:moveTo>
                <a:cubicBezTo>
                  <a:pt x="60477" y="41863"/>
                  <a:pt x="57810" y="44529"/>
                  <a:pt x="57810" y="47843"/>
                </a:cubicBezTo>
                <a:lnTo>
                  <a:pt x="57810" y="75751"/>
                </a:lnTo>
                <a:cubicBezTo>
                  <a:pt x="57810" y="79066"/>
                  <a:pt x="60477" y="81732"/>
                  <a:pt x="63791" y="81732"/>
                </a:cubicBezTo>
                <a:cubicBezTo>
                  <a:pt x="67105" y="81732"/>
                  <a:pt x="69771" y="79066"/>
                  <a:pt x="69771" y="75751"/>
                </a:cubicBezTo>
                <a:lnTo>
                  <a:pt x="69771" y="47843"/>
                </a:lnTo>
                <a:cubicBezTo>
                  <a:pt x="69771" y="44529"/>
                  <a:pt x="67105" y="41863"/>
                  <a:pt x="63791" y="41863"/>
                </a:cubicBezTo>
                <a:close/>
                <a:moveTo>
                  <a:pt x="70444" y="95686"/>
                </a:moveTo>
                <a:cubicBezTo>
                  <a:pt x="70595" y="93216"/>
                  <a:pt x="69364" y="90867"/>
                  <a:pt x="67247" y="89586"/>
                </a:cubicBezTo>
                <a:cubicBezTo>
                  <a:pt x="65130" y="88306"/>
                  <a:pt x="62477" y="88306"/>
                  <a:pt x="60360" y="89586"/>
                </a:cubicBezTo>
                <a:cubicBezTo>
                  <a:pt x="58243" y="90867"/>
                  <a:pt x="57011" y="93216"/>
                  <a:pt x="57162" y="95686"/>
                </a:cubicBezTo>
                <a:cubicBezTo>
                  <a:pt x="57011" y="98156"/>
                  <a:pt x="58243" y="100505"/>
                  <a:pt x="60360" y="101786"/>
                </a:cubicBezTo>
                <a:cubicBezTo>
                  <a:pt x="62477" y="103066"/>
                  <a:pt x="65130" y="103066"/>
                  <a:pt x="67247" y="101786"/>
                </a:cubicBezTo>
                <a:cubicBezTo>
                  <a:pt x="69364" y="100505"/>
                  <a:pt x="70595" y="98156"/>
                  <a:pt x="70444" y="956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8" name="Text 56"/>
          <p:cNvSpPr/>
          <p:nvPr/>
        </p:nvSpPr>
        <p:spPr>
          <a:xfrm>
            <a:off x="6564363" y="4178292"/>
            <a:ext cx="114853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Concerns: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684588" y="4178292"/>
            <a:ext cx="225500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health communication risks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34901" y="5900641"/>
            <a:ext cx="11538145" cy="446535"/>
          </a:xfrm>
          <a:custGeom>
            <a:avLst/>
            <a:gdLst/>
            <a:ahLst/>
            <a:cxnLst/>
            <a:rect l="l" t="t" r="r" b="b"/>
            <a:pathLst>
              <a:path w="11538145" h="446535">
                <a:moveTo>
                  <a:pt x="31895" y="0"/>
                </a:moveTo>
                <a:lnTo>
                  <a:pt x="11474353" y="0"/>
                </a:lnTo>
                <a:cubicBezTo>
                  <a:pt x="11509585" y="0"/>
                  <a:pt x="11538145" y="28561"/>
                  <a:pt x="11538145" y="63792"/>
                </a:cubicBezTo>
                <a:lnTo>
                  <a:pt x="11538145" y="382743"/>
                </a:lnTo>
                <a:cubicBezTo>
                  <a:pt x="11538145" y="417974"/>
                  <a:pt x="11509585" y="446535"/>
                  <a:pt x="11474353" y="446535"/>
                </a:cubicBezTo>
                <a:lnTo>
                  <a:pt x="31895" y="446535"/>
                </a:lnTo>
                <a:cubicBezTo>
                  <a:pt x="14280" y="446535"/>
                  <a:pt x="0" y="432255"/>
                  <a:pt x="0" y="41464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34901" y="5900641"/>
            <a:ext cx="31895" cy="446535"/>
          </a:xfrm>
          <a:custGeom>
            <a:avLst/>
            <a:gdLst/>
            <a:ahLst/>
            <a:cxnLst/>
            <a:rect l="l" t="t" r="r" b="b"/>
            <a:pathLst>
              <a:path w="31895" h="446535">
                <a:moveTo>
                  <a:pt x="31895" y="0"/>
                </a:moveTo>
                <a:lnTo>
                  <a:pt x="31895" y="0"/>
                </a:lnTo>
                <a:lnTo>
                  <a:pt x="31895" y="446535"/>
                </a:lnTo>
                <a:lnTo>
                  <a:pt x="31895" y="446535"/>
                </a:lnTo>
                <a:cubicBezTo>
                  <a:pt x="14280" y="446535"/>
                  <a:pt x="0" y="432255"/>
                  <a:pt x="0" y="41464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2" name="Shape 60"/>
          <p:cNvSpPr/>
          <p:nvPr/>
        </p:nvSpPr>
        <p:spPr>
          <a:xfrm>
            <a:off x="510326" y="6060118"/>
            <a:ext cx="95686" cy="127581"/>
          </a:xfrm>
          <a:custGeom>
            <a:avLst/>
            <a:gdLst/>
            <a:ahLst/>
            <a:cxnLst/>
            <a:rect l="l" t="t" r="r" b="b"/>
            <a:pathLst>
              <a:path w="95686" h="127581">
                <a:moveTo>
                  <a:pt x="72986" y="95686"/>
                </a:moveTo>
                <a:cubicBezTo>
                  <a:pt x="74805" y="90129"/>
                  <a:pt x="78443" y="85096"/>
                  <a:pt x="82554" y="80760"/>
                </a:cubicBezTo>
                <a:cubicBezTo>
                  <a:pt x="90702" y="72188"/>
                  <a:pt x="95686" y="60601"/>
                  <a:pt x="95686" y="47843"/>
                </a:cubicBezTo>
                <a:cubicBezTo>
                  <a:pt x="95686" y="21430"/>
                  <a:pt x="74256" y="0"/>
                  <a:pt x="47843" y="0"/>
                </a:cubicBezTo>
                <a:cubicBezTo>
                  <a:pt x="21430" y="0"/>
                  <a:pt x="0" y="21430"/>
                  <a:pt x="0" y="47843"/>
                </a:cubicBezTo>
                <a:cubicBezTo>
                  <a:pt x="0" y="60601"/>
                  <a:pt x="4984" y="72188"/>
                  <a:pt x="13132" y="80760"/>
                </a:cubicBezTo>
                <a:cubicBezTo>
                  <a:pt x="17243" y="85096"/>
                  <a:pt x="20906" y="90129"/>
                  <a:pt x="22701" y="95686"/>
                </a:cubicBezTo>
                <a:lnTo>
                  <a:pt x="72961" y="95686"/>
                </a:lnTo>
                <a:close/>
                <a:moveTo>
                  <a:pt x="71765" y="107647"/>
                </a:moveTo>
                <a:lnTo>
                  <a:pt x="23922" y="107647"/>
                </a:lnTo>
                <a:lnTo>
                  <a:pt x="23922" y="111634"/>
                </a:lnTo>
                <a:cubicBezTo>
                  <a:pt x="23922" y="122648"/>
                  <a:pt x="32842" y="131568"/>
                  <a:pt x="43856" y="131568"/>
                </a:cubicBezTo>
                <a:lnTo>
                  <a:pt x="51830" y="131568"/>
                </a:lnTo>
                <a:cubicBezTo>
                  <a:pt x="62844" y="131568"/>
                  <a:pt x="71765" y="122648"/>
                  <a:pt x="71765" y="111634"/>
                </a:cubicBezTo>
                <a:lnTo>
                  <a:pt x="71765" y="107647"/>
                </a:lnTo>
                <a:close/>
                <a:moveTo>
                  <a:pt x="45850" y="27908"/>
                </a:moveTo>
                <a:cubicBezTo>
                  <a:pt x="35932" y="27908"/>
                  <a:pt x="27908" y="35932"/>
                  <a:pt x="27908" y="45850"/>
                </a:cubicBezTo>
                <a:cubicBezTo>
                  <a:pt x="27908" y="49164"/>
                  <a:pt x="25242" y="51830"/>
                  <a:pt x="21928" y="51830"/>
                </a:cubicBezTo>
                <a:cubicBezTo>
                  <a:pt x="18614" y="51830"/>
                  <a:pt x="15948" y="49164"/>
                  <a:pt x="15948" y="45850"/>
                </a:cubicBezTo>
                <a:cubicBezTo>
                  <a:pt x="15948" y="29329"/>
                  <a:pt x="29329" y="15948"/>
                  <a:pt x="45850" y="15948"/>
                </a:cubicBezTo>
                <a:cubicBezTo>
                  <a:pt x="49164" y="15948"/>
                  <a:pt x="51830" y="18614"/>
                  <a:pt x="51830" y="21928"/>
                </a:cubicBezTo>
                <a:cubicBezTo>
                  <a:pt x="51830" y="25242"/>
                  <a:pt x="49164" y="27908"/>
                  <a:pt x="45850" y="2790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3" name="Text 61"/>
          <p:cNvSpPr/>
          <p:nvPr/>
        </p:nvSpPr>
        <p:spPr>
          <a:xfrm>
            <a:off x="737181" y="6053740"/>
            <a:ext cx="10916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Direction: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800493" y="6053740"/>
            <a:ext cx="912017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show promise for integrated detection-intervention systems but require </a:t>
            </a:r>
            <a:pPr>
              <a:lnSpc>
                <a:spcPct val="130000"/>
              </a:lnSpc>
            </a:pPr>
            <a:r>
              <a:rPr lang="en-US" sz="1005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oversight </a:t>
            </a:r>
            <a:pPr>
              <a:lnSpc>
                <a:spcPct val="130000"/>
              </a:lnSpc>
            </a:pPr>
            <a:r>
              <a:rPr lang="en-US" sz="100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careful evaluation before deployment in healthcare contexts.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20" y="325120"/>
            <a:ext cx="116067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spc="102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Techniques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120" y="585216"/>
            <a:ext cx="11688064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Multimodal &amp; Hybrid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376" y="1072896"/>
            <a:ext cx="5673344" cy="2974848"/>
          </a:xfrm>
          <a:custGeom>
            <a:avLst/>
            <a:gdLst/>
            <a:ahLst/>
            <a:cxnLst/>
            <a:rect l="l" t="t" r="r" b="b"/>
            <a:pathLst>
              <a:path w="5673344" h="2974848">
                <a:moveTo>
                  <a:pt x="32512" y="0"/>
                </a:moveTo>
                <a:lnTo>
                  <a:pt x="5608314" y="0"/>
                </a:lnTo>
                <a:cubicBezTo>
                  <a:pt x="5644229" y="0"/>
                  <a:pt x="5673344" y="29115"/>
                  <a:pt x="5673344" y="65030"/>
                </a:cubicBezTo>
                <a:lnTo>
                  <a:pt x="5673344" y="2909818"/>
                </a:lnTo>
                <a:cubicBezTo>
                  <a:pt x="5673344" y="2945733"/>
                  <a:pt x="5644229" y="2974848"/>
                  <a:pt x="5608314" y="2974848"/>
                </a:cubicBezTo>
                <a:lnTo>
                  <a:pt x="32512" y="2974848"/>
                </a:lnTo>
                <a:cubicBezTo>
                  <a:pt x="14556" y="2974848"/>
                  <a:pt x="0" y="2960292"/>
                  <a:pt x="0" y="2942336"/>
                </a:cubicBezTo>
                <a:lnTo>
                  <a:pt x="0" y="32512"/>
                </a:lnTo>
                <a:cubicBezTo>
                  <a:pt x="0" y="14556"/>
                  <a:pt x="14556" y="0"/>
                  <a:pt x="325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1376" y="1072896"/>
            <a:ext cx="32512" cy="2974848"/>
          </a:xfrm>
          <a:custGeom>
            <a:avLst/>
            <a:gdLst/>
            <a:ahLst/>
            <a:cxnLst/>
            <a:rect l="l" t="t" r="r" b="b"/>
            <a:pathLst>
              <a:path w="32512" h="2974848">
                <a:moveTo>
                  <a:pt x="32512" y="0"/>
                </a:moveTo>
                <a:lnTo>
                  <a:pt x="32512" y="0"/>
                </a:lnTo>
                <a:lnTo>
                  <a:pt x="32512" y="2974848"/>
                </a:lnTo>
                <a:lnTo>
                  <a:pt x="32512" y="2974848"/>
                </a:lnTo>
                <a:cubicBezTo>
                  <a:pt x="14556" y="2974848"/>
                  <a:pt x="0" y="2960292"/>
                  <a:pt x="0" y="294233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20192" y="1235456"/>
            <a:ext cx="541324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Multimodal Frameworks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0192" y="1593088"/>
            <a:ext cx="5396992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of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data modalities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comprehensive misinformation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192" y="1934464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3984" y="2064512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72415" y="12878"/>
                </a:moveTo>
                <a:cubicBezTo>
                  <a:pt x="71095" y="9982"/>
                  <a:pt x="68199" y="8128"/>
                  <a:pt x="65024" y="8128"/>
                </a:cubicBezTo>
                <a:cubicBezTo>
                  <a:pt x="61849" y="8128"/>
                  <a:pt x="58953" y="9982"/>
                  <a:pt x="57633" y="12878"/>
                </a:cubicBezTo>
                <a:lnTo>
                  <a:pt x="15113" y="105664"/>
                </a:lnTo>
                <a:lnTo>
                  <a:pt x="12192" y="105664"/>
                </a:lnTo>
                <a:cubicBezTo>
                  <a:pt x="7696" y="105664"/>
                  <a:pt x="4064" y="109296"/>
                  <a:pt x="4064" y="113792"/>
                </a:cubicBezTo>
                <a:cubicBezTo>
                  <a:pt x="4064" y="118288"/>
                  <a:pt x="7696" y="121920"/>
                  <a:pt x="12192" y="121920"/>
                </a:cubicBezTo>
                <a:lnTo>
                  <a:pt x="34544" y="121920"/>
                </a:lnTo>
                <a:cubicBezTo>
                  <a:pt x="39040" y="121920"/>
                  <a:pt x="42672" y="118288"/>
                  <a:pt x="42672" y="113792"/>
                </a:cubicBezTo>
                <a:cubicBezTo>
                  <a:pt x="42672" y="109296"/>
                  <a:pt x="39040" y="105664"/>
                  <a:pt x="34544" y="105664"/>
                </a:cubicBezTo>
                <a:lnTo>
                  <a:pt x="32995" y="105664"/>
                </a:lnTo>
                <a:lnTo>
                  <a:pt x="38583" y="93472"/>
                </a:lnTo>
                <a:lnTo>
                  <a:pt x="91491" y="93472"/>
                </a:lnTo>
                <a:lnTo>
                  <a:pt x="97079" y="105664"/>
                </a:lnTo>
                <a:lnTo>
                  <a:pt x="95529" y="105664"/>
                </a:lnTo>
                <a:cubicBezTo>
                  <a:pt x="91034" y="105664"/>
                  <a:pt x="87401" y="109296"/>
                  <a:pt x="87401" y="113792"/>
                </a:cubicBezTo>
                <a:cubicBezTo>
                  <a:pt x="87401" y="118288"/>
                  <a:pt x="91034" y="121920"/>
                  <a:pt x="95529" y="121920"/>
                </a:cubicBezTo>
                <a:lnTo>
                  <a:pt x="117881" y="121920"/>
                </a:lnTo>
                <a:cubicBezTo>
                  <a:pt x="122377" y="121920"/>
                  <a:pt x="126009" y="118288"/>
                  <a:pt x="126009" y="113792"/>
                </a:cubicBezTo>
                <a:cubicBezTo>
                  <a:pt x="126009" y="109296"/>
                  <a:pt x="122377" y="105664"/>
                  <a:pt x="117881" y="105664"/>
                </a:cubicBezTo>
                <a:lnTo>
                  <a:pt x="114960" y="105664"/>
                </a:lnTo>
                <a:lnTo>
                  <a:pt x="72441" y="12878"/>
                </a:lnTo>
                <a:close/>
                <a:moveTo>
                  <a:pt x="84023" y="77216"/>
                </a:moveTo>
                <a:lnTo>
                  <a:pt x="46025" y="77216"/>
                </a:lnTo>
                <a:lnTo>
                  <a:pt x="65024" y="35763"/>
                </a:lnTo>
                <a:lnTo>
                  <a:pt x="84023" y="7721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" name="Text 8"/>
          <p:cNvSpPr/>
          <p:nvPr/>
        </p:nvSpPr>
        <p:spPr>
          <a:xfrm>
            <a:off x="845312" y="2032000"/>
            <a:ext cx="1097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Textual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728" y="2259584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Captions, transcripts, comments, metadata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0192" y="2617216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2112" y="2747264"/>
            <a:ext cx="113792" cy="130048"/>
          </a:xfrm>
          <a:custGeom>
            <a:avLst/>
            <a:gdLst/>
            <a:ahLst/>
            <a:cxnLst/>
            <a:rect l="l" t="t" r="r" b="b"/>
            <a:pathLst>
              <a:path w="113792" h="130048">
                <a:moveTo>
                  <a:pt x="16256" y="8128"/>
                </a:moveTo>
                <a:cubicBezTo>
                  <a:pt x="7290" y="8128"/>
                  <a:pt x="0" y="15418"/>
                  <a:pt x="0" y="24384"/>
                </a:cubicBezTo>
                <a:lnTo>
                  <a:pt x="0" y="105664"/>
                </a:lnTo>
                <a:cubicBezTo>
                  <a:pt x="0" y="114630"/>
                  <a:pt x="7290" y="121920"/>
                  <a:pt x="16256" y="121920"/>
                </a:cubicBezTo>
                <a:lnTo>
                  <a:pt x="97536" y="121920"/>
                </a:lnTo>
                <a:cubicBezTo>
                  <a:pt x="106502" y="121920"/>
                  <a:pt x="113792" y="114630"/>
                  <a:pt x="113792" y="105664"/>
                </a:cubicBezTo>
                <a:lnTo>
                  <a:pt x="113792" y="24384"/>
                </a:lnTo>
                <a:cubicBezTo>
                  <a:pt x="113792" y="15418"/>
                  <a:pt x="106502" y="8128"/>
                  <a:pt x="97536" y="8128"/>
                </a:cubicBezTo>
                <a:lnTo>
                  <a:pt x="16256" y="8128"/>
                </a:lnTo>
                <a:close/>
                <a:moveTo>
                  <a:pt x="32512" y="28448"/>
                </a:moveTo>
                <a:cubicBezTo>
                  <a:pt x="39241" y="28448"/>
                  <a:pt x="44704" y="33911"/>
                  <a:pt x="44704" y="40640"/>
                </a:cubicBezTo>
                <a:cubicBezTo>
                  <a:pt x="44704" y="47369"/>
                  <a:pt x="39241" y="52832"/>
                  <a:pt x="32512" y="52832"/>
                </a:cubicBezTo>
                <a:cubicBezTo>
                  <a:pt x="25783" y="52832"/>
                  <a:pt x="20320" y="47369"/>
                  <a:pt x="20320" y="40640"/>
                </a:cubicBezTo>
                <a:cubicBezTo>
                  <a:pt x="20320" y="33911"/>
                  <a:pt x="25783" y="28448"/>
                  <a:pt x="32512" y="28448"/>
                </a:cubicBezTo>
                <a:close/>
                <a:moveTo>
                  <a:pt x="69088" y="56896"/>
                </a:moveTo>
                <a:cubicBezTo>
                  <a:pt x="71222" y="56896"/>
                  <a:pt x="73177" y="58014"/>
                  <a:pt x="74295" y="59817"/>
                </a:cubicBezTo>
                <a:lnTo>
                  <a:pt x="96647" y="96393"/>
                </a:lnTo>
                <a:cubicBezTo>
                  <a:pt x="97790" y="98273"/>
                  <a:pt x="97841" y="100635"/>
                  <a:pt x="96774" y="102565"/>
                </a:cubicBezTo>
                <a:cubicBezTo>
                  <a:pt x="95707" y="104496"/>
                  <a:pt x="93650" y="105664"/>
                  <a:pt x="91440" y="105664"/>
                </a:cubicBezTo>
                <a:lnTo>
                  <a:pt x="22352" y="105664"/>
                </a:lnTo>
                <a:cubicBezTo>
                  <a:pt x="20091" y="105664"/>
                  <a:pt x="17983" y="104394"/>
                  <a:pt x="16942" y="102387"/>
                </a:cubicBezTo>
                <a:cubicBezTo>
                  <a:pt x="15900" y="100381"/>
                  <a:pt x="16053" y="97942"/>
                  <a:pt x="17348" y="96088"/>
                </a:cubicBezTo>
                <a:lnTo>
                  <a:pt x="31572" y="75768"/>
                </a:lnTo>
                <a:cubicBezTo>
                  <a:pt x="32715" y="74143"/>
                  <a:pt x="34569" y="73177"/>
                  <a:pt x="36576" y="73177"/>
                </a:cubicBezTo>
                <a:cubicBezTo>
                  <a:pt x="38583" y="73177"/>
                  <a:pt x="40437" y="74143"/>
                  <a:pt x="41580" y="75768"/>
                </a:cubicBezTo>
                <a:lnTo>
                  <a:pt x="48285" y="85369"/>
                </a:lnTo>
                <a:lnTo>
                  <a:pt x="63881" y="59842"/>
                </a:lnTo>
                <a:cubicBezTo>
                  <a:pt x="64999" y="58039"/>
                  <a:pt x="66954" y="56921"/>
                  <a:pt x="69088" y="5692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Text 12"/>
          <p:cNvSpPr/>
          <p:nvPr/>
        </p:nvSpPr>
        <p:spPr>
          <a:xfrm>
            <a:off x="845312" y="2714752"/>
            <a:ext cx="10241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728" y="294233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frames, video content, visual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0192" y="3299968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7728" y="3430016"/>
            <a:ext cx="162560" cy="130048"/>
          </a:xfrm>
          <a:custGeom>
            <a:avLst/>
            <a:gdLst/>
            <a:ahLst/>
            <a:cxnLst/>
            <a:rect l="l" t="t" r="r" b="b"/>
            <a:pathLst>
              <a:path w="162560" h="130048">
                <a:moveTo>
                  <a:pt x="135534" y="8255"/>
                </a:moveTo>
                <a:cubicBezTo>
                  <a:pt x="132918" y="6121"/>
                  <a:pt x="129083" y="6528"/>
                  <a:pt x="126949" y="9144"/>
                </a:cubicBezTo>
                <a:cubicBezTo>
                  <a:pt x="124816" y="11760"/>
                  <a:pt x="125222" y="15596"/>
                  <a:pt x="127838" y="17729"/>
                </a:cubicBezTo>
                <a:cubicBezTo>
                  <a:pt x="141605" y="28905"/>
                  <a:pt x="150368" y="45923"/>
                  <a:pt x="150368" y="65024"/>
                </a:cubicBezTo>
                <a:cubicBezTo>
                  <a:pt x="150368" y="84125"/>
                  <a:pt x="141605" y="101143"/>
                  <a:pt x="127838" y="112344"/>
                </a:cubicBezTo>
                <a:cubicBezTo>
                  <a:pt x="125222" y="114478"/>
                  <a:pt x="124841" y="118313"/>
                  <a:pt x="126949" y="120929"/>
                </a:cubicBezTo>
                <a:cubicBezTo>
                  <a:pt x="129057" y="123546"/>
                  <a:pt x="132918" y="123927"/>
                  <a:pt x="135534" y="121818"/>
                </a:cubicBezTo>
                <a:cubicBezTo>
                  <a:pt x="152019" y="108382"/>
                  <a:pt x="162560" y="87935"/>
                  <a:pt x="162560" y="65024"/>
                </a:cubicBezTo>
                <a:cubicBezTo>
                  <a:pt x="162560" y="42113"/>
                  <a:pt x="152019" y="21641"/>
                  <a:pt x="135534" y="8255"/>
                </a:cubicBezTo>
                <a:close/>
                <a:moveTo>
                  <a:pt x="120167" y="27178"/>
                </a:moveTo>
                <a:cubicBezTo>
                  <a:pt x="117551" y="25044"/>
                  <a:pt x="113716" y="25451"/>
                  <a:pt x="111582" y="28067"/>
                </a:cubicBezTo>
                <a:cubicBezTo>
                  <a:pt x="109449" y="30683"/>
                  <a:pt x="109855" y="34519"/>
                  <a:pt x="112471" y="36652"/>
                </a:cubicBezTo>
                <a:cubicBezTo>
                  <a:pt x="120726" y="43358"/>
                  <a:pt x="125984" y="53569"/>
                  <a:pt x="125984" y="65024"/>
                </a:cubicBezTo>
                <a:cubicBezTo>
                  <a:pt x="125984" y="76479"/>
                  <a:pt x="120726" y="86690"/>
                  <a:pt x="112471" y="93421"/>
                </a:cubicBezTo>
                <a:cubicBezTo>
                  <a:pt x="109855" y="95555"/>
                  <a:pt x="109474" y="99390"/>
                  <a:pt x="111582" y="102006"/>
                </a:cubicBezTo>
                <a:cubicBezTo>
                  <a:pt x="113690" y="104623"/>
                  <a:pt x="117551" y="105004"/>
                  <a:pt x="120167" y="102895"/>
                </a:cubicBezTo>
                <a:cubicBezTo>
                  <a:pt x="131140" y="93955"/>
                  <a:pt x="138176" y="80315"/>
                  <a:pt x="138176" y="65049"/>
                </a:cubicBezTo>
                <a:cubicBezTo>
                  <a:pt x="138176" y="49784"/>
                  <a:pt x="131140" y="36144"/>
                  <a:pt x="120167" y="27203"/>
                </a:cubicBezTo>
                <a:close/>
                <a:moveTo>
                  <a:pt x="104800" y="46101"/>
                </a:moveTo>
                <a:cubicBezTo>
                  <a:pt x="102184" y="43967"/>
                  <a:pt x="98349" y="44374"/>
                  <a:pt x="96215" y="46990"/>
                </a:cubicBezTo>
                <a:cubicBezTo>
                  <a:pt x="94082" y="49606"/>
                  <a:pt x="94488" y="53442"/>
                  <a:pt x="97104" y="55575"/>
                </a:cubicBezTo>
                <a:cubicBezTo>
                  <a:pt x="99847" y="57810"/>
                  <a:pt x="101600" y="61214"/>
                  <a:pt x="101600" y="65024"/>
                </a:cubicBezTo>
                <a:cubicBezTo>
                  <a:pt x="101600" y="68834"/>
                  <a:pt x="99847" y="72238"/>
                  <a:pt x="97104" y="74498"/>
                </a:cubicBezTo>
                <a:cubicBezTo>
                  <a:pt x="94488" y="76632"/>
                  <a:pt x="94107" y="80467"/>
                  <a:pt x="96215" y="83083"/>
                </a:cubicBezTo>
                <a:cubicBezTo>
                  <a:pt x="98323" y="85700"/>
                  <a:pt x="102184" y="86081"/>
                  <a:pt x="104800" y="83972"/>
                </a:cubicBezTo>
                <a:cubicBezTo>
                  <a:pt x="110261" y="79477"/>
                  <a:pt x="113792" y="72669"/>
                  <a:pt x="113792" y="65024"/>
                </a:cubicBezTo>
                <a:cubicBezTo>
                  <a:pt x="113792" y="57379"/>
                  <a:pt x="110261" y="50571"/>
                  <a:pt x="104800" y="46101"/>
                </a:cubicBezTo>
                <a:close/>
                <a:moveTo>
                  <a:pt x="20320" y="89408"/>
                </a:moveTo>
                <a:lnTo>
                  <a:pt x="32512" y="89408"/>
                </a:lnTo>
                <a:lnTo>
                  <a:pt x="66573" y="119685"/>
                </a:lnTo>
                <a:cubicBezTo>
                  <a:pt x="68199" y="121133"/>
                  <a:pt x="70282" y="121920"/>
                  <a:pt x="72441" y="121920"/>
                </a:cubicBezTo>
                <a:cubicBezTo>
                  <a:pt x="77318" y="121920"/>
                  <a:pt x="81280" y="117958"/>
                  <a:pt x="81280" y="113081"/>
                </a:cubicBezTo>
                <a:lnTo>
                  <a:pt x="81280" y="16967"/>
                </a:lnTo>
                <a:cubicBezTo>
                  <a:pt x="81280" y="12090"/>
                  <a:pt x="77318" y="8128"/>
                  <a:pt x="72441" y="8128"/>
                </a:cubicBezTo>
                <a:cubicBezTo>
                  <a:pt x="70282" y="8128"/>
                  <a:pt x="68199" y="8915"/>
                  <a:pt x="66573" y="10363"/>
                </a:cubicBezTo>
                <a:lnTo>
                  <a:pt x="32512" y="40640"/>
                </a:lnTo>
                <a:lnTo>
                  <a:pt x="20320" y="40640"/>
                </a:lnTo>
                <a:cubicBezTo>
                  <a:pt x="13589" y="40640"/>
                  <a:pt x="8128" y="46101"/>
                  <a:pt x="8128" y="52832"/>
                </a:cubicBezTo>
                <a:lnTo>
                  <a:pt x="8128" y="77216"/>
                </a:lnTo>
                <a:cubicBezTo>
                  <a:pt x="8128" y="83947"/>
                  <a:pt x="13589" y="89408"/>
                  <a:pt x="20320" y="8940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845312" y="3397504"/>
            <a:ext cx="119481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Acoustic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728" y="36250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signals, speech patterns, tone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5120" y="4177792"/>
            <a:ext cx="5689600" cy="1365504"/>
          </a:xfrm>
          <a:custGeom>
            <a:avLst/>
            <a:gdLst/>
            <a:ahLst/>
            <a:cxnLst/>
            <a:rect l="l" t="t" r="r" b="b"/>
            <a:pathLst>
              <a:path w="5689600" h="1365504">
                <a:moveTo>
                  <a:pt x="65025" y="0"/>
                </a:moveTo>
                <a:lnTo>
                  <a:pt x="5624575" y="0"/>
                </a:lnTo>
                <a:cubicBezTo>
                  <a:pt x="5660487" y="0"/>
                  <a:pt x="5689600" y="29113"/>
                  <a:pt x="5689600" y="65025"/>
                </a:cubicBezTo>
                <a:lnTo>
                  <a:pt x="5689600" y="1300479"/>
                </a:lnTo>
                <a:cubicBezTo>
                  <a:pt x="5689600" y="1336391"/>
                  <a:pt x="5660487" y="1365504"/>
                  <a:pt x="5624575" y="1365504"/>
                </a:cubicBezTo>
                <a:lnTo>
                  <a:pt x="65025" y="1365504"/>
                </a:lnTo>
                <a:cubicBezTo>
                  <a:pt x="29113" y="1365504"/>
                  <a:pt x="0" y="1336391"/>
                  <a:pt x="0" y="1300479"/>
                </a:cubicBezTo>
                <a:lnTo>
                  <a:pt x="0" y="65025"/>
                </a:lnTo>
                <a:cubicBezTo>
                  <a:pt x="0" y="29137"/>
                  <a:pt x="29137" y="0"/>
                  <a:pt x="6502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7680" y="4340352"/>
            <a:ext cx="5437632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Case Study: MultiTec (TikTok)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7680" y="4665472"/>
            <a:ext cx="5429504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Shang et al. (2025) achieved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performance gains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integrating text, audio, and visual modalities for healthcare misinformation detection.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3936" y="5218176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16256" y="16256"/>
                </a:moveTo>
                <a:cubicBezTo>
                  <a:pt x="16256" y="11760"/>
                  <a:pt x="12624" y="8128"/>
                  <a:pt x="8128" y="8128"/>
                </a:cubicBezTo>
                <a:cubicBezTo>
                  <a:pt x="3632" y="8128"/>
                  <a:pt x="0" y="11760"/>
                  <a:pt x="0" y="16256"/>
                </a:cubicBezTo>
                <a:lnTo>
                  <a:pt x="0" y="101600"/>
                </a:lnTo>
                <a:cubicBezTo>
                  <a:pt x="0" y="112827"/>
                  <a:pt x="9093" y="121920"/>
                  <a:pt x="20320" y="121920"/>
                </a:cubicBezTo>
                <a:lnTo>
                  <a:pt x="121920" y="121920"/>
                </a:lnTo>
                <a:cubicBezTo>
                  <a:pt x="126416" y="121920"/>
                  <a:pt x="130048" y="118288"/>
                  <a:pt x="130048" y="113792"/>
                </a:cubicBezTo>
                <a:cubicBezTo>
                  <a:pt x="130048" y="109296"/>
                  <a:pt x="126416" y="105664"/>
                  <a:pt x="121920" y="105664"/>
                </a:cubicBezTo>
                <a:lnTo>
                  <a:pt x="20320" y="105664"/>
                </a:lnTo>
                <a:cubicBezTo>
                  <a:pt x="18085" y="105664"/>
                  <a:pt x="16256" y="103835"/>
                  <a:pt x="16256" y="101600"/>
                </a:cubicBezTo>
                <a:lnTo>
                  <a:pt x="16256" y="16256"/>
                </a:lnTo>
                <a:close/>
                <a:moveTo>
                  <a:pt x="119532" y="38252"/>
                </a:moveTo>
                <a:cubicBezTo>
                  <a:pt x="122707" y="35077"/>
                  <a:pt x="122707" y="29921"/>
                  <a:pt x="119532" y="26746"/>
                </a:cubicBezTo>
                <a:cubicBezTo>
                  <a:pt x="116357" y="23571"/>
                  <a:pt x="111201" y="23571"/>
                  <a:pt x="108026" y="26746"/>
                </a:cubicBezTo>
                <a:lnTo>
                  <a:pt x="81280" y="53518"/>
                </a:lnTo>
                <a:lnTo>
                  <a:pt x="66700" y="38964"/>
                </a:lnTo>
                <a:cubicBezTo>
                  <a:pt x="63525" y="35789"/>
                  <a:pt x="58369" y="35789"/>
                  <a:pt x="55194" y="38964"/>
                </a:cubicBezTo>
                <a:lnTo>
                  <a:pt x="30810" y="63348"/>
                </a:lnTo>
                <a:cubicBezTo>
                  <a:pt x="27635" y="66523"/>
                  <a:pt x="27635" y="71679"/>
                  <a:pt x="30810" y="74854"/>
                </a:cubicBezTo>
                <a:cubicBezTo>
                  <a:pt x="33985" y="78029"/>
                  <a:pt x="39141" y="78029"/>
                  <a:pt x="42316" y="74854"/>
                </a:cubicBezTo>
                <a:lnTo>
                  <a:pt x="60960" y="56210"/>
                </a:lnTo>
                <a:lnTo>
                  <a:pt x="75540" y="70790"/>
                </a:lnTo>
                <a:cubicBezTo>
                  <a:pt x="78715" y="73965"/>
                  <a:pt x="83871" y="73965"/>
                  <a:pt x="87046" y="70790"/>
                </a:cubicBezTo>
                <a:lnTo>
                  <a:pt x="119558" y="3827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4" name="Text 22"/>
          <p:cNvSpPr/>
          <p:nvPr/>
        </p:nvSpPr>
        <p:spPr>
          <a:xfrm>
            <a:off x="715264" y="5185664"/>
            <a:ext cx="277164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Outperformed unimodal baselines substantially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263" y="1072896"/>
            <a:ext cx="5673344" cy="2974848"/>
          </a:xfrm>
          <a:custGeom>
            <a:avLst/>
            <a:gdLst/>
            <a:ahLst/>
            <a:cxnLst/>
            <a:rect l="l" t="t" r="r" b="b"/>
            <a:pathLst>
              <a:path w="5673344" h="2974848">
                <a:moveTo>
                  <a:pt x="32512" y="0"/>
                </a:moveTo>
                <a:lnTo>
                  <a:pt x="5608314" y="0"/>
                </a:lnTo>
                <a:cubicBezTo>
                  <a:pt x="5644229" y="0"/>
                  <a:pt x="5673344" y="29115"/>
                  <a:pt x="5673344" y="65030"/>
                </a:cubicBezTo>
                <a:lnTo>
                  <a:pt x="5673344" y="2909818"/>
                </a:lnTo>
                <a:cubicBezTo>
                  <a:pt x="5673344" y="2945733"/>
                  <a:pt x="5644229" y="2974848"/>
                  <a:pt x="5608314" y="2974848"/>
                </a:cubicBezTo>
                <a:lnTo>
                  <a:pt x="32512" y="2974848"/>
                </a:lnTo>
                <a:cubicBezTo>
                  <a:pt x="14556" y="2974848"/>
                  <a:pt x="0" y="2960292"/>
                  <a:pt x="0" y="2942336"/>
                </a:cubicBezTo>
                <a:lnTo>
                  <a:pt x="0" y="32512"/>
                </a:lnTo>
                <a:cubicBezTo>
                  <a:pt x="0" y="14556"/>
                  <a:pt x="14556" y="0"/>
                  <a:pt x="325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95263" y="1072896"/>
            <a:ext cx="32512" cy="2974848"/>
          </a:xfrm>
          <a:custGeom>
            <a:avLst/>
            <a:gdLst/>
            <a:ahLst/>
            <a:cxnLst/>
            <a:rect l="l" t="t" r="r" b="b"/>
            <a:pathLst>
              <a:path w="32512" h="2974848">
                <a:moveTo>
                  <a:pt x="32512" y="0"/>
                </a:moveTo>
                <a:lnTo>
                  <a:pt x="32512" y="0"/>
                </a:lnTo>
                <a:lnTo>
                  <a:pt x="32512" y="2974848"/>
                </a:lnTo>
                <a:lnTo>
                  <a:pt x="32512" y="2974848"/>
                </a:lnTo>
                <a:cubicBezTo>
                  <a:pt x="14556" y="2974848"/>
                  <a:pt x="0" y="2960292"/>
                  <a:pt x="0" y="294233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6374079" y="1235456"/>
            <a:ext cx="541324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Hybrid Models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4079" y="1593088"/>
            <a:ext cx="5396992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 with deep learning </a:t>
            </a:r>
            <a:pPr>
              <a:lnSpc>
                <a:spcPct val="14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enhanced performance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4079" y="1934464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1615" y="2032000"/>
            <a:ext cx="5201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+ Neural Embeddings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1615" y="2259584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Engineered features + learned representations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4079" y="2617216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71615" y="2714752"/>
            <a:ext cx="5201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+ CNN/LSTM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1615" y="294233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 ensembles with different architectures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4079" y="3299968"/>
            <a:ext cx="5331968" cy="585216"/>
          </a:xfrm>
          <a:custGeom>
            <a:avLst/>
            <a:gdLst/>
            <a:ahLst/>
            <a:cxnLst/>
            <a:rect l="l" t="t" r="r" b="b"/>
            <a:pathLst>
              <a:path w="5331968" h="585216">
                <a:moveTo>
                  <a:pt x="32515" y="0"/>
                </a:moveTo>
                <a:lnTo>
                  <a:pt x="5299453" y="0"/>
                </a:lnTo>
                <a:cubicBezTo>
                  <a:pt x="5317411" y="0"/>
                  <a:pt x="5331968" y="14557"/>
                  <a:pt x="5331968" y="32515"/>
                </a:cubicBezTo>
                <a:lnTo>
                  <a:pt x="5331968" y="552701"/>
                </a:lnTo>
                <a:cubicBezTo>
                  <a:pt x="5331968" y="570659"/>
                  <a:pt x="5317411" y="585216"/>
                  <a:pt x="5299453" y="585216"/>
                </a:cubicBezTo>
                <a:lnTo>
                  <a:pt x="32515" y="585216"/>
                </a:lnTo>
                <a:cubicBezTo>
                  <a:pt x="14557" y="585216"/>
                  <a:pt x="0" y="570659"/>
                  <a:pt x="0" y="552701"/>
                </a:cubicBezTo>
                <a:lnTo>
                  <a:pt x="0" y="32515"/>
                </a:lnTo>
                <a:cubicBezTo>
                  <a:pt x="0" y="14557"/>
                  <a:pt x="14557" y="0"/>
                  <a:pt x="325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71615" y="3397504"/>
            <a:ext cx="5201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1615" y="36250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Voting, stacking, boosting strategies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2259" y="4181043"/>
            <a:ext cx="5687974" cy="1372006"/>
          </a:xfrm>
          <a:custGeom>
            <a:avLst/>
            <a:gdLst/>
            <a:ahLst/>
            <a:cxnLst/>
            <a:rect l="l" t="t" r="r" b="b"/>
            <a:pathLst>
              <a:path w="5687974" h="1372006">
                <a:moveTo>
                  <a:pt x="65019" y="0"/>
                </a:moveTo>
                <a:lnTo>
                  <a:pt x="5622955" y="0"/>
                </a:lnTo>
                <a:cubicBezTo>
                  <a:pt x="5658864" y="0"/>
                  <a:pt x="5687974" y="29110"/>
                  <a:pt x="5687974" y="65019"/>
                </a:cubicBezTo>
                <a:lnTo>
                  <a:pt x="5687974" y="1306987"/>
                </a:lnTo>
                <a:cubicBezTo>
                  <a:pt x="5687974" y="1342896"/>
                  <a:pt x="5658864" y="1372006"/>
                  <a:pt x="5622955" y="1372006"/>
                </a:cubicBezTo>
                <a:lnTo>
                  <a:pt x="65019" y="1372006"/>
                </a:lnTo>
                <a:cubicBezTo>
                  <a:pt x="29110" y="1372006"/>
                  <a:pt x="0" y="1342896"/>
                  <a:pt x="0" y="1306987"/>
                </a:cubicBezTo>
                <a:lnTo>
                  <a:pt x="0" y="65019"/>
                </a:lnTo>
                <a:cubicBezTo>
                  <a:pt x="0" y="29134"/>
                  <a:pt x="29134" y="0"/>
                  <a:pt x="6501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8070" y="4346853"/>
            <a:ext cx="5429504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Benefits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2454" y="4704485"/>
            <a:ext cx="113792" cy="130048"/>
          </a:xfrm>
          <a:custGeom>
            <a:avLst/>
            <a:gdLst/>
            <a:ahLst/>
            <a:cxnLst/>
            <a:rect l="l" t="t" r="r" b="b"/>
            <a:pathLst>
              <a:path w="113792" h="130048">
                <a:moveTo>
                  <a:pt x="110439" y="17805"/>
                </a:moveTo>
                <a:cubicBezTo>
                  <a:pt x="114071" y="20447"/>
                  <a:pt x="114884" y="25527"/>
                  <a:pt x="112243" y="29159"/>
                </a:cubicBezTo>
                <a:lnTo>
                  <a:pt x="47219" y="118567"/>
                </a:lnTo>
                <a:cubicBezTo>
                  <a:pt x="45822" y="120498"/>
                  <a:pt x="43663" y="121691"/>
                  <a:pt x="41275" y="121895"/>
                </a:cubicBezTo>
                <a:cubicBezTo>
                  <a:pt x="38887" y="122098"/>
                  <a:pt x="36576" y="121209"/>
                  <a:pt x="34900" y="119532"/>
                </a:cubicBezTo>
                <a:lnTo>
                  <a:pt x="2388" y="87020"/>
                </a:lnTo>
                <a:cubicBezTo>
                  <a:pt x="-787" y="83845"/>
                  <a:pt x="-787" y="78689"/>
                  <a:pt x="2388" y="75514"/>
                </a:cubicBezTo>
                <a:cubicBezTo>
                  <a:pt x="5563" y="72339"/>
                  <a:pt x="10719" y="72339"/>
                  <a:pt x="13894" y="75514"/>
                </a:cubicBezTo>
                <a:lnTo>
                  <a:pt x="39675" y="101295"/>
                </a:lnTo>
                <a:lnTo>
                  <a:pt x="99111" y="19583"/>
                </a:lnTo>
                <a:cubicBezTo>
                  <a:pt x="101752" y="15951"/>
                  <a:pt x="106832" y="15138"/>
                  <a:pt x="110465" y="177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1" name="Text 39"/>
          <p:cNvSpPr/>
          <p:nvPr/>
        </p:nvSpPr>
        <p:spPr>
          <a:xfrm>
            <a:off x="6575654" y="4697984"/>
            <a:ext cx="1734312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Strengths: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81111" y="4697984"/>
            <a:ext cx="2595067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modalities capture different signals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2454" y="4964581"/>
            <a:ext cx="113792" cy="130048"/>
          </a:xfrm>
          <a:custGeom>
            <a:avLst/>
            <a:gdLst/>
            <a:ahLst/>
            <a:cxnLst/>
            <a:rect l="l" t="t" r="r" b="b"/>
            <a:pathLst>
              <a:path w="113792" h="130048">
                <a:moveTo>
                  <a:pt x="110439" y="17805"/>
                </a:moveTo>
                <a:cubicBezTo>
                  <a:pt x="114071" y="20447"/>
                  <a:pt x="114884" y="25527"/>
                  <a:pt x="112243" y="29159"/>
                </a:cubicBezTo>
                <a:lnTo>
                  <a:pt x="47219" y="118567"/>
                </a:lnTo>
                <a:cubicBezTo>
                  <a:pt x="45822" y="120498"/>
                  <a:pt x="43663" y="121691"/>
                  <a:pt x="41275" y="121895"/>
                </a:cubicBezTo>
                <a:cubicBezTo>
                  <a:pt x="38887" y="122098"/>
                  <a:pt x="36576" y="121209"/>
                  <a:pt x="34900" y="119532"/>
                </a:cubicBezTo>
                <a:lnTo>
                  <a:pt x="2388" y="87020"/>
                </a:lnTo>
                <a:cubicBezTo>
                  <a:pt x="-787" y="83845"/>
                  <a:pt x="-787" y="78689"/>
                  <a:pt x="2388" y="75514"/>
                </a:cubicBezTo>
                <a:cubicBezTo>
                  <a:pt x="5563" y="72339"/>
                  <a:pt x="10719" y="72339"/>
                  <a:pt x="13894" y="75514"/>
                </a:cubicBezTo>
                <a:lnTo>
                  <a:pt x="39675" y="101295"/>
                </a:lnTo>
                <a:lnTo>
                  <a:pt x="99111" y="19583"/>
                </a:lnTo>
                <a:cubicBezTo>
                  <a:pt x="101752" y="15951"/>
                  <a:pt x="106832" y="15138"/>
                  <a:pt x="110465" y="177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6575654" y="4958080"/>
            <a:ext cx="852627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99426" y="4958080"/>
            <a:ext cx="2573427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vulnerability to adversarial attacks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2454" y="5224677"/>
            <a:ext cx="113792" cy="130048"/>
          </a:xfrm>
          <a:custGeom>
            <a:avLst/>
            <a:gdLst/>
            <a:ahLst/>
            <a:cxnLst/>
            <a:rect l="l" t="t" r="r" b="b"/>
            <a:pathLst>
              <a:path w="113792" h="130048">
                <a:moveTo>
                  <a:pt x="110439" y="17805"/>
                </a:moveTo>
                <a:cubicBezTo>
                  <a:pt x="114071" y="20447"/>
                  <a:pt x="114884" y="25527"/>
                  <a:pt x="112243" y="29159"/>
                </a:cubicBezTo>
                <a:lnTo>
                  <a:pt x="47219" y="118567"/>
                </a:lnTo>
                <a:cubicBezTo>
                  <a:pt x="45822" y="120498"/>
                  <a:pt x="43663" y="121691"/>
                  <a:pt x="41275" y="121895"/>
                </a:cubicBezTo>
                <a:cubicBezTo>
                  <a:pt x="38887" y="122098"/>
                  <a:pt x="36576" y="121209"/>
                  <a:pt x="34900" y="119532"/>
                </a:cubicBezTo>
                <a:lnTo>
                  <a:pt x="2388" y="87020"/>
                </a:lnTo>
                <a:cubicBezTo>
                  <a:pt x="-787" y="83845"/>
                  <a:pt x="-787" y="78689"/>
                  <a:pt x="2388" y="75514"/>
                </a:cubicBezTo>
                <a:cubicBezTo>
                  <a:pt x="5563" y="72339"/>
                  <a:pt x="10719" y="72339"/>
                  <a:pt x="13894" y="75514"/>
                </a:cubicBezTo>
                <a:lnTo>
                  <a:pt x="39675" y="101295"/>
                </a:lnTo>
                <a:lnTo>
                  <a:pt x="99111" y="19583"/>
                </a:lnTo>
                <a:cubicBezTo>
                  <a:pt x="101752" y="15951"/>
                  <a:pt x="106832" y="15138"/>
                  <a:pt x="110465" y="177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" name="Text 45"/>
          <p:cNvSpPr/>
          <p:nvPr/>
        </p:nvSpPr>
        <p:spPr>
          <a:xfrm>
            <a:off x="6575654" y="5218176"/>
            <a:ext cx="1655064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01863" y="5218176"/>
            <a:ext cx="1807362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content understanding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5120" y="5686354"/>
            <a:ext cx="11541760" cy="650240"/>
          </a:xfrm>
          <a:custGeom>
            <a:avLst/>
            <a:gdLst/>
            <a:ahLst/>
            <a:cxnLst/>
            <a:rect l="l" t="t" r="r" b="b"/>
            <a:pathLst>
              <a:path w="11541760" h="650240">
                <a:moveTo>
                  <a:pt x="65024" y="0"/>
                </a:moveTo>
                <a:lnTo>
                  <a:pt x="11476736" y="0"/>
                </a:lnTo>
                <a:cubicBezTo>
                  <a:pt x="11512648" y="0"/>
                  <a:pt x="11541760" y="29112"/>
                  <a:pt x="11541760" y="65024"/>
                </a:cubicBezTo>
                <a:lnTo>
                  <a:pt x="11541760" y="585216"/>
                </a:lnTo>
                <a:cubicBezTo>
                  <a:pt x="11541760" y="621128"/>
                  <a:pt x="11512648" y="650240"/>
                  <a:pt x="11476736" y="650240"/>
                </a:cubicBezTo>
                <a:lnTo>
                  <a:pt x="65024" y="650240"/>
                </a:lnTo>
                <a:cubicBezTo>
                  <a:pt x="29112" y="650240"/>
                  <a:pt x="0" y="621128"/>
                  <a:pt x="0" y="585216"/>
                </a:cubicBezTo>
                <a:lnTo>
                  <a:pt x="0" y="65024"/>
                </a:lnTo>
                <a:cubicBezTo>
                  <a:pt x="0" y="29136"/>
                  <a:pt x="29136" y="0"/>
                  <a:pt x="6502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71424" y="5848914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65024" y="130048"/>
                </a:moveTo>
                <a:cubicBezTo>
                  <a:pt x="100912" y="130048"/>
                  <a:pt x="130048" y="100912"/>
                  <a:pt x="130048" y="65024"/>
                </a:cubicBezTo>
                <a:cubicBezTo>
                  <a:pt x="130048" y="29136"/>
                  <a:pt x="100912" y="0"/>
                  <a:pt x="65024" y="0"/>
                </a:cubicBezTo>
                <a:cubicBezTo>
                  <a:pt x="29136" y="0"/>
                  <a:pt x="0" y="29136"/>
                  <a:pt x="0" y="65024"/>
                </a:cubicBezTo>
                <a:cubicBezTo>
                  <a:pt x="0" y="100912"/>
                  <a:pt x="29136" y="130048"/>
                  <a:pt x="65024" y="130048"/>
                </a:cubicBezTo>
                <a:close/>
                <a:moveTo>
                  <a:pt x="56896" y="40640"/>
                </a:moveTo>
                <a:cubicBezTo>
                  <a:pt x="56896" y="36154"/>
                  <a:pt x="60538" y="32512"/>
                  <a:pt x="65024" y="32512"/>
                </a:cubicBezTo>
                <a:cubicBezTo>
                  <a:pt x="69510" y="32512"/>
                  <a:pt x="73152" y="36154"/>
                  <a:pt x="73152" y="40640"/>
                </a:cubicBezTo>
                <a:cubicBezTo>
                  <a:pt x="73152" y="45126"/>
                  <a:pt x="69510" y="48768"/>
                  <a:pt x="65024" y="48768"/>
                </a:cubicBezTo>
                <a:cubicBezTo>
                  <a:pt x="60538" y="48768"/>
                  <a:pt x="56896" y="45126"/>
                  <a:pt x="56896" y="40640"/>
                </a:cubicBezTo>
                <a:close/>
                <a:moveTo>
                  <a:pt x="54864" y="56896"/>
                </a:moveTo>
                <a:lnTo>
                  <a:pt x="67056" y="56896"/>
                </a:lnTo>
                <a:cubicBezTo>
                  <a:pt x="70434" y="56896"/>
                  <a:pt x="73152" y="59614"/>
                  <a:pt x="73152" y="62992"/>
                </a:cubicBezTo>
                <a:lnTo>
                  <a:pt x="73152" y="85344"/>
                </a:lnTo>
                <a:lnTo>
                  <a:pt x="75184" y="85344"/>
                </a:lnTo>
                <a:cubicBezTo>
                  <a:pt x="78562" y="85344"/>
                  <a:pt x="81280" y="88062"/>
                  <a:pt x="81280" y="91440"/>
                </a:cubicBezTo>
                <a:cubicBezTo>
                  <a:pt x="81280" y="94818"/>
                  <a:pt x="78562" y="97536"/>
                  <a:pt x="75184" y="97536"/>
                </a:cubicBezTo>
                <a:lnTo>
                  <a:pt x="54864" y="97536"/>
                </a:lnTo>
                <a:cubicBezTo>
                  <a:pt x="51486" y="97536"/>
                  <a:pt x="48768" y="94818"/>
                  <a:pt x="48768" y="91440"/>
                </a:cubicBezTo>
                <a:cubicBezTo>
                  <a:pt x="48768" y="88062"/>
                  <a:pt x="51486" y="85344"/>
                  <a:pt x="54864" y="85344"/>
                </a:cubicBezTo>
                <a:lnTo>
                  <a:pt x="60960" y="85344"/>
                </a:lnTo>
                <a:lnTo>
                  <a:pt x="60960" y="69088"/>
                </a:lnTo>
                <a:lnTo>
                  <a:pt x="54864" y="69088"/>
                </a:lnTo>
                <a:cubicBezTo>
                  <a:pt x="51486" y="69088"/>
                  <a:pt x="48768" y="66370"/>
                  <a:pt x="48768" y="62992"/>
                </a:cubicBezTo>
                <a:cubicBezTo>
                  <a:pt x="48768" y="59614"/>
                  <a:pt x="51486" y="56896"/>
                  <a:pt x="54864" y="5689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Text 49"/>
          <p:cNvSpPr/>
          <p:nvPr/>
        </p:nvSpPr>
        <p:spPr>
          <a:xfrm>
            <a:off x="718922" y="5842405"/>
            <a:ext cx="1156310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Insight: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5168" y="5842405"/>
            <a:ext cx="10918546" cy="3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approaches are </a:t>
            </a:r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modern social media </a:t>
            </a:r>
            <a:pPr>
              <a:lnSpc>
                <a:spcPct val="130000"/>
              </a:lnSpc>
            </a:pPr>
            <a:r>
              <a:rPr lang="en-US" sz="102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misinformation spreads through videos, images, and text. Hou et al. (2019) demonstrated 74% accuracy on medical videos using multimodal fusion.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spc="104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&amp; Transparency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96348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Explainability &amp; Interpretability Techniques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870" y="1093304"/>
            <a:ext cx="5665304" cy="2451652"/>
          </a:xfrm>
          <a:custGeom>
            <a:avLst/>
            <a:gdLst/>
            <a:ahLst/>
            <a:cxnLst/>
            <a:rect l="l" t="t" r="r" b="b"/>
            <a:pathLst>
              <a:path w="5665304" h="2451652">
                <a:moveTo>
                  <a:pt x="33130" y="0"/>
                </a:moveTo>
                <a:lnTo>
                  <a:pt x="5599036" y="0"/>
                </a:lnTo>
                <a:cubicBezTo>
                  <a:pt x="5635635" y="0"/>
                  <a:pt x="5665304" y="29669"/>
                  <a:pt x="5665304" y="66268"/>
                </a:cubicBezTo>
                <a:lnTo>
                  <a:pt x="5665304" y="2385384"/>
                </a:lnTo>
                <a:cubicBezTo>
                  <a:pt x="5665304" y="2421983"/>
                  <a:pt x="5635635" y="2451652"/>
                  <a:pt x="5599036" y="2451652"/>
                </a:cubicBezTo>
                <a:lnTo>
                  <a:pt x="33130" y="2451652"/>
                </a:lnTo>
                <a:cubicBezTo>
                  <a:pt x="14833" y="2451652"/>
                  <a:pt x="0" y="2436819"/>
                  <a:pt x="0" y="2418522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870" y="1093304"/>
            <a:ext cx="33130" cy="2451652"/>
          </a:xfrm>
          <a:custGeom>
            <a:avLst/>
            <a:gdLst/>
            <a:ahLst/>
            <a:cxnLst/>
            <a:rect l="l" t="t" r="r" b="b"/>
            <a:pathLst>
              <a:path w="33130" h="2451652">
                <a:moveTo>
                  <a:pt x="33130" y="0"/>
                </a:moveTo>
                <a:lnTo>
                  <a:pt x="33130" y="0"/>
                </a:lnTo>
                <a:lnTo>
                  <a:pt x="33130" y="2451652"/>
                </a:lnTo>
                <a:lnTo>
                  <a:pt x="33130" y="2451652"/>
                </a:lnTo>
                <a:cubicBezTo>
                  <a:pt x="14833" y="2451652"/>
                  <a:pt x="0" y="2436819"/>
                  <a:pt x="0" y="2418522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30087" y="1258957"/>
            <a:ext cx="54002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Explainability Matters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087" y="1656522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32522" y="0"/>
                </a:moveTo>
                <a:lnTo>
                  <a:pt x="132522" y="0"/>
                </a:lnTo>
                <a:cubicBezTo>
                  <a:pt x="205711" y="0"/>
                  <a:pt x="265043" y="59332"/>
                  <a:pt x="265043" y="132522"/>
                </a:cubicBezTo>
                <a:lnTo>
                  <a:pt x="265043" y="132522"/>
                </a:lnTo>
                <a:cubicBezTo>
                  <a:pt x="265043" y="205711"/>
                  <a:pt x="205711" y="265043"/>
                  <a:pt x="132522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3948" y="1731065"/>
            <a:ext cx="101462" cy="115957"/>
          </a:xfrm>
          <a:custGeom>
            <a:avLst/>
            <a:gdLst/>
            <a:ahLst/>
            <a:cxnLst/>
            <a:rect l="l" t="t" r="r" b="b"/>
            <a:pathLst>
              <a:path w="101462" h="115957">
                <a:moveTo>
                  <a:pt x="50731" y="1812"/>
                </a:moveTo>
                <a:cubicBezTo>
                  <a:pt x="35731" y="1812"/>
                  <a:pt x="23554" y="13990"/>
                  <a:pt x="23554" y="28989"/>
                </a:cubicBezTo>
                <a:cubicBezTo>
                  <a:pt x="23554" y="43989"/>
                  <a:pt x="35731" y="56166"/>
                  <a:pt x="50731" y="56166"/>
                </a:cubicBezTo>
                <a:cubicBezTo>
                  <a:pt x="65731" y="56166"/>
                  <a:pt x="77908" y="43989"/>
                  <a:pt x="77908" y="28989"/>
                </a:cubicBezTo>
                <a:cubicBezTo>
                  <a:pt x="77908" y="13990"/>
                  <a:pt x="65731" y="1812"/>
                  <a:pt x="50731" y="1812"/>
                </a:cubicBezTo>
                <a:close/>
                <a:moveTo>
                  <a:pt x="64320" y="72654"/>
                </a:moveTo>
                <a:cubicBezTo>
                  <a:pt x="63097" y="72541"/>
                  <a:pt x="61828" y="72473"/>
                  <a:pt x="60560" y="72473"/>
                </a:cubicBezTo>
                <a:lnTo>
                  <a:pt x="40879" y="72473"/>
                </a:lnTo>
                <a:cubicBezTo>
                  <a:pt x="39611" y="72473"/>
                  <a:pt x="38365" y="72541"/>
                  <a:pt x="37120" y="72654"/>
                </a:cubicBezTo>
                <a:lnTo>
                  <a:pt x="37120" y="87941"/>
                </a:lnTo>
                <a:cubicBezTo>
                  <a:pt x="40857" y="89662"/>
                  <a:pt x="43461" y="93445"/>
                  <a:pt x="43461" y="97816"/>
                </a:cubicBezTo>
                <a:cubicBezTo>
                  <a:pt x="43461" y="103817"/>
                  <a:pt x="38592" y="108687"/>
                  <a:pt x="32590" y="108687"/>
                </a:cubicBezTo>
                <a:cubicBezTo>
                  <a:pt x="26588" y="108687"/>
                  <a:pt x="21719" y="103817"/>
                  <a:pt x="21719" y="97816"/>
                </a:cubicBezTo>
                <a:cubicBezTo>
                  <a:pt x="21719" y="93422"/>
                  <a:pt x="24324" y="89640"/>
                  <a:pt x="28061" y="87941"/>
                </a:cubicBezTo>
                <a:lnTo>
                  <a:pt x="28061" y="74715"/>
                </a:lnTo>
                <a:cubicBezTo>
                  <a:pt x="13815" y="79947"/>
                  <a:pt x="3624" y="93671"/>
                  <a:pt x="3624" y="109751"/>
                </a:cubicBezTo>
                <a:cubicBezTo>
                  <a:pt x="3624" y="113171"/>
                  <a:pt x="6409" y="115957"/>
                  <a:pt x="9829" y="115957"/>
                </a:cubicBezTo>
                <a:lnTo>
                  <a:pt x="91610" y="115957"/>
                </a:lnTo>
                <a:cubicBezTo>
                  <a:pt x="95030" y="115957"/>
                  <a:pt x="97816" y="113171"/>
                  <a:pt x="97816" y="109751"/>
                </a:cubicBezTo>
                <a:cubicBezTo>
                  <a:pt x="97816" y="93671"/>
                  <a:pt x="87624" y="79969"/>
                  <a:pt x="73356" y="74738"/>
                </a:cubicBezTo>
                <a:lnTo>
                  <a:pt x="73356" y="83208"/>
                </a:lnTo>
                <a:cubicBezTo>
                  <a:pt x="78633" y="85065"/>
                  <a:pt x="82415" y="90115"/>
                  <a:pt x="82415" y="96026"/>
                </a:cubicBezTo>
                <a:lnTo>
                  <a:pt x="82415" y="103274"/>
                </a:lnTo>
                <a:cubicBezTo>
                  <a:pt x="82415" y="105765"/>
                  <a:pt x="80377" y="107803"/>
                  <a:pt x="77886" y="107803"/>
                </a:cubicBezTo>
                <a:cubicBezTo>
                  <a:pt x="75394" y="107803"/>
                  <a:pt x="73356" y="105765"/>
                  <a:pt x="73356" y="103274"/>
                </a:cubicBezTo>
                <a:lnTo>
                  <a:pt x="73356" y="96026"/>
                </a:lnTo>
                <a:cubicBezTo>
                  <a:pt x="73356" y="93535"/>
                  <a:pt x="71318" y="91497"/>
                  <a:pt x="68827" y="91497"/>
                </a:cubicBezTo>
                <a:cubicBezTo>
                  <a:pt x="66335" y="91497"/>
                  <a:pt x="64297" y="93535"/>
                  <a:pt x="64297" y="96026"/>
                </a:cubicBezTo>
                <a:lnTo>
                  <a:pt x="64297" y="103274"/>
                </a:lnTo>
                <a:cubicBezTo>
                  <a:pt x="64297" y="105765"/>
                  <a:pt x="62259" y="107803"/>
                  <a:pt x="59767" y="107803"/>
                </a:cubicBezTo>
                <a:cubicBezTo>
                  <a:pt x="57276" y="107803"/>
                  <a:pt x="55238" y="105765"/>
                  <a:pt x="55238" y="103274"/>
                </a:cubicBezTo>
                <a:lnTo>
                  <a:pt x="55238" y="96026"/>
                </a:lnTo>
                <a:cubicBezTo>
                  <a:pt x="55238" y="90115"/>
                  <a:pt x="59020" y="85088"/>
                  <a:pt x="64297" y="83208"/>
                </a:cubicBezTo>
                <a:lnTo>
                  <a:pt x="64297" y="7265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894522" y="1623391"/>
            <a:ext cx="2410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4522" y="1822174"/>
            <a:ext cx="24019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impact patient safety and wellbeing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087" y="2120348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32522" y="0"/>
                </a:moveTo>
                <a:lnTo>
                  <a:pt x="132522" y="0"/>
                </a:lnTo>
                <a:cubicBezTo>
                  <a:pt x="205711" y="0"/>
                  <a:pt x="265043" y="59332"/>
                  <a:pt x="265043" y="132522"/>
                </a:cubicBezTo>
                <a:lnTo>
                  <a:pt x="265043" y="132522"/>
                </a:lnTo>
                <a:cubicBezTo>
                  <a:pt x="265043" y="205711"/>
                  <a:pt x="205711" y="265043"/>
                  <a:pt x="132522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207" y="2194891"/>
            <a:ext cx="144946" cy="115957"/>
          </a:xfrm>
          <a:custGeom>
            <a:avLst/>
            <a:gdLst/>
            <a:ahLst/>
            <a:cxnLst/>
            <a:rect l="l" t="t" r="r" b="b"/>
            <a:pathLst>
              <a:path w="144946" h="115957">
                <a:moveTo>
                  <a:pt x="86967" y="7247"/>
                </a:moveTo>
                <a:lnTo>
                  <a:pt x="115957" y="7247"/>
                </a:lnTo>
                <a:cubicBezTo>
                  <a:pt x="119965" y="7247"/>
                  <a:pt x="123204" y="10486"/>
                  <a:pt x="123204" y="14495"/>
                </a:cubicBezTo>
                <a:cubicBezTo>
                  <a:pt x="123204" y="18503"/>
                  <a:pt x="119965" y="21742"/>
                  <a:pt x="115957" y="21742"/>
                </a:cubicBezTo>
                <a:lnTo>
                  <a:pt x="90229" y="21742"/>
                </a:lnTo>
                <a:cubicBezTo>
                  <a:pt x="89051" y="27585"/>
                  <a:pt x="85042" y="32409"/>
                  <a:pt x="79720" y="34719"/>
                </a:cubicBezTo>
                <a:lnTo>
                  <a:pt x="79720" y="101462"/>
                </a:lnTo>
                <a:lnTo>
                  <a:pt x="115957" y="101462"/>
                </a:lnTo>
                <a:cubicBezTo>
                  <a:pt x="119965" y="101462"/>
                  <a:pt x="123204" y="104701"/>
                  <a:pt x="123204" y="108709"/>
                </a:cubicBezTo>
                <a:cubicBezTo>
                  <a:pt x="123204" y="112718"/>
                  <a:pt x="119965" y="115957"/>
                  <a:pt x="115957" y="115957"/>
                </a:cubicBezTo>
                <a:lnTo>
                  <a:pt x="28989" y="115957"/>
                </a:lnTo>
                <a:cubicBezTo>
                  <a:pt x="24980" y="115957"/>
                  <a:pt x="21742" y="112718"/>
                  <a:pt x="21742" y="108709"/>
                </a:cubicBezTo>
                <a:cubicBezTo>
                  <a:pt x="21742" y="104701"/>
                  <a:pt x="24980" y="101462"/>
                  <a:pt x="28989" y="101462"/>
                </a:cubicBezTo>
                <a:lnTo>
                  <a:pt x="65226" y="101462"/>
                </a:lnTo>
                <a:lnTo>
                  <a:pt x="65226" y="34719"/>
                </a:lnTo>
                <a:cubicBezTo>
                  <a:pt x="59903" y="32386"/>
                  <a:pt x="55895" y="27562"/>
                  <a:pt x="54717" y="21742"/>
                </a:cubicBezTo>
                <a:lnTo>
                  <a:pt x="28989" y="21742"/>
                </a:lnTo>
                <a:cubicBezTo>
                  <a:pt x="24980" y="21742"/>
                  <a:pt x="21742" y="18503"/>
                  <a:pt x="21742" y="14495"/>
                </a:cubicBezTo>
                <a:cubicBezTo>
                  <a:pt x="21742" y="10486"/>
                  <a:pt x="24980" y="7247"/>
                  <a:pt x="28989" y="7247"/>
                </a:cubicBezTo>
                <a:lnTo>
                  <a:pt x="57978" y="7247"/>
                </a:lnTo>
                <a:cubicBezTo>
                  <a:pt x="61285" y="2854"/>
                  <a:pt x="66539" y="0"/>
                  <a:pt x="72473" y="0"/>
                </a:cubicBezTo>
                <a:cubicBezTo>
                  <a:pt x="78407" y="0"/>
                  <a:pt x="83661" y="2854"/>
                  <a:pt x="86967" y="7247"/>
                </a:cubicBezTo>
                <a:close/>
                <a:moveTo>
                  <a:pt x="99560" y="72473"/>
                </a:moveTo>
                <a:lnTo>
                  <a:pt x="132353" y="72473"/>
                </a:lnTo>
                <a:lnTo>
                  <a:pt x="115957" y="44344"/>
                </a:lnTo>
                <a:lnTo>
                  <a:pt x="99560" y="72473"/>
                </a:lnTo>
                <a:close/>
                <a:moveTo>
                  <a:pt x="115957" y="94215"/>
                </a:moveTo>
                <a:cubicBezTo>
                  <a:pt x="101711" y="94215"/>
                  <a:pt x="89866" y="86514"/>
                  <a:pt x="87420" y="76346"/>
                </a:cubicBezTo>
                <a:cubicBezTo>
                  <a:pt x="86832" y="73854"/>
                  <a:pt x="87647" y="71295"/>
                  <a:pt x="88938" y="69076"/>
                </a:cubicBezTo>
                <a:lnTo>
                  <a:pt x="110498" y="32115"/>
                </a:lnTo>
                <a:cubicBezTo>
                  <a:pt x="111631" y="30167"/>
                  <a:pt x="113714" y="28989"/>
                  <a:pt x="115957" y="28989"/>
                </a:cubicBezTo>
                <a:cubicBezTo>
                  <a:pt x="118199" y="28989"/>
                  <a:pt x="120282" y="30189"/>
                  <a:pt x="121415" y="32115"/>
                </a:cubicBezTo>
                <a:lnTo>
                  <a:pt x="142975" y="69076"/>
                </a:lnTo>
                <a:cubicBezTo>
                  <a:pt x="144266" y="71295"/>
                  <a:pt x="145082" y="73854"/>
                  <a:pt x="144493" y="76346"/>
                </a:cubicBezTo>
                <a:cubicBezTo>
                  <a:pt x="142047" y="86492"/>
                  <a:pt x="130202" y="94215"/>
                  <a:pt x="115957" y="94215"/>
                </a:cubicBezTo>
                <a:close/>
                <a:moveTo>
                  <a:pt x="28717" y="44344"/>
                </a:moveTo>
                <a:lnTo>
                  <a:pt x="12320" y="72473"/>
                </a:lnTo>
                <a:lnTo>
                  <a:pt x="45137" y="72473"/>
                </a:lnTo>
                <a:lnTo>
                  <a:pt x="28717" y="44344"/>
                </a:lnTo>
                <a:close/>
                <a:moveTo>
                  <a:pt x="204" y="76346"/>
                </a:moveTo>
                <a:cubicBezTo>
                  <a:pt x="-385" y="73854"/>
                  <a:pt x="430" y="71295"/>
                  <a:pt x="1721" y="69076"/>
                </a:cubicBezTo>
                <a:lnTo>
                  <a:pt x="23282" y="32115"/>
                </a:lnTo>
                <a:cubicBezTo>
                  <a:pt x="24414" y="30167"/>
                  <a:pt x="26498" y="28989"/>
                  <a:pt x="28740" y="28989"/>
                </a:cubicBezTo>
                <a:cubicBezTo>
                  <a:pt x="30982" y="28989"/>
                  <a:pt x="33066" y="30189"/>
                  <a:pt x="34198" y="32115"/>
                </a:cubicBezTo>
                <a:lnTo>
                  <a:pt x="55759" y="69076"/>
                </a:lnTo>
                <a:cubicBezTo>
                  <a:pt x="57050" y="71295"/>
                  <a:pt x="57865" y="73854"/>
                  <a:pt x="57276" y="76346"/>
                </a:cubicBezTo>
                <a:cubicBezTo>
                  <a:pt x="54830" y="86492"/>
                  <a:pt x="42985" y="94215"/>
                  <a:pt x="28740" y="94215"/>
                </a:cubicBezTo>
                <a:cubicBezTo>
                  <a:pt x="14495" y="94215"/>
                  <a:pt x="2650" y="86514"/>
                  <a:pt x="204" y="7634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894522" y="2087217"/>
            <a:ext cx="189671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4522" y="2286000"/>
            <a:ext cx="1888435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to justify automated decisions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087" y="2584174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32522" y="0"/>
                </a:moveTo>
                <a:lnTo>
                  <a:pt x="132522" y="0"/>
                </a:lnTo>
                <a:cubicBezTo>
                  <a:pt x="205711" y="0"/>
                  <a:pt x="265043" y="59332"/>
                  <a:pt x="265043" y="132522"/>
                </a:cubicBezTo>
                <a:lnTo>
                  <a:pt x="265043" y="132522"/>
                </a:lnTo>
                <a:cubicBezTo>
                  <a:pt x="265043" y="205711"/>
                  <a:pt x="205711" y="265043"/>
                  <a:pt x="132522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6701" y="2658717"/>
            <a:ext cx="115957" cy="115957"/>
          </a:xfrm>
          <a:custGeom>
            <a:avLst/>
            <a:gdLst/>
            <a:ahLst/>
            <a:cxnLst/>
            <a:rect l="l" t="t" r="r" b="b"/>
            <a:pathLst>
              <a:path w="115957" h="115957">
                <a:moveTo>
                  <a:pt x="94215" y="47107"/>
                </a:moveTo>
                <a:cubicBezTo>
                  <a:pt x="94215" y="57503"/>
                  <a:pt x="90840" y="67105"/>
                  <a:pt x="85156" y="74896"/>
                </a:cubicBezTo>
                <a:lnTo>
                  <a:pt x="113828" y="103591"/>
                </a:lnTo>
                <a:cubicBezTo>
                  <a:pt x="116659" y="106422"/>
                  <a:pt x="116659" y="111019"/>
                  <a:pt x="113828" y="113850"/>
                </a:cubicBezTo>
                <a:cubicBezTo>
                  <a:pt x="110997" y="116681"/>
                  <a:pt x="106399" y="116681"/>
                  <a:pt x="103568" y="113850"/>
                </a:cubicBezTo>
                <a:lnTo>
                  <a:pt x="74896" y="85156"/>
                </a:lnTo>
                <a:cubicBezTo>
                  <a:pt x="67105" y="90840"/>
                  <a:pt x="57503" y="94215"/>
                  <a:pt x="47107" y="94215"/>
                </a:cubicBezTo>
                <a:cubicBezTo>
                  <a:pt x="21085" y="94215"/>
                  <a:pt x="0" y="73130"/>
                  <a:pt x="0" y="47107"/>
                </a:cubicBezTo>
                <a:cubicBezTo>
                  <a:pt x="0" y="21085"/>
                  <a:pt x="21085" y="0"/>
                  <a:pt x="47107" y="0"/>
                </a:cubicBezTo>
                <a:cubicBezTo>
                  <a:pt x="73130" y="0"/>
                  <a:pt x="94215" y="21085"/>
                  <a:pt x="94215" y="47107"/>
                </a:cubicBezTo>
                <a:close/>
                <a:moveTo>
                  <a:pt x="47107" y="79720"/>
                </a:moveTo>
                <a:cubicBezTo>
                  <a:pt x="65107" y="79720"/>
                  <a:pt x="79720" y="65107"/>
                  <a:pt x="79720" y="47107"/>
                </a:cubicBezTo>
                <a:cubicBezTo>
                  <a:pt x="79720" y="29108"/>
                  <a:pt x="65107" y="14495"/>
                  <a:pt x="47107" y="14495"/>
                </a:cubicBezTo>
                <a:cubicBezTo>
                  <a:pt x="29108" y="14495"/>
                  <a:pt x="14495" y="29108"/>
                  <a:pt x="14495" y="47107"/>
                </a:cubicBezTo>
                <a:cubicBezTo>
                  <a:pt x="14495" y="65107"/>
                  <a:pt x="29108" y="79720"/>
                  <a:pt x="47107" y="7972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894522" y="2551043"/>
            <a:ext cx="2054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 &amp; Improvement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4522" y="2749826"/>
            <a:ext cx="2045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model weaknesses and biases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087" y="3048000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32522" y="0"/>
                </a:moveTo>
                <a:lnTo>
                  <a:pt x="132522" y="0"/>
                </a:lnTo>
                <a:cubicBezTo>
                  <a:pt x="205711" y="0"/>
                  <a:pt x="265043" y="59332"/>
                  <a:pt x="265043" y="132522"/>
                </a:cubicBezTo>
                <a:lnTo>
                  <a:pt x="265043" y="132522"/>
                </a:lnTo>
                <a:cubicBezTo>
                  <a:pt x="265043" y="205711"/>
                  <a:pt x="205711" y="265043"/>
                  <a:pt x="132522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9454" y="3122543"/>
            <a:ext cx="130451" cy="115957"/>
          </a:xfrm>
          <a:custGeom>
            <a:avLst/>
            <a:gdLst/>
            <a:ahLst/>
            <a:cxnLst/>
            <a:rect l="l" t="t" r="r" b="b"/>
            <a:pathLst>
              <a:path w="130451" h="115957">
                <a:moveTo>
                  <a:pt x="10871" y="44344"/>
                </a:moveTo>
                <a:lnTo>
                  <a:pt x="58250" y="63844"/>
                </a:lnTo>
                <a:cubicBezTo>
                  <a:pt x="60470" y="64750"/>
                  <a:pt x="62825" y="65226"/>
                  <a:pt x="65226" y="65226"/>
                </a:cubicBezTo>
                <a:cubicBezTo>
                  <a:pt x="67626" y="65226"/>
                  <a:pt x="69982" y="64750"/>
                  <a:pt x="72201" y="63844"/>
                </a:cubicBezTo>
                <a:lnTo>
                  <a:pt x="127099" y="41242"/>
                </a:lnTo>
                <a:cubicBezTo>
                  <a:pt x="129138" y="40404"/>
                  <a:pt x="130451" y="38433"/>
                  <a:pt x="130451" y="36236"/>
                </a:cubicBezTo>
                <a:cubicBezTo>
                  <a:pt x="130451" y="34040"/>
                  <a:pt x="129138" y="32069"/>
                  <a:pt x="127099" y="31231"/>
                </a:cubicBezTo>
                <a:lnTo>
                  <a:pt x="72201" y="8629"/>
                </a:lnTo>
                <a:cubicBezTo>
                  <a:pt x="69982" y="7723"/>
                  <a:pt x="67626" y="7247"/>
                  <a:pt x="65226" y="7247"/>
                </a:cubicBezTo>
                <a:cubicBezTo>
                  <a:pt x="62825" y="7247"/>
                  <a:pt x="60470" y="7723"/>
                  <a:pt x="58250" y="8629"/>
                </a:cubicBezTo>
                <a:lnTo>
                  <a:pt x="3352" y="31231"/>
                </a:lnTo>
                <a:cubicBezTo>
                  <a:pt x="1314" y="32069"/>
                  <a:pt x="0" y="34040"/>
                  <a:pt x="0" y="36236"/>
                </a:cubicBezTo>
                <a:lnTo>
                  <a:pt x="0" y="103274"/>
                </a:lnTo>
                <a:cubicBezTo>
                  <a:pt x="0" y="106286"/>
                  <a:pt x="2423" y="108709"/>
                  <a:pt x="5435" y="108709"/>
                </a:cubicBezTo>
                <a:cubicBezTo>
                  <a:pt x="8448" y="108709"/>
                  <a:pt x="10871" y="106286"/>
                  <a:pt x="10871" y="103274"/>
                </a:cubicBezTo>
                <a:lnTo>
                  <a:pt x="10871" y="44344"/>
                </a:lnTo>
                <a:close/>
                <a:moveTo>
                  <a:pt x="21742" y="60583"/>
                </a:moveTo>
                <a:lnTo>
                  <a:pt x="21742" y="86967"/>
                </a:lnTo>
                <a:cubicBezTo>
                  <a:pt x="21742" y="98971"/>
                  <a:pt x="41219" y="108709"/>
                  <a:pt x="65226" y="108709"/>
                </a:cubicBezTo>
                <a:cubicBezTo>
                  <a:pt x="89232" y="108709"/>
                  <a:pt x="108709" y="98971"/>
                  <a:pt x="108709" y="86967"/>
                </a:cubicBezTo>
                <a:lnTo>
                  <a:pt x="108709" y="60560"/>
                </a:lnTo>
                <a:lnTo>
                  <a:pt x="76346" y="73900"/>
                </a:lnTo>
                <a:cubicBezTo>
                  <a:pt x="72813" y="75349"/>
                  <a:pt x="69053" y="76096"/>
                  <a:pt x="65226" y="76096"/>
                </a:cubicBezTo>
                <a:cubicBezTo>
                  <a:pt x="61398" y="76096"/>
                  <a:pt x="57639" y="75349"/>
                  <a:pt x="54105" y="73900"/>
                </a:cubicBezTo>
                <a:lnTo>
                  <a:pt x="21742" y="6056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894522" y="3014870"/>
            <a:ext cx="2410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Education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4522" y="3213652"/>
            <a:ext cx="240195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users understand why content is flagged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1304" y="3677478"/>
            <a:ext cx="5681870" cy="1093304"/>
          </a:xfrm>
          <a:custGeom>
            <a:avLst/>
            <a:gdLst/>
            <a:ahLst/>
            <a:cxnLst/>
            <a:rect l="l" t="t" r="r" b="b"/>
            <a:pathLst>
              <a:path w="5681870" h="1093304">
                <a:moveTo>
                  <a:pt x="66265" y="0"/>
                </a:moveTo>
                <a:lnTo>
                  <a:pt x="5615604" y="0"/>
                </a:lnTo>
                <a:cubicBezTo>
                  <a:pt x="5652202" y="0"/>
                  <a:pt x="5681870" y="29668"/>
                  <a:pt x="5681870" y="66265"/>
                </a:cubicBezTo>
                <a:lnTo>
                  <a:pt x="5681870" y="1027039"/>
                </a:lnTo>
                <a:cubicBezTo>
                  <a:pt x="5681870" y="1063636"/>
                  <a:pt x="5652202" y="1093304"/>
                  <a:pt x="5615604" y="1093304"/>
                </a:cubicBezTo>
                <a:lnTo>
                  <a:pt x="66265" y="1093304"/>
                </a:lnTo>
                <a:cubicBezTo>
                  <a:pt x="29668" y="1093304"/>
                  <a:pt x="0" y="1063636"/>
                  <a:pt x="0" y="1027039"/>
                </a:cubicBezTo>
                <a:lnTo>
                  <a:pt x="0" y="66265"/>
                </a:lnTo>
                <a:cubicBezTo>
                  <a:pt x="0" y="29692"/>
                  <a:pt x="29692" y="0"/>
                  <a:pt x="6626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6957" y="3843130"/>
            <a:ext cx="5425109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SHAP: Unified Approach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6957" y="4174435"/>
            <a:ext cx="5416826" cy="43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(SHapley Additive exPlanations) provides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and locally accurate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attribution for any model type.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391" y="1093304"/>
            <a:ext cx="5665304" cy="3180522"/>
          </a:xfrm>
          <a:custGeom>
            <a:avLst/>
            <a:gdLst/>
            <a:ahLst/>
            <a:cxnLst/>
            <a:rect l="l" t="t" r="r" b="b"/>
            <a:pathLst>
              <a:path w="5665304" h="3180522">
                <a:moveTo>
                  <a:pt x="33130" y="0"/>
                </a:moveTo>
                <a:lnTo>
                  <a:pt x="5599054" y="0"/>
                </a:lnTo>
                <a:cubicBezTo>
                  <a:pt x="5635643" y="0"/>
                  <a:pt x="5665304" y="29661"/>
                  <a:pt x="5665304" y="66250"/>
                </a:cubicBezTo>
                <a:lnTo>
                  <a:pt x="5665304" y="3114271"/>
                </a:lnTo>
                <a:cubicBezTo>
                  <a:pt x="5665304" y="3150860"/>
                  <a:pt x="5635643" y="3180522"/>
                  <a:pt x="5599054" y="3180522"/>
                </a:cubicBezTo>
                <a:lnTo>
                  <a:pt x="33130" y="3180522"/>
                </a:lnTo>
                <a:cubicBezTo>
                  <a:pt x="14833" y="3180522"/>
                  <a:pt x="0" y="3165689"/>
                  <a:pt x="0" y="3147391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95391" y="1093304"/>
            <a:ext cx="33130" cy="3180522"/>
          </a:xfrm>
          <a:custGeom>
            <a:avLst/>
            <a:gdLst/>
            <a:ahLst/>
            <a:cxnLst/>
            <a:rect l="l" t="t" r="r" b="b"/>
            <a:pathLst>
              <a:path w="33130" h="3180522">
                <a:moveTo>
                  <a:pt x="33130" y="0"/>
                </a:moveTo>
                <a:lnTo>
                  <a:pt x="33130" y="0"/>
                </a:lnTo>
                <a:lnTo>
                  <a:pt x="33130" y="3180522"/>
                </a:lnTo>
                <a:lnTo>
                  <a:pt x="33130" y="3180522"/>
                </a:lnTo>
                <a:cubicBezTo>
                  <a:pt x="14833" y="3180522"/>
                  <a:pt x="0" y="3165689"/>
                  <a:pt x="0" y="3147391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377609" y="1258957"/>
            <a:ext cx="54002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Techniques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7609" y="1623391"/>
            <a:ext cx="5317435" cy="762000"/>
          </a:xfrm>
          <a:custGeom>
            <a:avLst/>
            <a:gdLst/>
            <a:ahLst/>
            <a:cxnLst/>
            <a:rect l="l" t="t" r="r" b="b"/>
            <a:pathLst>
              <a:path w="5317435" h="762000">
                <a:moveTo>
                  <a:pt x="33132" y="0"/>
                </a:moveTo>
                <a:lnTo>
                  <a:pt x="5284303" y="0"/>
                </a:lnTo>
                <a:cubicBezTo>
                  <a:pt x="5302601" y="0"/>
                  <a:pt x="5317435" y="14834"/>
                  <a:pt x="5317435" y="33132"/>
                </a:cubicBezTo>
                <a:lnTo>
                  <a:pt x="5317435" y="728868"/>
                </a:lnTo>
                <a:cubicBezTo>
                  <a:pt x="5317435" y="747166"/>
                  <a:pt x="5302601" y="762000"/>
                  <a:pt x="5284303" y="762000"/>
                </a:cubicBezTo>
                <a:lnTo>
                  <a:pt x="33132" y="762000"/>
                </a:lnTo>
                <a:cubicBezTo>
                  <a:pt x="14834" y="762000"/>
                  <a:pt x="0" y="747166"/>
                  <a:pt x="0" y="728868"/>
                </a:cubicBezTo>
                <a:lnTo>
                  <a:pt x="0" y="33132"/>
                </a:lnTo>
                <a:cubicBezTo>
                  <a:pt x="0" y="14846"/>
                  <a:pt x="14846" y="0"/>
                  <a:pt x="331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7000" y="1722783"/>
            <a:ext cx="38100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25523" y="1722783"/>
            <a:ext cx="372717" cy="198783"/>
          </a:xfrm>
          <a:custGeom>
            <a:avLst/>
            <a:gdLst/>
            <a:ahLst/>
            <a:cxnLst/>
            <a:rect l="l" t="t" r="r" b="b"/>
            <a:pathLst>
              <a:path w="372717" h="198783">
                <a:moveTo>
                  <a:pt x="33131" y="0"/>
                </a:moveTo>
                <a:lnTo>
                  <a:pt x="339586" y="0"/>
                </a:lnTo>
                <a:cubicBezTo>
                  <a:pt x="357884" y="0"/>
                  <a:pt x="372717" y="14833"/>
                  <a:pt x="372717" y="33131"/>
                </a:cubicBezTo>
                <a:lnTo>
                  <a:pt x="372717" y="165652"/>
                </a:lnTo>
                <a:cubicBezTo>
                  <a:pt x="372717" y="183949"/>
                  <a:pt x="357884" y="198783"/>
                  <a:pt x="339586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225523" y="1722783"/>
            <a:ext cx="422413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0" y="1954696"/>
            <a:ext cx="517663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Interpretable Model-agnostic Explanations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2153478"/>
            <a:ext cx="5168348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Nabożny et al. (2022) for medical expert efficiency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7609" y="2484677"/>
            <a:ext cx="5317435" cy="762000"/>
          </a:xfrm>
          <a:custGeom>
            <a:avLst/>
            <a:gdLst/>
            <a:ahLst/>
            <a:cxnLst/>
            <a:rect l="l" t="t" r="r" b="b"/>
            <a:pathLst>
              <a:path w="5317435" h="762000">
                <a:moveTo>
                  <a:pt x="33132" y="0"/>
                </a:moveTo>
                <a:lnTo>
                  <a:pt x="5284303" y="0"/>
                </a:lnTo>
                <a:cubicBezTo>
                  <a:pt x="5302601" y="0"/>
                  <a:pt x="5317435" y="14834"/>
                  <a:pt x="5317435" y="33132"/>
                </a:cubicBezTo>
                <a:lnTo>
                  <a:pt x="5317435" y="728868"/>
                </a:lnTo>
                <a:cubicBezTo>
                  <a:pt x="5317435" y="747166"/>
                  <a:pt x="5302601" y="762000"/>
                  <a:pt x="5284303" y="762000"/>
                </a:cubicBezTo>
                <a:lnTo>
                  <a:pt x="33132" y="762000"/>
                </a:lnTo>
                <a:cubicBezTo>
                  <a:pt x="14834" y="762000"/>
                  <a:pt x="0" y="747166"/>
                  <a:pt x="0" y="728868"/>
                </a:cubicBezTo>
                <a:lnTo>
                  <a:pt x="0" y="33132"/>
                </a:lnTo>
                <a:cubicBezTo>
                  <a:pt x="0" y="14846"/>
                  <a:pt x="14846" y="0"/>
                  <a:pt x="331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77000" y="2584069"/>
            <a:ext cx="1490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Visualization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921862" y="2584069"/>
            <a:ext cx="670891" cy="198783"/>
          </a:xfrm>
          <a:custGeom>
            <a:avLst/>
            <a:gdLst/>
            <a:ahLst/>
            <a:cxnLst/>
            <a:rect l="l" t="t" r="r" b="b"/>
            <a:pathLst>
              <a:path w="670891" h="198783">
                <a:moveTo>
                  <a:pt x="33131" y="0"/>
                </a:moveTo>
                <a:lnTo>
                  <a:pt x="637760" y="0"/>
                </a:lnTo>
                <a:cubicBezTo>
                  <a:pt x="656058" y="0"/>
                  <a:pt x="670891" y="14833"/>
                  <a:pt x="670891" y="33131"/>
                </a:cubicBezTo>
                <a:lnTo>
                  <a:pt x="670891" y="165652"/>
                </a:lnTo>
                <a:cubicBezTo>
                  <a:pt x="670891" y="183949"/>
                  <a:pt x="656058" y="198783"/>
                  <a:pt x="637760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921862" y="2584069"/>
            <a:ext cx="720587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2815982"/>
            <a:ext cx="517663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words/phrases the model focuses 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0" y="3014764"/>
            <a:ext cx="5168348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into self-attention mechanism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7609" y="3345972"/>
            <a:ext cx="5317435" cy="762000"/>
          </a:xfrm>
          <a:custGeom>
            <a:avLst/>
            <a:gdLst/>
            <a:ahLst/>
            <a:cxnLst/>
            <a:rect l="l" t="t" r="r" b="b"/>
            <a:pathLst>
              <a:path w="5317435" h="762000">
                <a:moveTo>
                  <a:pt x="33132" y="0"/>
                </a:moveTo>
                <a:lnTo>
                  <a:pt x="5284303" y="0"/>
                </a:lnTo>
                <a:cubicBezTo>
                  <a:pt x="5302601" y="0"/>
                  <a:pt x="5317435" y="14834"/>
                  <a:pt x="5317435" y="33132"/>
                </a:cubicBezTo>
                <a:lnTo>
                  <a:pt x="5317435" y="728868"/>
                </a:lnTo>
                <a:cubicBezTo>
                  <a:pt x="5317435" y="747166"/>
                  <a:pt x="5302601" y="762000"/>
                  <a:pt x="5284303" y="762000"/>
                </a:cubicBezTo>
                <a:lnTo>
                  <a:pt x="33132" y="762000"/>
                </a:lnTo>
                <a:cubicBezTo>
                  <a:pt x="14834" y="762000"/>
                  <a:pt x="0" y="747166"/>
                  <a:pt x="0" y="728868"/>
                </a:cubicBezTo>
                <a:lnTo>
                  <a:pt x="0" y="33132"/>
                </a:lnTo>
                <a:cubicBezTo>
                  <a:pt x="0" y="14846"/>
                  <a:pt x="14846" y="0"/>
                  <a:pt x="331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77000" y="3445363"/>
            <a:ext cx="977348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Saliency Maps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81820" y="3445363"/>
            <a:ext cx="513522" cy="198783"/>
          </a:xfrm>
          <a:custGeom>
            <a:avLst/>
            <a:gdLst/>
            <a:ahLst/>
            <a:cxnLst/>
            <a:rect l="l" t="t" r="r" b="b"/>
            <a:pathLst>
              <a:path w="513522" h="198783">
                <a:moveTo>
                  <a:pt x="33131" y="0"/>
                </a:moveTo>
                <a:lnTo>
                  <a:pt x="480391" y="0"/>
                </a:lnTo>
                <a:cubicBezTo>
                  <a:pt x="498688" y="0"/>
                  <a:pt x="513522" y="14833"/>
                  <a:pt x="513522" y="33131"/>
                </a:cubicBezTo>
                <a:lnTo>
                  <a:pt x="513522" y="165652"/>
                </a:lnTo>
                <a:cubicBezTo>
                  <a:pt x="513522" y="183949"/>
                  <a:pt x="498688" y="198783"/>
                  <a:pt x="480391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1081820" y="3445363"/>
            <a:ext cx="563217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3677276"/>
            <a:ext cx="517663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Gradient-based feature importance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7000" y="3876059"/>
            <a:ext cx="5168348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which input features influence predictions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2139" y="4409354"/>
            <a:ext cx="5671930" cy="1099930"/>
          </a:xfrm>
          <a:custGeom>
            <a:avLst/>
            <a:gdLst/>
            <a:ahLst/>
            <a:cxnLst/>
            <a:rect l="l" t="t" r="r" b="b"/>
            <a:pathLst>
              <a:path w="5671930" h="1099930">
                <a:moveTo>
                  <a:pt x="66260" y="0"/>
                </a:moveTo>
                <a:lnTo>
                  <a:pt x="5605671" y="0"/>
                </a:lnTo>
                <a:cubicBezTo>
                  <a:pt x="5642265" y="0"/>
                  <a:pt x="5671930" y="29666"/>
                  <a:pt x="5671930" y="66260"/>
                </a:cubicBezTo>
                <a:lnTo>
                  <a:pt x="5671930" y="1033671"/>
                </a:lnTo>
                <a:cubicBezTo>
                  <a:pt x="5671930" y="1070265"/>
                  <a:pt x="5642265" y="1099930"/>
                  <a:pt x="5605671" y="1099930"/>
                </a:cubicBezTo>
                <a:lnTo>
                  <a:pt x="66260" y="1099930"/>
                </a:lnTo>
                <a:cubicBezTo>
                  <a:pt x="29666" y="1099930"/>
                  <a:pt x="0" y="1070265"/>
                  <a:pt x="0" y="1033671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1104" y="4578317"/>
            <a:ext cx="5408543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Finding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1104" y="4909621"/>
            <a:ext cx="5400261" cy="43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emphasize that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techniques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crucial for healthcare applications, enabling medical experts to verify automated decisions and maintain human oversight.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47870" y="5645115"/>
            <a:ext cx="11512826" cy="662609"/>
          </a:xfrm>
          <a:custGeom>
            <a:avLst/>
            <a:gdLst/>
            <a:ahLst/>
            <a:cxnLst/>
            <a:rect l="l" t="t" r="r" b="b"/>
            <a:pathLst>
              <a:path w="11512826" h="662609">
                <a:moveTo>
                  <a:pt x="33130" y="0"/>
                </a:moveTo>
                <a:lnTo>
                  <a:pt x="11446565" y="0"/>
                </a:lnTo>
                <a:cubicBezTo>
                  <a:pt x="11483160" y="0"/>
                  <a:pt x="11512826" y="29666"/>
                  <a:pt x="11512826" y="66261"/>
                </a:cubicBezTo>
                <a:lnTo>
                  <a:pt x="11512826" y="596348"/>
                </a:lnTo>
                <a:cubicBezTo>
                  <a:pt x="11512826" y="632943"/>
                  <a:pt x="11483160" y="662609"/>
                  <a:pt x="11446565" y="662609"/>
                </a:cubicBezTo>
                <a:lnTo>
                  <a:pt x="33130" y="662609"/>
                </a:lnTo>
                <a:cubicBezTo>
                  <a:pt x="14833" y="662609"/>
                  <a:pt x="0" y="647776"/>
                  <a:pt x="0" y="629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47870" y="5645115"/>
            <a:ext cx="33130" cy="662609"/>
          </a:xfrm>
          <a:custGeom>
            <a:avLst/>
            <a:gdLst/>
            <a:ahLst/>
            <a:cxnLst/>
            <a:rect l="l" t="t" r="r" b="b"/>
            <a:pathLst>
              <a:path w="33130" h="662609">
                <a:moveTo>
                  <a:pt x="33130" y="0"/>
                </a:moveTo>
                <a:lnTo>
                  <a:pt x="33130" y="0"/>
                </a:lnTo>
                <a:lnTo>
                  <a:pt x="33130" y="662609"/>
                </a:lnTo>
                <a:lnTo>
                  <a:pt x="33130" y="662609"/>
                </a:lnTo>
                <a:cubicBezTo>
                  <a:pt x="14833" y="662609"/>
                  <a:pt x="0" y="647776"/>
                  <a:pt x="0" y="629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Shape 50"/>
          <p:cNvSpPr/>
          <p:nvPr/>
        </p:nvSpPr>
        <p:spPr>
          <a:xfrm>
            <a:off x="521804" y="5810768"/>
            <a:ext cx="115957" cy="132522"/>
          </a:xfrm>
          <a:custGeom>
            <a:avLst/>
            <a:gdLst/>
            <a:ahLst/>
            <a:cxnLst/>
            <a:rect l="l" t="t" r="r" b="b"/>
            <a:pathLst>
              <a:path w="115957" h="132522">
                <a:moveTo>
                  <a:pt x="0" y="55908"/>
                </a:moveTo>
                <a:cubicBezTo>
                  <a:pt x="0" y="38747"/>
                  <a:pt x="13899" y="24848"/>
                  <a:pt x="31060" y="24848"/>
                </a:cubicBezTo>
                <a:lnTo>
                  <a:pt x="33130" y="24848"/>
                </a:lnTo>
                <a:cubicBezTo>
                  <a:pt x="37712" y="24848"/>
                  <a:pt x="41413" y="28549"/>
                  <a:pt x="41413" y="33130"/>
                </a:cubicBezTo>
                <a:cubicBezTo>
                  <a:pt x="41413" y="37712"/>
                  <a:pt x="37712" y="41413"/>
                  <a:pt x="33130" y="41413"/>
                </a:cubicBezTo>
                <a:lnTo>
                  <a:pt x="31060" y="41413"/>
                </a:lnTo>
                <a:cubicBezTo>
                  <a:pt x="23062" y="41413"/>
                  <a:pt x="16565" y="47910"/>
                  <a:pt x="16565" y="55908"/>
                </a:cubicBezTo>
                <a:lnTo>
                  <a:pt x="16565" y="57978"/>
                </a:lnTo>
                <a:lnTo>
                  <a:pt x="33130" y="57978"/>
                </a:lnTo>
                <a:cubicBezTo>
                  <a:pt x="42267" y="57978"/>
                  <a:pt x="49696" y="65407"/>
                  <a:pt x="49696" y="74543"/>
                </a:cubicBezTo>
                <a:lnTo>
                  <a:pt x="49696" y="91109"/>
                </a:lnTo>
                <a:cubicBezTo>
                  <a:pt x="49696" y="100245"/>
                  <a:pt x="42267" y="107674"/>
                  <a:pt x="33130" y="107674"/>
                </a:cubicBezTo>
                <a:lnTo>
                  <a:pt x="16565" y="107674"/>
                </a:lnTo>
                <a:cubicBezTo>
                  <a:pt x="7428" y="107674"/>
                  <a:pt x="0" y="100245"/>
                  <a:pt x="0" y="91109"/>
                </a:cubicBezTo>
                <a:lnTo>
                  <a:pt x="0" y="55908"/>
                </a:lnTo>
                <a:close/>
                <a:moveTo>
                  <a:pt x="66261" y="55908"/>
                </a:moveTo>
                <a:cubicBezTo>
                  <a:pt x="66261" y="38747"/>
                  <a:pt x="80160" y="24848"/>
                  <a:pt x="97321" y="24848"/>
                </a:cubicBezTo>
                <a:lnTo>
                  <a:pt x="99391" y="24848"/>
                </a:lnTo>
                <a:cubicBezTo>
                  <a:pt x="103973" y="24848"/>
                  <a:pt x="107674" y="28549"/>
                  <a:pt x="107674" y="33130"/>
                </a:cubicBezTo>
                <a:cubicBezTo>
                  <a:pt x="107674" y="37712"/>
                  <a:pt x="103973" y="41413"/>
                  <a:pt x="99391" y="41413"/>
                </a:cubicBezTo>
                <a:lnTo>
                  <a:pt x="97321" y="41413"/>
                </a:lnTo>
                <a:cubicBezTo>
                  <a:pt x="89323" y="41413"/>
                  <a:pt x="82826" y="47910"/>
                  <a:pt x="82826" y="55908"/>
                </a:cubicBezTo>
                <a:lnTo>
                  <a:pt x="82826" y="57978"/>
                </a:lnTo>
                <a:lnTo>
                  <a:pt x="99391" y="57978"/>
                </a:lnTo>
                <a:cubicBezTo>
                  <a:pt x="108528" y="57978"/>
                  <a:pt x="115957" y="65407"/>
                  <a:pt x="115957" y="74543"/>
                </a:cubicBezTo>
                <a:lnTo>
                  <a:pt x="115957" y="91109"/>
                </a:lnTo>
                <a:cubicBezTo>
                  <a:pt x="115957" y="100245"/>
                  <a:pt x="108528" y="107674"/>
                  <a:pt x="99391" y="107674"/>
                </a:cubicBezTo>
                <a:lnTo>
                  <a:pt x="82826" y="107674"/>
                </a:lnTo>
                <a:cubicBezTo>
                  <a:pt x="73689" y="107674"/>
                  <a:pt x="66261" y="100245"/>
                  <a:pt x="66261" y="91109"/>
                </a:cubicBezTo>
                <a:lnTo>
                  <a:pt x="66261" y="5590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Text 51"/>
          <p:cNvSpPr/>
          <p:nvPr/>
        </p:nvSpPr>
        <p:spPr>
          <a:xfrm>
            <a:off x="765727" y="5804143"/>
            <a:ext cx="9942754" cy="14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D99A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"Explainability techniques such as SHAP improve transparency in transformer-based models, which is essential for building trust in automated health misinformation detection systems."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96957" y="5817392"/>
            <a:ext cx="1111018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Schlicht et al., 2023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hapter3_imag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81175"/>
            <a:ext cx="1819275" cy="381000"/>
          </a:xfrm>
          <a:custGeom>
            <a:avLst/>
            <a:gdLst/>
            <a:ahLst/>
            <a:cxnLst/>
            <a:rect l="l" t="t" r="r" b="b"/>
            <a:pathLst>
              <a:path w="1819275" h="381000">
                <a:moveTo>
                  <a:pt x="0" y="0"/>
                </a:moveTo>
                <a:lnTo>
                  <a:pt x="1819275" y="0"/>
                </a:lnTo>
                <a:lnTo>
                  <a:pt x="18192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81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57375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90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Evaluation Frameworks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datasets, evaluation metrics, and assessment challenges in health misinformation research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513620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spc="119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Resources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678380"/>
            <a:ext cx="1160783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Health Misinformation Datasets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878" y="1224853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6878" y="1224853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Text 4"/>
          <p:cNvSpPr/>
          <p:nvPr/>
        </p:nvSpPr>
        <p:spPr>
          <a:xfrm>
            <a:off x="527629" y="1394448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FakeHealth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7629" y="1733638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health news articles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629" y="199745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74833" y="1997453"/>
            <a:ext cx="75375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Large-scale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629" y="222358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76855" y="2223580"/>
            <a:ext cx="95161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Health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629" y="2449706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1699" y="2449706"/>
            <a:ext cx="49936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7981" y="1224853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27981" y="1224853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Text 14"/>
          <p:cNvSpPr/>
          <p:nvPr/>
        </p:nvSpPr>
        <p:spPr>
          <a:xfrm>
            <a:off x="4378732" y="1394448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CoAID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78732" y="1733638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focused dataset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78732" y="199745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46057" y="1997453"/>
            <a:ext cx="53705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78732" y="222358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6848" y="2223580"/>
            <a:ext cx="6783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78732" y="2449706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1963" y="2449706"/>
            <a:ext cx="95161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+ Claims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79085" y="1224853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79085" y="1224853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836" y="1394448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ReCOVery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836" y="1733638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news with features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836" y="199745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97160" y="1997453"/>
            <a:ext cx="53705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836" y="222358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57952" y="2223580"/>
            <a:ext cx="6783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836" y="2449706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67392" y="2449706"/>
            <a:ext cx="86681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Articles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6878" y="2920804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76878" y="2920804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527629" y="3090399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COVIDLIES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7629" y="3429589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misinformation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7629" y="369340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96975" y="3693403"/>
            <a:ext cx="73491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7629" y="391953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55744" y="3919530"/>
            <a:ext cx="67838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7629" y="4145657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08880" y="4145657"/>
            <a:ext cx="81970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27981" y="2920804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27981" y="2920804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6" name="Text 44"/>
          <p:cNvSpPr/>
          <p:nvPr/>
        </p:nvSpPr>
        <p:spPr>
          <a:xfrm>
            <a:off x="4378732" y="3090399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PubHealth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78732" y="3429589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 claims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78732" y="369340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77847" y="3693403"/>
            <a:ext cx="40514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378732" y="391953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37960" y="3919530"/>
            <a:ext cx="84797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78732" y="4145657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12128" y="4145657"/>
            <a:ext cx="47109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79085" y="2920804"/>
            <a:ext cx="3740513" cy="1564043"/>
          </a:xfrm>
          <a:custGeom>
            <a:avLst/>
            <a:gdLst/>
            <a:ahLst/>
            <a:cxnLst/>
            <a:rect l="l" t="t" r="r" b="b"/>
            <a:pathLst>
              <a:path w="3740513" h="1564043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1488672"/>
                </a:lnTo>
                <a:cubicBezTo>
                  <a:pt x="3740513" y="1530298"/>
                  <a:pt x="3706768" y="1564043"/>
                  <a:pt x="3665142" y="1564043"/>
                </a:cubicBezTo>
                <a:lnTo>
                  <a:pt x="75371" y="1564043"/>
                </a:lnTo>
                <a:cubicBezTo>
                  <a:pt x="33745" y="1564043"/>
                  <a:pt x="0" y="1530298"/>
                  <a:pt x="0" y="148867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79085" y="2920804"/>
            <a:ext cx="3740513" cy="37688"/>
          </a:xfrm>
          <a:custGeom>
            <a:avLst/>
            <a:gdLst/>
            <a:ahLst/>
            <a:cxnLst/>
            <a:rect l="l" t="t" r="r" b="b"/>
            <a:pathLst>
              <a:path w="3740513" h="37688">
                <a:moveTo>
                  <a:pt x="37688" y="0"/>
                </a:moveTo>
                <a:lnTo>
                  <a:pt x="3702825" y="0"/>
                </a:lnTo>
                <a:cubicBezTo>
                  <a:pt x="3723640" y="0"/>
                  <a:pt x="3740513" y="16873"/>
                  <a:pt x="3740513" y="37688"/>
                </a:cubicBezTo>
                <a:lnTo>
                  <a:pt x="3740513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" name="Text 54"/>
          <p:cNvSpPr/>
          <p:nvPr/>
        </p:nvSpPr>
        <p:spPr>
          <a:xfrm>
            <a:off x="8229836" y="3090399"/>
            <a:ext cx="352380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HealthFact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29836" y="3429589"/>
            <a:ext cx="350496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Expert-annotated health claims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29836" y="3693403"/>
            <a:ext cx="35803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28950" y="3693403"/>
            <a:ext cx="40514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29836" y="3919530"/>
            <a:ext cx="5558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779061" y="3919530"/>
            <a:ext cx="95161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Health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29836" y="4145657"/>
            <a:ext cx="39572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845250" y="4145657"/>
            <a:ext cx="88566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Fact-Checked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76878" y="4597910"/>
            <a:ext cx="5662590" cy="1884389"/>
          </a:xfrm>
          <a:custGeom>
            <a:avLst/>
            <a:gdLst/>
            <a:ahLst/>
            <a:cxnLst/>
            <a:rect l="l" t="t" r="r" b="b"/>
            <a:pathLst>
              <a:path w="5662590" h="1884389">
                <a:moveTo>
                  <a:pt x="75376" y="0"/>
                </a:moveTo>
                <a:lnTo>
                  <a:pt x="5587215" y="0"/>
                </a:lnTo>
                <a:cubicBezTo>
                  <a:pt x="5628844" y="0"/>
                  <a:pt x="5662590" y="33747"/>
                  <a:pt x="5662590" y="75376"/>
                </a:cubicBezTo>
                <a:lnTo>
                  <a:pt x="5662590" y="1809014"/>
                </a:lnTo>
                <a:cubicBezTo>
                  <a:pt x="5662590" y="1850643"/>
                  <a:pt x="5628844" y="1884389"/>
                  <a:pt x="5587215" y="1884389"/>
                </a:cubicBezTo>
                <a:lnTo>
                  <a:pt x="75376" y="1884389"/>
                </a:lnTo>
                <a:cubicBezTo>
                  <a:pt x="33747" y="1884389"/>
                  <a:pt x="0" y="1850643"/>
                  <a:pt x="0" y="1809014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27629" y="4748662"/>
            <a:ext cx="544588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Datasets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27629" y="5125539"/>
            <a:ext cx="2647567" cy="565317"/>
          </a:xfrm>
          <a:custGeom>
            <a:avLst/>
            <a:gdLst/>
            <a:ahLst/>
            <a:cxnLst/>
            <a:rect l="l" t="t" r="r" b="b"/>
            <a:pathLst>
              <a:path w="2647567" h="565317">
                <a:moveTo>
                  <a:pt x="37690" y="0"/>
                </a:moveTo>
                <a:lnTo>
                  <a:pt x="2609878" y="0"/>
                </a:lnTo>
                <a:cubicBezTo>
                  <a:pt x="2630693" y="0"/>
                  <a:pt x="2647567" y="16874"/>
                  <a:pt x="2647567" y="37690"/>
                </a:cubicBezTo>
                <a:lnTo>
                  <a:pt x="2647567" y="527627"/>
                </a:lnTo>
                <a:cubicBezTo>
                  <a:pt x="2647567" y="548443"/>
                  <a:pt x="2630693" y="565317"/>
                  <a:pt x="260987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03005" y="5200915"/>
            <a:ext cx="257219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KEANE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03005" y="5427042"/>
            <a:ext cx="25627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Knowledge-aware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246332" y="5125539"/>
            <a:ext cx="2647567" cy="565317"/>
          </a:xfrm>
          <a:custGeom>
            <a:avLst/>
            <a:gdLst/>
            <a:ahLst/>
            <a:cxnLst/>
            <a:rect l="l" t="t" r="r" b="b"/>
            <a:pathLst>
              <a:path w="2647567" h="565317">
                <a:moveTo>
                  <a:pt x="37690" y="0"/>
                </a:moveTo>
                <a:lnTo>
                  <a:pt x="2609878" y="0"/>
                </a:lnTo>
                <a:cubicBezTo>
                  <a:pt x="2630693" y="0"/>
                  <a:pt x="2647567" y="16874"/>
                  <a:pt x="2647567" y="37690"/>
                </a:cubicBezTo>
                <a:lnTo>
                  <a:pt x="2647567" y="527627"/>
                </a:lnTo>
                <a:cubicBezTo>
                  <a:pt x="2647567" y="548443"/>
                  <a:pt x="2630693" y="565317"/>
                  <a:pt x="260987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321708" y="5200915"/>
            <a:ext cx="257219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MiSoVac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21708" y="5427042"/>
            <a:ext cx="25627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Vaccine-focused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27629" y="5766232"/>
            <a:ext cx="2647567" cy="565317"/>
          </a:xfrm>
          <a:custGeom>
            <a:avLst/>
            <a:gdLst/>
            <a:ahLst/>
            <a:cxnLst/>
            <a:rect l="l" t="t" r="r" b="b"/>
            <a:pathLst>
              <a:path w="2647567" h="565317">
                <a:moveTo>
                  <a:pt x="37690" y="0"/>
                </a:moveTo>
                <a:lnTo>
                  <a:pt x="2609878" y="0"/>
                </a:lnTo>
                <a:cubicBezTo>
                  <a:pt x="2630693" y="0"/>
                  <a:pt x="2647567" y="16874"/>
                  <a:pt x="2647567" y="37690"/>
                </a:cubicBezTo>
                <a:lnTo>
                  <a:pt x="2647567" y="527627"/>
                </a:lnTo>
                <a:cubicBezTo>
                  <a:pt x="2647567" y="548443"/>
                  <a:pt x="2630693" y="565317"/>
                  <a:pt x="260987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03005" y="5841607"/>
            <a:ext cx="257219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LIAR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03005" y="6067734"/>
            <a:ext cx="25627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Political health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246332" y="5766232"/>
            <a:ext cx="2647567" cy="565317"/>
          </a:xfrm>
          <a:custGeom>
            <a:avLst/>
            <a:gdLst/>
            <a:ahLst/>
            <a:cxnLst/>
            <a:rect l="l" t="t" r="r" b="b"/>
            <a:pathLst>
              <a:path w="2647567" h="565317">
                <a:moveTo>
                  <a:pt x="37690" y="0"/>
                </a:moveTo>
                <a:lnTo>
                  <a:pt x="2609878" y="0"/>
                </a:lnTo>
                <a:cubicBezTo>
                  <a:pt x="2630693" y="0"/>
                  <a:pt x="2647567" y="16874"/>
                  <a:pt x="2647567" y="37690"/>
                </a:cubicBezTo>
                <a:lnTo>
                  <a:pt x="2647567" y="527627"/>
                </a:lnTo>
                <a:cubicBezTo>
                  <a:pt x="2647567" y="548443"/>
                  <a:pt x="2630693" y="565317"/>
                  <a:pt x="2609878" y="565317"/>
                </a:cubicBezTo>
                <a:lnTo>
                  <a:pt x="37690" y="565317"/>
                </a:lnTo>
                <a:cubicBezTo>
                  <a:pt x="16874" y="565317"/>
                  <a:pt x="0" y="548443"/>
                  <a:pt x="0" y="527627"/>
                </a:cubicBezTo>
                <a:lnTo>
                  <a:pt x="0" y="37690"/>
                </a:lnTo>
                <a:cubicBezTo>
                  <a:pt x="0" y="16888"/>
                  <a:pt x="16888" y="0"/>
                  <a:pt x="376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3321708" y="5841607"/>
            <a:ext cx="257219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FakeCovid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321708" y="6067734"/>
            <a:ext cx="25627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57243" y="4601679"/>
            <a:ext cx="5660706" cy="1873083"/>
          </a:xfrm>
          <a:custGeom>
            <a:avLst/>
            <a:gdLst/>
            <a:ahLst/>
            <a:cxnLst/>
            <a:rect l="l" t="t" r="r" b="b"/>
            <a:pathLst>
              <a:path w="5660706" h="1873083">
                <a:moveTo>
                  <a:pt x="75373" y="0"/>
                </a:moveTo>
                <a:lnTo>
                  <a:pt x="5585333" y="0"/>
                </a:lnTo>
                <a:cubicBezTo>
                  <a:pt x="5626960" y="0"/>
                  <a:pt x="5660706" y="33746"/>
                  <a:pt x="5660706" y="75373"/>
                </a:cubicBezTo>
                <a:lnTo>
                  <a:pt x="5660706" y="1797710"/>
                </a:lnTo>
                <a:cubicBezTo>
                  <a:pt x="5660706" y="1839338"/>
                  <a:pt x="5626960" y="1873083"/>
                  <a:pt x="5585333" y="1873083"/>
                </a:cubicBezTo>
                <a:lnTo>
                  <a:pt x="75373" y="1873083"/>
                </a:lnTo>
                <a:cubicBezTo>
                  <a:pt x="33746" y="1873083"/>
                  <a:pt x="0" y="1839338"/>
                  <a:pt x="0" y="1797710"/>
                </a:cubicBezTo>
                <a:lnTo>
                  <a:pt x="0" y="75373"/>
                </a:lnTo>
                <a:cubicBezTo>
                  <a:pt x="0" y="33773"/>
                  <a:pt x="33773" y="0"/>
                  <a:pt x="75373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11763" y="4756197"/>
            <a:ext cx="543646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311763" y="5151919"/>
            <a:ext cx="175248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Datasets Reviewed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339078" y="5133075"/>
            <a:ext cx="41456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19+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311763" y="5491109"/>
            <a:ext cx="139444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Focused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171604" y="5472265"/>
            <a:ext cx="584161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~70%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11763" y="5830299"/>
            <a:ext cx="125311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Publicly Available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219184" y="5811455"/>
            <a:ext cx="537051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Issues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 Characteristics &amp;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3886200"/>
          </a:xfrm>
          <a:custGeom>
            <a:avLst/>
            <a:gdLst/>
            <a:ahLst/>
            <a:cxnLst/>
            <a:rect l="l" t="t" r="r" b="b"/>
            <a:pathLst>
              <a:path w="5600700" h="3886200">
                <a:moveTo>
                  <a:pt x="38100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809992"/>
                </a:lnTo>
                <a:cubicBezTo>
                  <a:pt x="5600700" y="3852080"/>
                  <a:pt x="5566580" y="3886200"/>
                  <a:pt x="5524492" y="3886200"/>
                </a:cubicBezTo>
                <a:lnTo>
                  <a:pt x="38100" y="3886200"/>
                </a:lnTo>
                <a:cubicBezTo>
                  <a:pt x="17072" y="3886200"/>
                  <a:pt x="0" y="3869128"/>
                  <a:pt x="0" y="384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3886200"/>
          </a:xfrm>
          <a:custGeom>
            <a:avLst/>
            <a:gdLst/>
            <a:ahLst/>
            <a:cxnLst/>
            <a:rect l="l" t="t" r="r" b="b"/>
            <a:pathLst>
              <a:path w="38100" h="3886200">
                <a:moveTo>
                  <a:pt x="38100" y="0"/>
                </a:moveTo>
                <a:lnTo>
                  <a:pt x="38100" y="0"/>
                </a:lnTo>
                <a:lnTo>
                  <a:pt x="38100" y="3886200"/>
                </a:lnTo>
                <a:lnTo>
                  <a:pt x="38100" y="3886200"/>
                </a:lnTo>
                <a:cubicBezTo>
                  <a:pt x="17072" y="3886200"/>
                  <a:pt x="0" y="3869128"/>
                  <a:pt x="0" y="384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4478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Major Challenges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18669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2019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5183" y="18574"/>
                </a:moveTo>
                <a:cubicBezTo>
                  <a:pt x="30212" y="16907"/>
                  <a:pt x="27503" y="11490"/>
                  <a:pt x="29170" y="6519"/>
                </a:cubicBezTo>
                <a:cubicBezTo>
                  <a:pt x="30837" y="1548"/>
                  <a:pt x="36225" y="-1161"/>
                  <a:pt x="41225" y="476"/>
                </a:cubicBezTo>
                <a:lnTo>
                  <a:pt x="74861" y="11698"/>
                </a:lnTo>
                <a:cubicBezTo>
                  <a:pt x="78998" y="4703"/>
                  <a:pt x="86648" y="0"/>
                  <a:pt x="95369" y="0"/>
                </a:cubicBezTo>
                <a:cubicBezTo>
                  <a:pt x="108525" y="0"/>
                  <a:pt x="119182" y="10656"/>
                  <a:pt x="119182" y="23813"/>
                </a:cubicBezTo>
                <a:cubicBezTo>
                  <a:pt x="119182" y="24705"/>
                  <a:pt x="119122" y="25569"/>
                  <a:pt x="119033" y="26432"/>
                </a:cubicBezTo>
                <a:lnTo>
                  <a:pt x="155525" y="38606"/>
                </a:lnTo>
                <a:cubicBezTo>
                  <a:pt x="160526" y="40273"/>
                  <a:pt x="163205" y="45660"/>
                  <a:pt x="161538" y="50661"/>
                </a:cubicBezTo>
                <a:cubicBezTo>
                  <a:pt x="159871" y="55662"/>
                  <a:pt x="154484" y="58341"/>
                  <a:pt x="149483" y="56674"/>
                </a:cubicBezTo>
                <a:lnTo>
                  <a:pt x="109151" y="43220"/>
                </a:lnTo>
                <a:cubicBezTo>
                  <a:pt x="107811" y="44172"/>
                  <a:pt x="106382" y="44976"/>
                  <a:pt x="104864" y="45660"/>
                </a:cubicBezTo>
                <a:lnTo>
                  <a:pt x="104864" y="142905"/>
                </a:lnTo>
                <a:cubicBezTo>
                  <a:pt x="104864" y="148173"/>
                  <a:pt x="100608" y="152430"/>
                  <a:pt x="95339" y="152430"/>
                </a:cubicBezTo>
                <a:lnTo>
                  <a:pt x="38189" y="152430"/>
                </a:lnTo>
                <a:cubicBezTo>
                  <a:pt x="32921" y="152430"/>
                  <a:pt x="28664" y="148173"/>
                  <a:pt x="28664" y="142905"/>
                </a:cubicBezTo>
                <a:cubicBezTo>
                  <a:pt x="28664" y="137636"/>
                  <a:pt x="32921" y="133380"/>
                  <a:pt x="38189" y="133380"/>
                </a:cubicBezTo>
                <a:lnTo>
                  <a:pt x="85814" y="133380"/>
                </a:lnTo>
                <a:lnTo>
                  <a:pt x="85814" y="45660"/>
                </a:lnTo>
                <a:cubicBezTo>
                  <a:pt x="79564" y="42922"/>
                  <a:pt x="74741" y="37624"/>
                  <a:pt x="72658" y="31075"/>
                </a:cubicBezTo>
                <a:lnTo>
                  <a:pt x="35183" y="18574"/>
                </a:lnTo>
                <a:close/>
                <a:moveTo>
                  <a:pt x="59769" y="85725"/>
                </a:moveTo>
                <a:lnTo>
                  <a:pt x="38189" y="48756"/>
                </a:lnTo>
                <a:lnTo>
                  <a:pt x="16639" y="85725"/>
                </a:lnTo>
                <a:lnTo>
                  <a:pt x="59769" y="85725"/>
                </a:lnTo>
                <a:close/>
                <a:moveTo>
                  <a:pt x="38219" y="114300"/>
                </a:moveTo>
                <a:cubicBezTo>
                  <a:pt x="19496" y="114300"/>
                  <a:pt x="3929" y="104180"/>
                  <a:pt x="714" y="90815"/>
                </a:cubicBezTo>
                <a:cubicBezTo>
                  <a:pt x="-60" y="87541"/>
                  <a:pt x="1012" y="84177"/>
                  <a:pt x="2709" y="81260"/>
                </a:cubicBezTo>
                <a:lnTo>
                  <a:pt x="31046" y="32683"/>
                </a:lnTo>
                <a:cubicBezTo>
                  <a:pt x="32534" y="30123"/>
                  <a:pt x="35272" y="28575"/>
                  <a:pt x="38219" y="28575"/>
                </a:cubicBezTo>
                <a:cubicBezTo>
                  <a:pt x="41166" y="28575"/>
                  <a:pt x="43904" y="30153"/>
                  <a:pt x="45393" y="32683"/>
                </a:cubicBezTo>
                <a:lnTo>
                  <a:pt x="73729" y="81260"/>
                </a:lnTo>
                <a:cubicBezTo>
                  <a:pt x="75426" y="84177"/>
                  <a:pt x="76498" y="87541"/>
                  <a:pt x="75724" y="90815"/>
                </a:cubicBezTo>
                <a:cubicBezTo>
                  <a:pt x="72509" y="104150"/>
                  <a:pt x="56942" y="114300"/>
                  <a:pt x="38219" y="114300"/>
                </a:cubicBezTo>
                <a:close/>
                <a:moveTo>
                  <a:pt x="152162" y="86856"/>
                </a:moveTo>
                <a:lnTo>
                  <a:pt x="130612" y="123825"/>
                </a:lnTo>
                <a:lnTo>
                  <a:pt x="173742" y="123825"/>
                </a:lnTo>
                <a:lnTo>
                  <a:pt x="152192" y="86856"/>
                </a:lnTo>
                <a:close/>
                <a:moveTo>
                  <a:pt x="189667" y="128915"/>
                </a:moveTo>
                <a:cubicBezTo>
                  <a:pt x="186452" y="142280"/>
                  <a:pt x="170884" y="152400"/>
                  <a:pt x="152162" y="152400"/>
                </a:cubicBezTo>
                <a:cubicBezTo>
                  <a:pt x="133439" y="152400"/>
                  <a:pt x="117872" y="142280"/>
                  <a:pt x="114657" y="128915"/>
                </a:cubicBezTo>
                <a:cubicBezTo>
                  <a:pt x="113883" y="125641"/>
                  <a:pt x="114955" y="122277"/>
                  <a:pt x="116651" y="119360"/>
                </a:cubicBezTo>
                <a:lnTo>
                  <a:pt x="144988" y="70783"/>
                </a:lnTo>
                <a:cubicBezTo>
                  <a:pt x="146477" y="68223"/>
                  <a:pt x="149215" y="66675"/>
                  <a:pt x="152162" y="66675"/>
                </a:cubicBezTo>
                <a:cubicBezTo>
                  <a:pt x="155109" y="66675"/>
                  <a:pt x="157847" y="68253"/>
                  <a:pt x="159335" y="70783"/>
                </a:cubicBezTo>
                <a:lnTo>
                  <a:pt x="187672" y="119360"/>
                </a:lnTo>
                <a:cubicBezTo>
                  <a:pt x="189369" y="122277"/>
                  <a:pt x="190440" y="125641"/>
                  <a:pt x="189667" y="12891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9812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2479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samples often outnumbered by legitimate content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6670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3425" y="2819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27813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Annotation Inconsistency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0480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criteria across datasets and annotators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4671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2950" y="361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35814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Specificity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38481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struggle to generalize across health topics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2672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295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8106" y="11906"/>
                </a:moveTo>
                <a:cubicBezTo>
                  <a:pt x="88106" y="5328"/>
                  <a:pt x="82778" y="0"/>
                  <a:pt x="76200" y="0"/>
                </a:cubicBezTo>
                <a:cubicBezTo>
                  <a:pt x="69622" y="0"/>
                  <a:pt x="64294" y="5328"/>
                  <a:pt x="64294" y="11906"/>
                </a:cubicBezTo>
                <a:cubicBezTo>
                  <a:pt x="64294" y="25033"/>
                  <a:pt x="48429" y="31581"/>
                  <a:pt x="39142" y="22324"/>
                </a:cubicBezTo>
                <a:cubicBezTo>
                  <a:pt x="34498" y="17681"/>
                  <a:pt x="26968" y="17681"/>
                  <a:pt x="22294" y="22324"/>
                </a:cubicBezTo>
                <a:cubicBezTo>
                  <a:pt x="17621" y="26968"/>
                  <a:pt x="17651" y="34498"/>
                  <a:pt x="22294" y="39172"/>
                </a:cubicBezTo>
                <a:cubicBezTo>
                  <a:pt x="31581" y="48458"/>
                  <a:pt x="25003" y="64324"/>
                  <a:pt x="11876" y="64324"/>
                </a:cubicBezTo>
                <a:cubicBezTo>
                  <a:pt x="5298" y="64324"/>
                  <a:pt x="-30" y="69652"/>
                  <a:pt x="-30" y="76230"/>
                </a:cubicBezTo>
                <a:cubicBezTo>
                  <a:pt x="-30" y="82808"/>
                  <a:pt x="5298" y="88136"/>
                  <a:pt x="11876" y="88136"/>
                </a:cubicBezTo>
                <a:cubicBezTo>
                  <a:pt x="25003" y="88136"/>
                  <a:pt x="31552" y="104001"/>
                  <a:pt x="22294" y="113288"/>
                </a:cubicBezTo>
                <a:cubicBezTo>
                  <a:pt x="17651" y="117931"/>
                  <a:pt x="17651" y="125462"/>
                  <a:pt x="22294" y="130135"/>
                </a:cubicBezTo>
                <a:cubicBezTo>
                  <a:pt x="26938" y="134809"/>
                  <a:pt x="34469" y="134779"/>
                  <a:pt x="39142" y="130135"/>
                </a:cubicBezTo>
                <a:cubicBezTo>
                  <a:pt x="48429" y="120848"/>
                  <a:pt x="64294" y="127427"/>
                  <a:pt x="64294" y="140553"/>
                </a:cubicBezTo>
                <a:cubicBezTo>
                  <a:pt x="64294" y="147131"/>
                  <a:pt x="69622" y="152460"/>
                  <a:pt x="76200" y="152460"/>
                </a:cubicBezTo>
                <a:cubicBezTo>
                  <a:pt x="82778" y="152460"/>
                  <a:pt x="88106" y="147131"/>
                  <a:pt x="88106" y="140553"/>
                </a:cubicBezTo>
                <a:cubicBezTo>
                  <a:pt x="88106" y="127427"/>
                  <a:pt x="103971" y="120878"/>
                  <a:pt x="113258" y="130135"/>
                </a:cubicBezTo>
                <a:cubicBezTo>
                  <a:pt x="117902" y="134779"/>
                  <a:pt x="125432" y="134779"/>
                  <a:pt x="130106" y="130135"/>
                </a:cubicBezTo>
                <a:cubicBezTo>
                  <a:pt x="134779" y="125492"/>
                  <a:pt x="134749" y="117961"/>
                  <a:pt x="130106" y="113288"/>
                </a:cubicBezTo>
                <a:cubicBezTo>
                  <a:pt x="120819" y="104001"/>
                  <a:pt x="127397" y="88136"/>
                  <a:pt x="140524" y="88136"/>
                </a:cubicBezTo>
                <a:cubicBezTo>
                  <a:pt x="147102" y="88136"/>
                  <a:pt x="152430" y="82808"/>
                  <a:pt x="152430" y="76230"/>
                </a:cubicBezTo>
                <a:cubicBezTo>
                  <a:pt x="152430" y="69652"/>
                  <a:pt x="147102" y="64324"/>
                  <a:pt x="140524" y="64324"/>
                </a:cubicBezTo>
                <a:cubicBezTo>
                  <a:pt x="127397" y="64324"/>
                  <a:pt x="120848" y="48458"/>
                  <a:pt x="130106" y="39172"/>
                </a:cubicBezTo>
                <a:cubicBezTo>
                  <a:pt x="134749" y="34528"/>
                  <a:pt x="134749" y="26997"/>
                  <a:pt x="130106" y="22324"/>
                </a:cubicBezTo>
                <a:cubicBezTo>
                  <a:pt x="125462" y="17651"/>
                  <a:pt x="117931" y="17681"/>
                  <a:pt x="113258" y="22324"/>
                </a:cubicBezTo>
                <a:cubicBezTo>
                  <a:pt x="103971" y="31581"/>
                  <a:pt x="88106" y="25033"/>
                  <a:pt x="88106" y="11906"/>
                </a:cubicBezTo>
                <a:close/>
                <a:moveTo>
                  <a:pt x="47625" y="66675"/>
                </a:moveTo>
                <a:cubicBezTo>
                  <a:pt x="47625" y="61418"/>
                  <a:pt x="51893" y="57150"/>
                  <a:pt x="57150" y="57150"/>
                </a:cubicBezTo>
                <a:cubicBezTo>
                  <a:pt x="62407" y="57150"/>
                  <a:pt x="66675" y="61418"/>
                  <a:pt x="66675" y="66675"/>
                </a:cubicBezTo>
                <a:cubicBezTo>
                  <a:pt x="66675" y="71932"/>
                  <a:pt x="62407" y="76200"/>
                  <a:pt x="57150" y="76200"/>
                </a:cubicBezTo>
                <a:cubicBezTo>
                  <a:pt x="51893" y="76200"/>
                  <a:pt x="47625" y="71932"/>
                  <a:pt x="47625" y="66675"/>
                </a:cubicBezTo>
                <a:close/>
                <a:moveTo>
                  <a:pt x="95250" y="76200"/>
                </a:moveTo>
                <a:cubicBezTo>
                  <a:pt x="100507" y="76200"/>
                  <a:pt x="104775" y="80468"/>
                  <a:pt x="104775" y="85725"/>
                </a:cubicBezTo>
                <a:cubicBezTo>
                  <a:pt x="104775" y="90982"/>
                  <a:pt x="100507" y="95250"/>
                  <a:pt x="95250" y="95250"/>
                </a:cubicBezTo>
                <a:cubicBezTo>
                  <a:pt x="89993" y="95250"/>
                  <a:pt x="85725" y="90982"/>
                  <a:pt x="85725" y="85725"/>
                </a:cubicBezTo>
                <a:cubicBezTo>
                  <a:pt x="85725" y="80468"/>
                  <a:pt x="89993" y="76200"/>
                  <a:pt x="95250" y="7620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38150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Dominance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900" y="46482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Over-reliance on pandemic-related data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257300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38100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10300" y="12573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850" y="14478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COVID-19 vs. Non-COVID Differences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850" y="18669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Schlicht et al. (2023) found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lexical and affective differences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 pandemic and other health misinformation: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8900" y="2552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6724650" y="25146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COVID-19: More unpredictable language, higher mortality references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4650" y="2857500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Non-COVID: More structured, domain-specific terminology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8900" y="323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Text 30"/>
          <p:cNvSpPr/>
          <p:nvPr/>
        </p:nvSpPr>
        <p:spPr>
          <a:xfrm>
            <a:off x="6724650" y="320040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 generalization remains challenging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060" y="3775710"/>
            <a:ext cx="5608320" cy="1607820"/>
          </a:xfrm>
          <a:custGeom>
            <a:avLst/>
            <a:gdLst/>
            <a:ahLst/>
            <a:cxnLst/>
            <a:rect l="l" t="t" r="r" b="b"/>
            <a:pathLst>
              <a:path w="5608320" h="1607820">
                <a:moveTo>
                  <a:pt x="76195" y="0"/>
                </a:moveTo>
                <a:lnTo>
                  <a:pt x="5532125" y="0"/>
                </a:lnTo>
                <a:cubicBezTo>
                  <a:pt x="5574207" y="0"/>
                  <a:pt x="5608320" y="34113"/>
                  <a:pt x="5608320" y="76195"/>
                </a:cubicBezTo>
                <a:lnTo>
                  <a:pt x="5608320" y="1531625"/>
                </a:lnTo>
                <a:cubicBezTo>
                  <a:pt x="5608320" y="1573707"/>
                  <a:pt x="5574207" y="1607820"/>
                  <a:pt x="5532125" y="1607820"/>
                </a:cubicBezTo>
                <a:lnTo>
                  <a:pt x="76195" y="1607820"/>
                </a:lnTo>
                <a:cubicBezTo>
                  <a:pt x="34113" y="1607820"/>
                  <a:pt x="0" y="1573707"/>
                  <a:pt x="0" y="15316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9370" y="3970018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Issues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3657" y="44272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6608445" y="4381500"/>
            <a:ext cx="139731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Validity: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1949" y="4381500"/>
            <a:ext cx="19314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knowledge evolves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3657" y="47320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9" name="Text 37"/>
          <p:cNvSpPr/>
          <p:nvPr/>
        </p:nvSpPr>
        <p:spPr>
          <a:xfrm>
            <a:off x="6608445" y="4686300"/>
            <a:ext cx="110942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Bias: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84056" y="4686300"/>
            <a:ext cx="16515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Twitter-centric datasets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3657" y="50368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2" name="Text 40"/>
          <p:cNvSpPr/>
          <p:nvPr/>
        </p:nvSpPr>
        <p:spPr>
          <a:xfrm>
            <a:off x="6608445" y="4991100"/>
            <a:ext cx="170187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Limitations: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76511" y="4991100"/>
            <a:ext cx="13385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English-dominated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0050" y="5539746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685800"/>
                </a:lnTo>
                <a:cubicBezTo>
                  <a:pt x="11410950" y="727856"/>
                  <a:pt x="11376806" y="762000"/>
                  <a:pt x="113347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00050" y="553974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" y="5730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" name="Text 45"/>
          <p:cNvSpPr/>
          <p:nvPr/>
        </p:nvSpPr>
        <p:spPr>
          <a:xfrm>
            <a:off x="880586" y="5722618"/>
            <a:ext cx="98238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1500" y="5722618"/>
            <a:ext cx="10652879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field needs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diverse, balanced, multilingual datasets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covering various health topics beyond COVID-19 to develop robust generalizable detection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spc="109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Evaluation Metrics &amp; Performance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18" y="1146256"/>
            <a:ext cx="5644444" cy="2014632"/>
          </a:xfrm>
          <a:custGeom>
            <a:avLst/>
            <a:gdLst/>
            <a:ahLst/>
            <a:cxnLst/>
            <a:rect l="l" t="t" r="r" b="b"/>
            <a:pathLst>
              <a:path w="5644444" h="2014632">
                <a:moveTo>
                  <a:pt x="34735" y="0"/>
                </a:moveTo>
                <a:lnTo>
                  <a:pt x="5574980" y="0"/>
                </a:lnTo>
                <a:cubicBezTo>
                  <a:pt x="5613344" y="0"/>
                  <a:pt x="5644444" y="31100"/>
                  <a:pt x="5644444" y="69465"/>
                </a:cubicBezTo>
                <a:lnTo>
                  <a:pt x="5644444" y="1945168"/>
                </a:lnTo>
                <a:cubicBezTo>
                  <a:pt x="5644444" y="1983532"/>
                  <a:pt x="5613344" y="2014632"/>
                  <a:pt x="5574980" y="2014632"/>
                </a:cubicBezTo>
                <a:lnTo>
                  <a:pt x="34735" y="2014632"/>
                </a:lnTo>
                <a:cubicBezTo>
                  <a:pt x="15551" y="2014632"/>
                  <a:pt x="0" y="1999081"/>
                  <a:pt x="0" y="1979897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4718" y="1146256"/>
            <a:ext cx="34735" cy="2014632"/>
          </a:xfrm>
          <a:custGeom>
            <a:avLst/>
            <a:gdLst/>
            <a:ahLst/>
            <a:cxnLst/>
            <a:rect l="l" t="t" r="r" b="b"/>
            <a:pathLst>
              <a:path w="34735" h="2014632">
                <a:moveTo>
                  <a:pt x="34735" y="0"/>
                </a:moveTo>
                <a:lnTo>
                  <a:pt x="34735" y="0"/>
                </a:lnTo>
                <a:lnTo>
                  <a:pt x="34735" y="2014632"/>
                </a:lnTo>
                <a:lnTo>
                  <a:pt x="34735" y="2014632"/>
                </a:lnTo>
                <a:cubicBezTo>
                  <a:pt x="15551" y="2014632"/>
                  <a:pt x="0" y="1999081"/>
                  <a:pt x="0" y="1979897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55761" y="1319932"/>
            <a:ext cx="536656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Standard Metrics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5761" y="1702017"/>
            <a:ext cx="2587761" cy="590496"/>
          </a:xfrm>
          <a:custGeom>
            <a:avLst/>
            <a:gdLst/>
            <a:ahLst/>
            <a:cxnLst/>
            <a:rect l="l" t="t" r="r" b="b"/>
            <a:pathLst>
              <a:path w="2587761" h="590496">
                <a:moveTo>
                  <a:pt x="34733" y="0"/>
                </a:moveTo>
                <a:lnTo>
                  <a:pt x="2553028" y="0"/>
                </a:lnTo>
                <a:cubicBezTo>
                  <a:pt x="2572210" y="0"/>
                  <a:pt x="2587761" y="15550"/>
                  <a:pt x="2587761" y="34733"/>
                </a:cubicBezTo>
                <a:lnTo>
                  <a:pt x="2587761" y="555763"/>
                </a:lnTo>
                <a:cubicBezTo>
                  <a:pt x="2587761" y="574945"/>
                  <a:pt x="2572210" y="590496"/>
                  <a:pt x="2553028" y="590496"/>
                </a:cubicBezTo>
                <a:lnTo>
                  <a:pt x="34733" y="590496"/>
                </a:lnTo>
                <a:cubicBezTo>
                  <a:pt x="15550" y="590496"/>
                  <a:pt x="0" y="574945"/>
                  <a:pt x="0" y="555763"/>
                </a:cubicBezTo>
                <a:lnTo>
                  <a:pt x="0" y="34733"/>
                </a:lnTo>
                <a:cubicBezTo>
                  <a:pt x="0" y="15550"/>
                  <a:pt x="15550" y="0"/>
                  <a:pt x="347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5231" y="1806222"/>
            <a:ext cx="244882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9573" y="2014632"/>
            <a:ext cx="244013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correctness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8595" y="1702017"/>
            <a:ext cx="2587761" cy="590496"/>
          </a:xfrm>
          <a:custGeom>
            <a:avLst/>
            <a:gdLst/>
            <a:ahLst/>
            <a:cxnLst/>
            <a:rect l="l" t="t" r="r" b="b"/>
            <a:pathLst>
              <a:path w="2587761" h="590496">
                <a:moveTo>
                  <a:pt x="34733" y="0"/>
                </a:moveTo>
                <a:lnTo>
                  <a:pt x="2553028" y="0"/>
                </a:lnTo>
                <a:cubicBezTo>
                  <a:pt x="2572210" y="0"/>
                  <a:pt x="2587761" y="15550"/>
                  <a:pt x="2587761" y="34733"/>
                </a:cubicBezTo>
                <a:lnTo>
                  <a:pt x="2587761" y="555763"/>
                </a:lnTo>
                <a:cubicBezTo>
                  <a:pt x="2587761" y="574945"/>
                  <a:pt x="2572210" y="590496"/>
                  <a:pt x="2553028" y="590496"/>
                </a:cubicBezTo>
                <a:lnTo>
                  <a:pt x="34733" y="590496"/>
                </a:lnTo>
                <a:cubicBezTo>
                  <a:pt x="15550" y="590496"/>
                  <a:pt x="0" y="574945"/>
                  <a:pt x="0" y="555763"/>
                </a:cubicBezTo>
                <a:lnTo>
                  <a:pt x="0" y="34733"/>
                </a:lnTo>
                <a:cubicBezTo>
                  <a:pt x="0" y="15550"/>
                  <a:pt x="15550" y="0"/>
                  <a:pt x="347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18065" y="1806222"/>
            <a:ext cx="244882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22407" y="2014632"/>
            <a:ext cx="244013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5761" y="2396718"/>
            <a:ext cx="2587761" cy="590496"/>
          </a:xfrm>
          <a:custGeom>
            <a:avLst/>
            <a:gdLst/>
            <a:ahLst/>
            <a:cxnLst/>
            <a:rect l="l" t="t" r="r" b="b"/>
            <a:pathLst>
              <a:path w="2587761" h="590496">
                <a:moveTo>
                  <a:pt x="34733" y="0"/>
                </a:moveTo>
                <a:lnTo>
                  <a:pt x="2553028" y="0"/>
                </a:lnTo>
                <a:cubicBezTo>
                  <a:pt x="2572210" y="0"/>
                  <a:pt x="2587761" y="15550"/>
                  <a:pt x="2587761" y="34733"/>
                </a:cubicBezTo>
                <a:lnTo>
                  <a:pt x="2587761" y="555763"/>
                </a:lnTo>
                <a:cubicBezTo>
                  <a:pt x="2587761" y="574945"/>
                  <a:pt x="2572210" y="590496"/>
                  <a:pt x="2553028" y="590496"/>
                </a:cubicBezTo>
                <a:lnTo>
                  <a:pt x="34733" y="590496"/>
                </a:lnTo>
                <a:cubicBezTo>
                  <a:pt x="15550" y="590496"/>
                  <a:pt x="0" y="574945"/>
                  <a:pt x="0" y="555763"/>
                </a:cubicBezTo>
                <a:lnTo>
                  <a:pt x="0" y="34733"/>
                </a:lnTo>
                <a:cubicBezTo>
                  <a:pt x="0" y="15550"/>
                  <a:pt x="15550" y="0"/>
                  <a:pt x="347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5231" y="2500923"/>
            <a:ext cx="244882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573" y="2709333"/>
            <a:ext cx="244013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negative rate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8595" y="2396718"/>
            <a:ext cx="2587761" cy="590496"/>
          </a:xfrm>
          <a:custGeom>
            <a:avLst/>
            <a:gdLst/>
            <a:ahLst/>
            <a:cxnLst/>
            <a:rect l="l" t="t" r="r" b="b"/>
            <a:pathLst>
              <a:path w="2587761" h="590496">
                <a:moveTo>
                  <a:pt x="34733" y="0"/>
                </a:moveTo>
                <a:lnTo>
                  <a:pt x="2553028" y="0"/>
                </a:lnTo>
                <a:cubicBezTo>
                  <a:pt x="2572210" y="0"/>
                  <a:pt x="2587761" y="15550"/>
                  <a:pt x="2587761" y="34733"/>
                </a:cubicBezTo>
                <a:lnTo>
                  <a:pt x="2587761" y="555763"/>
                </a:lnTo>
                <a:cubicBezTo>
                  <a:pt x="2587761" y="574945"/>
                  <a:pt x="2572210" y="590496"/>
                  <a:pt x="2553028" y="590496"/>
                </a:cubicBezTo>
                <a:lnTo>
                  <a:pt x="34733" y="590496"/>
                </a:lnTo>
                <a:cubicBezTo>
                  <a:pt x="15550" y="590496"/>
                  <a:pt x="0" y="574945"/>
                  <a:pt x="0" y="555763"/>
                </a:cubicBezTo>
                <a:lnTo>
                  <a:pt x="0" y="34733"/>
                </a:lnTo>
                <a:cubicBezTo>
                  <a:pt x="0" y="15550"/>
                  <a:pt x="15550" y="0"/>
                  <a:pt x="347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18065" y="2500923"/>
            <a:ext cx="244882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22407" y="2709333"/>
            <a:ext cx="244013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measure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350" y="3299829"/>
            <a:ext cx="5661812" cy="1458872"/>
          </a:xfrm>
          <a:custGeom>
            <a:avLst/>
            <a:gdLst/>
            <a:ahLst/>
            <a:cxnLst/>
            <a:rect l="l" t="t" r="r" b="b"/>
            <a:pathLst>
              <a:path w="5661812" h="1458872">
                <a:moveTo>
                  <a:pt x="69471" y="0"/>
                </a:moveTo>
                <a:lnTo>
                  <a:pt x="5592340" y="0"/>
                </a:lnTo>
                <a:cubicBezTo>
                  <a:pt x="5630709" y="0"/>
                  <a:pt x="5661812" y="31103"/>
                  <a:pt x="5661812" y="69471"/>
                </a:cubicBezTo>
                <a:lnTo>
                  <a:pt x="5661812" y="1389400"/>
                </a:lnTo>
                <a:cubicBezTo>
                  <a:pt x="5661812" y="1427768"/>
                  <a:pt x="5630709" y="1458872"/>
                  <a:pt x="5592340" y="1458872"/>
                </a:cubicBezTo>
                <a:lnTo>
                  <a:pt x="69471" y="1458872"/>
                </a:lnTo>
                <a:cubicBezTo>
                  <a:pt x="31103" y="1458872"/>
                  <a:pt x="0" y="1427768"/>
                  <a:pt x="0" y="1389400"/>
                </a:cubicBezTo>
                <a:lnTo>
                  <a:pt x="0" y="69471"/>
                </a:lnTo>
                <a:cubicBezTo>
                  <a:pt x="0" y="31129"/>
                  <a:pt x="31129" y="0"/>
                  <a:pt x="6947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1026" y="3473504"/>
            <a:ext cx="5392615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077" y="3855590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Text 20"/>
          <p:cNvSpPr/>
          <p:nvPr/>
        </p:nvSpPr>
        <p:spPr>
          <a:xfrm>
            <a:off x="764171" y="3848644"/>
            <a:ext cx="771769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AUC-ROC: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5113" y="3848644"/>
            <a:ext cx="2170615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Threshold-independent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7077" y="4133470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5" name="Text 23"/>
          <p:cNvSpPr/>
          <p:nvPr/>
        </p:nvSpPr>
        <p:spPr>
          <a:xfrm>
            <a:off x="764171" y="4126525"/>
            <a:ext cx="1134859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Macro/Micro F1: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68203" y="4126525"/>
            <a:ext cx="1544298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 performance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7077" y="4411350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764171" y="4404405"/>
            <a:ext cx="1250462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Confusion Matrix: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83805" y="4404405"/>
            <a:ext cx="1451816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error analysis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02051" y="1146256"/>
            <a:ext cx="5644444" cy="2917744"/>
          </a:xfrm>
          <a:custGeom>
            <a:avLst/>
            <a:gdLst/>
            <a:ahLst/>
            <a:cxnLst/>
            <a:rect l="l" t="t" r="r" b="b"/>
            <a:pathLst>
              <a:path w="5644444" h="2917744">
                <a:moveTo>
                  <a:pt x="34735" y="0"/>
                </a:moveTo>
                <a:lnTo>
                  <a:pt x="5574973" y="0"/>
                </a:lnTo>
                <a:cubicBezTo>
                  <a:pt x="5613341" y="0"/>
                  <a:pt x="5644444" y="31103"/>
                  <a:pt x="5644444" y="69471"/>
                </a:cubicBezTo>
                <a:lnTo>
                  <a:pt x="5644444" y="2848272"/>
                </a:lnTo>
                <a:cubicBezTo>
                  <a:pt x="5644444" y="2886640"/>
                  <a:pt x="5613341" y="2917744"/>
                  <a:pt x="5574973" y="2917744"/>
                </a:cubicBezTo>
                <a:lnTo>
                  <a:pt x="34735" y="2917744"/>
                </a:lnTo>
                <a:cubicBezTo>
                  <a:pt x="15551" y="2917744"/>
                  <a:pt x="0" y="2902192"/>
                  <a:pt x="0" y="2883009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2051" y="1146256"/>
            <a:ext cx="34735" cy="2917744"/>
          </a:xfrm>
          <a:custGeom>
            <a:avLst/>
            <a:gdLst/>
            <a:ahLst/>
            <a:cxnLst/>
            <a:rect l="l" t="t" r="r" b="b"/>
            <a:pathLst>
              <a:path w="34735" h="2917744">
                <a:moveTo>
                  <a:pt x="34735" y="0"/>
                </a:moveTo>
                <a:lnTo>
                  <a:pt x="34735" y="0"/>
                </a:lnTo>
                <a:lnTo>
                  <a:pt x="34735" y="2917744"/>
                </a:lnTo>
                <a:lnTo>
                  <a:pt x="34735" y="2917744"/>
                </a:lnTo>
                <a:cubicBezTo>
                  <a:pt x="15551" y="2917744"/>
                  <a:pt x="0" y="2902192"/>
                  <a:pt x="0" y="2883009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6393093" y="1319932"/>
            <a:ext cx="536656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Hierarchy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0461" y="1702017"/>
            <a:ext cx="5262359" cy="659966"/>
          </a:xfrm>
          <a:custGeom>
            <a:avLst/>
            <a:gdLst/>
            <a:ahLst/>
            <a:cxnLst/>
            <a:rect l="l" t="t" r="r" b="b"/>
            <a:pathLst>
              <a:path w="5262359" h="659966">
                <a:moveTo>
                  <a:pt x="34734" y="0"/>
                </a:moveTo>
                <a:lnTo>
                  <a:pt x="5227625" y="0"/>
                </a:lnTo>
                <a:cubicBezTo>
                  <a:pt x="5246808" y="0"/>
                  <a:pt x="5262359" y="15551"/>
                  <a:pt x="5262359" y="34734"/>
                </a:cubicBezTo>
                <a:lnTo>
                  <a:pt x="5262359" y="625232"/>
                </a:lnTo>
                <a:cubicBezTo>
                  <a:pt x="5262359" y="644415"/>
                  <a:pt x="5246808" y="659966"/>
                  <a:pt x="5227625" y="659966"/>
                </a:cubicBezTo>
                <a:lnTo>
                  <a:pt x="34734" y="659966"/>
                </a:lnTo>
                <a:cubicBezTo>
                  <a:pt x="15564" y="659966"/>
                  <a:pt x="0" y="644402"/>
                  <a:pt x="0" y="625232"/>
                </a:cubicBezTo>
                <a:lnTo>
                  <a:pt x="0" y="34734"/>
                </a:lnTo>
                <a:cubicBezTo>
                  <a:pt x="0" y="15564"/>
                  <a:pt x="15564" y="0"/>
                  <a:pt x="34734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10461" y="1702017"/>
            <a:ext cx="34735" cy="659966"/>
          </a:xfrm>
          <a:custGeom>
            <a:avLst/>
            <a:gdLst/>
            <a:ahLst/>
            <a:cxnLst/>
            <a:rect l="l" t="t" r="r" b="b"/>
            <a:pathLst>
              <a:path w="34735" h="659966">
                <a:moveTo>
                  <a:pt x="34735" y="0"/>
                </a:moveTo>
                <a:lnTo>
                  <a:pt x="34735" y="0"/>
                </a:lnTo>
                <a:lnTo>
                  <a:pt x="34735" y="659966"/>
                </a:lnTo>
                <a:lnTo>
                  <a:pt x="34735" y="659966"/>
                </a:lnTo>
                <a:cubicBezTo>
                  <a:pt x="15551" y="659966"/>
                  <a:pt x="0" y="644414"/>
                  <a:pt x="0" y="62523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6532034" y="1823590"/>
            <a:ext cx="1502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Transformer-Based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31742" y="1806222"/>
            <a:ext cx="61654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85-98%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2034" y="2084103"/>
            <a:ext cx="50973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RoBERTa, SciBERT - Best overall performance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0461" y="2466188"/>
            <a:ext cx="5262359" cy="659966"/>
          </a:xfrm>
          <a:custGeom>
            <a:avLst/>
            <a:gdLst/>
            <a:ahLst/>
            <a:cxnLst/>
            <a:rect l="l" t="t" r="r" b="b"/>
            <a:pathLst>
              <a:path w="5262359" h="659966">
                <a:moveTo>
                  <a:pt x="34734" y="0"/>
                </a:moveTo>
                <a:lnTo>
                  <a:pt x="5227625" y="0"/>
                </a:lnTo>
                <a:cubicBezTo>
                  <a:pt x="5246808" y="0"/>
                  <a:pt x="5262359" y="15551"/>
                  <a:pt x="5262359" y="34734"/>
                </a:cubicBezTo>
                <a:lnTo>
                  <a:pt x="5262359" y="625232"/>
                </a:lnTo>
                <a:cubicBezTo>
                  <a:pt x="5262359" y="644415"/>
                  <a:pt x="5246808" y="659966"/>
                  <a:pt x="5227625" y="659966"/>
                </a:cubicBezTo>
                <a:lnTo>
                  <a:pt x="34734" y="659966"/>
                </a:lnTo>
                <a:cubicBezTo>
                  <a:pt x="15564" y="659966"/>
                  <a:pt x="0" y="644402"/>
                  <a:pt x="0" y="625232"/>
                </a:cubicBezTo>
                <a:lnTo>
                  <a:pt x="0" y="34734"/>
                </a:lnTo>
                <a:cubicBezTo>
                  <a:pt x="0" y="15564"/>
                  <a:pt x="15564" y="0"/>
                  <a:pt x="3473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10461" y="2466188"/>
            <a:ext cx="34735" cy="659966"/>
          </a:xfrm>
          <a:custGeom>
            <a:avLst/>
            <a:gdLst/>
            <a:ahLst/>
            <a:cxnLst/>
            <a:rect l="l" t="t" r="r" b="b"/>
            <a:pathLst>
              <a:path w="34735" h="659966">
                <a:moveTo>
                  <a:pt x="34735" y="0"/>
                </a:moveTo>
                <a:lnTo>
                  <a:pt x="34735" y="0"/>
                </a:lnTo>
                <a:lnTo>
                  <a:pt x="34735" y="659966"/>
                </a:lnTo>
                <a:lnTo>
                  <a:pt x="34735" y="659966"/>
                </a:lnTo>
                <a:cubicBezTo>
                  <a:pt x="15551" y="659966"/>
                  <a:pt x="0" y="644414"/>
                  <a:pt x="0" y="62523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6532034" y="2587761"/>
            <a:ext cx="118967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Deep Learning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31742" y="2570393"/>
            <a:ext cx="61654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75-88%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2034" y="2848274"/>
            <a:ext cx="50973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CNN, LSTM, GRU - Good with sufficient data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0461" y="3230359"/>
            <a:ext cx="5262359" cy="659966"/>
          </a:xfrm>
          <a:custGeom>
            <a:avLst/>
            <a:gdLst/>
            <a:ahLst/>
            <a:cxnLst/>
            <a:rect l="l" t="t" r="r" b="b"/>
            <a:pathLst>
              <a:path w="5262359" h="659966">
                <a:moveTo>
                  <a:pt x="34734" y="0"/>
                </a:moveTo>
                <a:lnTo>
                  <a:pt x="5227625" y="0"/>
                </a:lnTo>
                <a:cubicBezTo>
                  <a:pt x="5246808" y="0"/>
                  <a:pt x="5262359" y="15551"/>
                  <a:pt x="5262359" y="34734"/>
                </a:cubicBezTo>
                <a:lnTo>
                  <a:pt x="5262359" y="625232"/>
                </a:lnTo>
                <a:cubicBezTo>
                  <a:pt x="5262359" y="644415"/>
                  <a:pt x="5246808" y="659966"/>
                  <a:pt x="5227625" y="659966"/>
                </a:cubicBezTo>
                <a:lnTo>
                  <a:pt x="34734" y="659966"/>
                </a:lnTo>
                <a:cubicBezTo>
                  <a:pt x="15564" y="659966"/>
                  <a:pt x="0" y="644402"/>
                  <a:pt x="0" y="625232"/>
                </a:cubicBezTo>
                <a:lnTo>
                  <a:pt x="0" y="34734"/>
                </a:lnTo>
                <a:cubicBezTo>
                  <a:pt x="0" y="15564"/>
                  <a:pt x="15564" y="0"/>
                  <a:pt x="34734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10461" y="3230359"/>
            <a:ext cx="34735" cy="659966"/>
          </a:xfrm>
          <a:custGeom>
            <a:avLst/>
            <a:gdLst/>
            <a:ahLst/>
            <a:cxnLst/>
            <a:rect l="l" t="t" r="r" b="b"/>
            <a:pathLst>
              <a:path w="34735" h="659966">
                <a:moveTo>
                  <a:pt x="34735" y="0"/>
                </a:moveTo>
                <a:lnTo>
                  <a:pt x="34735" y="0"/>
                </a:lnTo>
                <a:lnTo>
                  <a:pt x="34735" y="659966"/>
                </a:lnTo>
                <a:lnTo>
                  <a:pt x="34735" y="659966"/>
                </a:lnTo>
                <a:cubicBezTo>
                  <a:pt x="15551" y="659966"/>
                  <a:pt x="0" y="644414"/>
                  <a:pt x="0" y="62523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" name="Text 43"/>
          <p:cNvSpPr/>
          <p:nvPr/>
        </p:nvSpPr>
        <p:spPr>
          <a:xfrm>
            <a:off x="6532034" y="3351932"/>
            <a:ext cx="117230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Traditional ML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31742" y="3334564"/>
            <a:ext cx="61654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65-80%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2034" y="3612444"/>
            <a:ext cx="50973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SVM, Random Forest - Competitive with features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8157" y="4206414"/>
            <a:ext cx="5660075" cy="1465819"/>
          </a:xfrm>
          <a:custGeom>
            <a:avLst/>
            <a:gdLst/>
            <a:ahLst/>
            <a:cxnLst/>
            <a:rect l="l" t="t" r="r" b="b"/>
            <a:pathLst>
              <a:path w="5660075" h="1465819">
                <a:moveTo>
                  <a:pt x="69465" y="0"/>
                </a:moveTo>
                <a:lnTo>
                  <a:pt x="5590610" y="0"/>
                </a:lnTo>
                <a:cubicBezTo>
                  <a:pt x="5628975" y="0"/>
                  <a:pt x="5660075" y="31101"/>
                  <a:pt x="5660075" y="69465"/>
                </a:cubicBezTo>
                <a:lnTo>
                  <a:pt x="5660075" y="1396354"/>
                </a:lnTo>
                <a:cubicBezTo>
                  <a:pt x="5660075" y="1434718"/>
                  <a:pt x="5628975" y="1465819"/>
                  <a:pt x="5590610" y="1465819"/>
                </a:cubicBezTo>
                <a:lnTo>
                  <a:pt x="69465" y="1465819"/>
                </a:lnTo>
                <a:cubicBezTo>
                  <a:pt x="31126" y="1465819"/>
                  <a:pt x="0" y="1434693"/>
                  <a:pt x="0" y="1396354"/>
                </a:cubicBezTo>
                <a:lnTo>
                  <a:pt x="0" y="69465"/>
                </a:lnTo>
                <a:cubicBezTo>
                  <a:pt x="0" y="31126"/>
                  <a:pt x="31126" y="0"/>
                  <a:pt x="6946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5305" y="4383561"/>
            <a:ext cx="538393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Research Findings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3989" y="4765646"/>
            <a:ext cx="156308" cy="138940"/>
          </a:xfrm>
          <a:custGeom>
            <a:avLst/>
            <a:gdLst/>
            <a:ahLst/>
            <a:cxnLst/>
            <a:rect l="l" t="t" r="r" b="b"/>
            <a:pathLst>
              <a:path w="156308" h="138940">
                <a:moveTo>
                  <a:pt x="83988" y="-5129"/>
                </a:moveTo>
                <a:cubicBezTo>
                  <a:pt x="82876" y="-7300"/>
                  <a:pt x="80623" y="-8684"/>
                  <a:pt x="78181" y="-8684"/>
                </a:cubicBezTo>
                <a:cubicBezTo>
                  <a:pt x="75739" y="-8684"/>
                  <a:pt x="73486" y="-7300"/>
                  <a:pt x="72374" y="-5129"/>
                </a:cubicBezTo>
                <a:lnTo>
                  <a:pt x="52401" y="34002"/>
                </a:lnTo>
                <a:lnTo>
                  <a:pt x="9009" y="40895"/>
                </a:lnTo>
                <a:cubicBezTo>
                  <a:pt x="6594" y="41275"/>
                  <a:pt x="4586" y="42985"/>
                  <a:pt x="3826" y="45318"/>
                </a:cubicBezTo>
                <a:cubicBezTo>
                  <a:pt x="3066" y="47652"/>
                  <a:pt x="3691" y="50203"/>
                  <a:pt x="5400" y="51940"/>
                </a:cubicBezTo>
                <a:lnTo>
                  <a:pt x="36445" y="83011"/>
                </a:lnTo>
                <a:lnTo>
                  <a:pt x="29606" y="126403"/>
                </a:lnTo>
                <a:cubicBezTo>
                  <a:pt x="29226" y="128818"/>
                  <a:pt x="30230" y="131260"/>
                  <a:pt x="32211" y="132699"/>
                </a:cubicBezTo>
                <a:cubicBezTo>
                  <a:pt x="34192" y="134137"/>
                  <a:pt x="36797" y="134354"/>
                  <a:pt x="38996" y="133241"/>
                </a:cubicBezTo>
                <a:lnTo>
                  <a:pt x="78181" y="113323"/>
                </a:lnTo>
                <a:lnTo>
                  <a:pt x="117339" y="133241"/>
                </a:lnTo>
                <a:cubicBezTo>
                  <a:pt x="119510" y="134354"/>
                  <a:pt x="122143" y="134137"/>
                  <a:pt x="124124" y="132699"/>
                </a:cubicBezTo>
                <a:cubicBezTo>
                  <a:pt x="126104" y="131260"/>
                  <a:pt x="127109" y="128845"/>
                  <a:pt x="126729" y="126403"/>
                </a:cubicBezTo>
                <a:lnTo>
                  <a:pt x="119863" y="83011"/>
                </a:lnTo>
                <a:lnTo>
                  <a:pt x="150907" y="51940"/>
                </a:lnTo>
                <a:cubicBezTo>
                  <a:pt x="152644" y="50203"/>
                  <a:pt x="153241" y="47652"/>
                  <a:pt x="152481" y="45318"/>
                </a:cubicBezTo>
                <a:cubicBezTo>
                  <a:pt x="151722" y="42985"/>
                  <a:pt x="149741" y="41275"/>
                  <a:pt x="147298" y="40895"/>
                </a:cubicBezTo>
                <a:lnTo>
                  <a:pt x="103934" y="34002"/>
                </a:lnTo>
                <a:lnTo>
                  <a:pt x="83988" y="-512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Text 49"/>
          <p:cNvSpPr/>
          <p:nvPr/>
        </p:nvSpPr>
        <p:spPr>
          <a:xfrm>
            <a:off x="6608451" y="4730911"/>
            <a:ext cx="416820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transformers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outperform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other approaches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3989" y="5043527"/>
            <a:ext cx="156308" cy="138940"/>
          </a:xfrm>
          <a:custGeom>
            <a:avLst/>
            <a:gdLst/>
            <a:ahLst/>
            <a:cxnLst/>
            <a:rect l="l" t="t" r="r" b="b"/>
            <a:pathLst>
              <a:path w="156308" h="138940">
                <a:moveTo>
                  <a:pt x="83988" y="-5129"/>
                </a:moveTo>
                <a:cubicBezTo>
                  <a:pt x="82876" y="-7300"/>
                  <a:pt x="80623" y="-8684"/>
                  <a:pt x="78181" y="-8684"/>
                </a:cubicBezTo>
                <a:cubicBezTo>
                  <a:pt x="75739" y="-8684"/>
                  <a:pt x="73486" y="-7300"/>
                  <a:pt x="72374" y="-5129"/>
                </a:cubicBezTo>
                <a:lnTo>
                  <a:pt x="52401" y="34002"/>
                </a:lnTo>
                <a:lnTo>
                  <a:pt x="9009" y="40895"/>
                </a:lnTo>
                <a:cubicBezTo>
                  <a:pt x="6594" y="41275"/>
                  <a:pt x="4586" y="42985"/>
                  <a:pt x="3826" y="45318"/>
                </a:cubicBezTo>
                <a:cubicBezTo>
                  <a:pt x="3066" y="47652"/>
                  <a:pt x="3691" y="50203"/>
                  <a:pt x="5400" y="51940"/>
                </a:cubicBezTo>
                <a:lnTo>
                  <a:pt x="36445" y="83011"/>
                </a:lnTo>
                <a:lnTo>
                  <a:pt x="29606" y="126403"/>
                </a:lnTo>
                <a:cubicBezTo>
                  <a:pt x="29226" y="128818"/>
                  <a:pt x="30230" y="131260"/>
                  <a:pt x="32211" y="132699"/>
                </a:cubicBezTo>
                <a:cubicBezTo>
                  <a:pt x="34192" y="134137"/>
                  <a:pt x="36797" y="134354"/>
                  <a:pt x="38996" y="133241"/>
                </a:cubicBezTo>
                <a:lnTo>
                  <a:pt x="78181" y="113323"/>
                </a:lnTo>
                <a:lnTo>
                  <a:pt x="117339" y="133241"/>
                </a:lnTo>
                <a:cubicBezTo>
                  <a:pt x="119510" y="134354"/>
                  <a:pt x="122143" y="134137"/>
                  <a:pt x="124124" y="132699"/>
                </a:cubicBezTo>
                <a:cubicBezTo>
                  <a:pt x="126104" y="131260"/>
                  <a:pt x="127109" y="128845"/>
                  <a:pt x="126729" y="126403"/>
                </a:cubicBezTo>
                <a:lnTo>
                  <a:pt x="119863" y="83011"/>
                </a:lnTo>
                <a:lnTo>
                  <a:pt x="150907" y="51940"/>
                </a:lnTo>
                <a:cubicBezTo>
                  <a:pt x="152644" y="50203"/>
                  <a:pt x="153241" y="47652"/>
                  <a:pt x="152481" y="45318"/>
                </a:cubicBezTo>
                <a:cubicBezTo>
                  <a:pt x="151722" y="42985"/>
                  <a:pt x="149741" y="41275"/>
                  <a:pt x="147298" y="40895"/>
                </a:cubicBezTo>
                <a:lnTo>
                  <a:pt x="103934" y="34002"/>
                </a:lnTo>
                <a:lnTo>
                  <a:pt x="83988" y="-512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Text 51"/>
          <p:cNvSpPr/>
          <p:nvPr/>
        </p:nvSpPr>
        <p:spPr>
          <a:xfrm>
            <a:off x="6608451" y="5008791"/>
            <a:ext cx="425504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models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(SciBERT, BioBERT)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additional gains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73989" y="5321407"/>
            <a:ext cx="156308" cy="138940"/>
          </a:xfrm>
          <a:custGeom>
            <a:avLst/>
            <a:gdLst/>
            <a:ahLst/>
            <a:cxnLst/>
            <a:rect l="l" t="t" r="r" b="b"/>
            <a:pathLst>
              <a:path w="156308" h="138940">
                <a:moveTo>
                  <a:pt x="83988" y="-5129"/>
                </a:moveTo>
                <a:cubicBezTo>
                  <a:pt x="82876" y="-7300"/>
                  <a:pt x="80623" y="-8684"/>
                  <a:pt x="78181" y="-8684"/>
                </a:cubicBezTo>
                <a:cubicBezTo>
                  <a:pt x="75739" y="-8684"/>
                  <a:pt x="73486" y="-7300"/>
                  <a:pt x="72374" y="-5129"/>
                </a:cubicBezTo>
                <a:lnTo>
                  <a:pt x="52401" y="34002"/>
                </a:lnTo>
                <a:lnTo>
                  <a:pt x="9009" y="40895"/>
                </a:lnTo>
                <a:cubicBezTo>
                  <a:pt x="6594" y="41275"/>
                  <a:pt x="4586" y="42985"/>
                  <a:pt x="3826" y="45318"/>
                </a:cubicBezTo>
                <a:cubicBezTo>
                  <a:pt x="3066" y="47652"/>
                  <a:pt x="3691" y="50203"/>
                  <a:pt x="5400" y="51940"/>
                </a:cubicBezTo>
                <a:lnTo>
                  <a:pt x="36445" y="83011"/>
                </a:lnTo>
                <a:lnTo>
                  <a:pt x="29606" y="126403"/>
                </a:lnTo>
                <a:cubicBezTo>
                  <a:pt x="29226" y="128818"/>
                  <a:pt x="30230" y="131260"/>
                  <a:pt x="32211" y="132699"/>
                </a:cubicBezTo>
                <a:cubicBezTo>
                  <a:pt x="34192" y="134137"/>
                  <a:pt x="36797" y="134354"/>
                  <a:pt x="38996" y="133241"/>
                </a:cubicBezTo>
                <a:lnTo>
                  <a:pt x="78181" y="113323"/>
                </a:lnTo>
                <a:lnTo>
                  <a:pt x="117339" y="133241"/>
                </a:lnTo>
                <a:cubicBezTo>
                  <a:pt x="119510" y="134354"/>
                  <a:pt x="122143" y="134137"/>
                  <a:pt x="124124" y="132699"/>
                </a:cubicBezTo>
                <a:cubicBezTo>
                  <a:pt x="126104" y="131260"/>
                  <a:pt x="127109" y="128845"/>
                  <a:pt x="126729" y="126403"/>
                </a:cubicBezTo>
                <a:lnTo>
                  <a:pt x="119863" y="83011"/>
                </a:lnTo>
                <a:lnTo>
                  <a:pt x="150907" y="51940"/>
                </a:lnTo>
                <a:cubicBezTo>
                  <a:pt x="152644" y="50203"/>
                  <a:pt x="153241" y="47652"/>
                  <a:pt x="152481" y="45318"/>
                </a:cubicBezTo>
                <a:cubicBezTo>
                  <a:pt x="151722" y="42985"/>
                  <a:pt x="149741" y="41275"/>
                  <a:pt x="147298" y="40895"/>
                </a:cubicBezTo>
                <a:lnTo>
                  <a:pt x="103934" y="34002"/>
                </a:lnTo>
                <a:lnTo>
                  <a:pt x="83988" y="-512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5" name="Text 53"/>
          <p:cNvSpPr/>
          <p:nvPr/>
        </p:nvSpPr>
        <p:spPr>
          <a:xfrm>
            <a:off x="6608451" y="5286672"/>
            <a:ext cx="356034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robustness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datasets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64718" y="5814651"/>
            <a:ext cx="11479932" cy="694701"/>
          </a:xfrm>
          <a:custGeom>
            <a:avLst/>
            <a:gdLst/>
            <a:ahLst/>
            <a:cxnLst/>
            <a:rect l="l" t="t" r="r" b="b"/>
            <a:pathLst>
              <a:path w="11479932" h="694701">
                <a:moveTo>
                  <a:pt x="34735" y="0"/>
                </a:moveTo>
                <a:lnTo>
                  <a:pt x="11410462" y="0"/>
                </a:lnTo>
                <a:cubicBezTo>
                  <a:pt x="11448829" y="0"/>
                  <a:pt x="11479932" y="31103"/>
                  <a:pt x="11479932" y="69470"/>
                </a:cubicBezTo>
                <a:lnTo>
                  <a:pt x="11479932" y="625231"/>
                </a:lnTo>
                <a:cubicBezTo>
                  <a:pt x="11479932" y="663598"/>
                  <a:pt x="11448829" y="694701"/>
                  <a:pt x="11410462" y="694701"/>
                </a:cubicBezTo>
                <a:lnTo>
                  <a:pt x="34735" y="694701"/>
                </a:lnTo>
                <a:cubicBezTo>
                  <a:pt x="15551" y="694701"/>
                  <a:pt x="0" y="679149"/>
                  <a:pt x="0" y="65996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64718" y="5814651"/>
            <a:ext cx="34735" cy="694701"/>
          </a:xfrm>
          <a:custGeom>
            <a:avLst/>
            <a:gdLst/>
            <a:ahLst/>
            <a:cxnLst/>
            <a:rect l="l" t="t" r="r" b="b"/>
            <a:pathLst>
              <a:path w="34735" h="694701">
                <a:moveTo>
                  <a:pt x="34735" y="0"/>
                </a:moveTo>
                <a:lnTo>
                  <a:pt x="34735" y="0"/>
                </a:lnTo>
                <a:lnTo>
                  <a:pt x="34735" y="694701"/>
                </a:lnTo>
                <a:lnTo>
                  <a:pt x="34735" y="694701"/>
                </a:lnTo>
                <a:cubicBezTo>
                  <a:pt x="15551" y="694701"/>
                  <a:pt x="0" y="679149"/>
                  <a:pt x="0" y="65996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8" name="Shape 56"/>
          <p:cNvSpPr/>
          <p:nvPr/>
        </p:nvSpPr>
        <p:spPr>
          <a:xfrm>
            <a:off x="538393" y="5988326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60786" y="43419"/>
                </a:moveTo>
                <a:cubicBezTo>
                  <a:pt x="60786" y="38626"/>
                  <a:pt x="64677" y="34735"/>
                  <a:pt x="69470" y="34735"/>
                </a:cubicBezTo>
                <a:cubicBezTo>
                  <a:pt x="74263" y="34735"/>
                  <a:pt x="78154" y="38626"/>
                  <a:pt x="78154" y="43419"/>
                </a:cubicBezTo>
                <a:cubicBezTo>
                  <a:pt x="78154" y="48212"/>
                  <a:pt x="74263" y="52103"/>
                  <a:pt x="69470" y="52103"/>
                </a:cubicBezTo>
                <a:cubicBezTo>
                  <a:pt x="64677" y="52103"/>
                  <a:pt x="60786" y="48212"/>
                  <a:pt x="60786" y="43419"/>
                </a:cubicBezTo>
                <a:close/>
                <a:moveTo>
                  <a:pt x="58615" y="60786"/>
                </a:moveTo>
                <a:lnTo>
                  <a:pt x="71641" y="60786"/>
                </a:lnTo>
                <a:cubicBezTo>
                  <a:pt x="75250" y="60786"/>
                  <a:pt x="78154" y="63690"/>
                  <a:pt x="78154" y="67299"/>
                </a:cubicBezTo>
                <a:lnTo>
                  <a:pt x="78154" y="91179"/>
                </a:lnTo>
                <a:lnTo>
                  <a:pt x="80325" y="91179"/>
                </a:lnTo>
                <a:cubicBezTo>
                  <a:pt x="83934" y="91179"/>
                  <a:pt x="86838" y="94083"/>
                  <a:pt x="86838" y="97692"/>
                </a:cubicBezTo>
                <a:cubicBezTo>
                  <a:pt x="86838" y="101301"/>
                  <a:pt x="83934" y="104205"/>
                  <a:pt x="80325" y="104205"/>
                </a:cubicBezTo>
                <a:lnTo>
                  <a:pt x="58615" y="104205"/>
                </a:lnTo>
                <a:cubicBezTo>
                  <a:pt x="55006" y="104205"/>
                  <a:pt x="52103" y="101301"/>
                  <a:pt x="52103" y="97692"/>
                </a:cubicBezTo>
                <a:cubicBezTo>
                  <a:pt x="52103" y="94083"/>
                  <a:pt x="55006" y="91179"/>
                  <a:pt x="58615" y="91179"/>
                </a:cubicBezTo>
                <a:lnTo>
                  <a:pt x="65128" y="91179"/>
                </a:lnTo>
                <a:lnTo>
                  <a:pt x="65128" y="73812"/>
                </a:lnTo>
                <a:lnTo>
                  <a:pt x="58615" y="73812"/>
                </a:lnTo>
                <a:cubicBezTo>
                  <a:pt x="55006" y="73812"/>
                  <a:pt x="52103" y="70908"/>
                  <a:pt x="52103" y="67299"/>
                </a:cubicBezTo>
                <a:cubicBezTo>
                  <a:pt x="52103" y="63690"/>
                  <a:pt x="55006" y="60786"/>
                  <a:pt x="58615" y="607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9" name="Text 57"/>
          <p:cNvSpPr/>
          <p:nvPr/>
        </p:nvSpPr>
        <p:spPr>
          <a:xfrm>
            <a:off x="802814" y="5981373"/>
            <a:ext cx="1737403" cy="152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Best Practice: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21026" y="5981373"/>
            <a:ext cx="11023709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cross-dataset validation 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assess generalization, report multiple metrics (not just accuracy), and consider class imbalance when interpreting results.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hapter4_imag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81175"/>
            <a:ext cx="1714500" cy="381000"/>
          </a:xfrm>
          <a:custGeom>
            <a:avLst/>
            <a:gdLst/>
            <a:ahLst/>
            <a:cxnLst/>
            <a:rect l="l" t="t" r="r" b="b"/>
            <a:pathLst>
              <a:path w="1714500" h="381000">
                <a:moveTo>
                  <a:pt x="0" y="0"/>
                </a:moveTo>
                <a:lnTo>
                  <a:pt x="1714500" y="0"/>
                </a:lnTo>
                <a:lnTo>
                  <a:pt x="1714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81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57375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90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Challenges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gaps and obstacles that hinder progress in health misinformation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spc="117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Dataset-Related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9106" y="1222906"/>
            <a:ext cx="5614249" cy="3779891"/>
          </a:xfrm>
          <a:custGeom>
            <a:avLst/>
            <a:gdLst/>
            <a:ahLst/>
            <a:cxnLst/>
            <a:rect l="l" t="t" r="r" b="b"/>
            <a:pathLst>
              <a:path w="5614249" h="3779891">
                <a:moveTo>
                  <a:pt x="37058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3705767"/>
                </a:lnTo>
                <a:cubicBezTo>
                  <a:pt x="5614249" y="3746704"/>
                  <a:pt x="5581063" y="3779891"/>
                  <a:pt x="5540126" y="3779891"/>
                </a:cubicBezTo>
                <a:lnTo>
                  <a:pt x="37058" y="3779891"/>
                </a:lnTo>
                <a:cubicBezTo>
                  <a:pt x="16591" y="3779891"/>
                  <a:pt x="0" y="3763299"/>
                  <a:pt x="0" y="374283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9106" y="1222906"/>
            <a:ext cx="37058" cy="3779891"/>
          </a:xfrm>
          <a:custGeom>
            <a:avLst/>
            <a:gdLst/>
            <a:ahLst/>
            <a:cxnLst/>
            <a:rect l="l" t="t" r="r" b="b"/>
            <a:pathLst>
              <a:path w="37058" h="3779891">
                <a:moveTo>
                  <a:pt x="37058" y="0"/>
                </a:moveTo>
                <a:lnTo>
                  <a:pt x="37058" y="0"/>
                </a:lnTo>
                <a:lnTo>
                  <a:pt x="37058" y="3779891"/>
                </a:lnTo>
                <a:lnTo>
                  <a:pt x="37058" y="3779891"/>
                </a:lnTo>
                <a:cubicBezTo>
                  <a:pt x="16591" y="3779891"/>
                  <a:pt x="0" y="3763299"/>
                  <a:pt x="0" y="374283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92924" y="1408195"/>
            <a:ext cx="53177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Primary Data Issues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2924" y="1815830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626" y="1964061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85696" y="11581"/>
                </a:moveTo>
                <a:cubicBezTo>
                  <a:pt x="85696" y="5182"/>
                  <a:pt x="80514" y="0"/>
                  <a:pt x="74116" y="0"/>
                </a:cubicBezTo>
                <a:cubicBezTo>
                  <a:pt x="67717" y="0"/>
                  <a:pt x="62535" y="5182"/>
                  <a:pt x="62535" y="11581"/>
                </a:cubicBezTo>
                <a:cubicBezTo>
                  <a:pt x="62535" y="24348"/>
                  <a:pt x="47104" y="30717"/>
                  <a:pt x="38071" y="21714"/>
                </a:cubicBezTo>
                <a:cubicBezTo>
                  <a:pt x="33555" y="17197"/>
                  <a:pt x="26230" y="17197"/>
                  <a:pt x="21685" y="21714"/>
                </a:cubicBezTo>
                <a:cubicBezTo>
                  <a:pt x="17139" y="26230"/>
                  <a:pt x="17168" y="33555"/>
                  <a:pt x="21685" y="38100"/>
                </a:cubicBezTo>
                <a:cubicBezTo>
                  <a:pt x="30717" y="47133"/>
                  <a:pt x="24319" y="62564"/>
                  <a:pt x="11552" y="62564"/>
                </a:cubicBezTo>
                <a:cubicBezTo>
                  <a:pt x="5153" y="62564"/>
                  <a:pt x="-29" y="67746"/>
                  <a:pt x="-29" y="74144"/>
                </a:cubicBezTo>
                <a:cubicBezTo>
                  <a:pt x="-29" y="80543"/>
                  <a:pt x="5153" y="85725"/>
                  <a:pt x="11552" y="85725"/>
                </a:cubicBezTo>
                <a:cubicBezTo>
                  <a:pt x="24319" y="85725"/>
                  <a:pt x="30688" y="101156"/>
                  <a:pt x="21685" y="110189"/>
                </a:cubicBezTo>
                <a:cubicBezTo>
                  <a:pt x="17168" y="114705"/>
                  <a:pt x="17168" y="122030"/>
                  <a:pt x="21685" y="126575"/>
                </a:cubicBezTo>
                <a:cubicBezTo>
                  <a:pt x="26201" y="131121"/>
                  <a:pt x="33526" y="131092"/>
                  <a:pt x="38071" y="126575"/>
                </a:cubicBezTo>
                <a:cubicBezTo>
                  <a:pt x="47104" y="117543"/>
                  <a:pt x="62535" y="123941"/>
                  <a:pt x="62535" y="136708"/>
                </a:cubicBezTo>
                <a:cubicBezTo>
                  <a:pt x="62535" y="143107"/>
                  <a:pt x="67717" y="148289"/>
                  <a:pt x="74116" y="148289"/>
                </a:cubicBezTo>
                <a:cubicBezTo>
                  <a:pt x="80514" y="148289"/>
                  <a:pt x="85696" y="143107"/>
                  <a:pt x="85696" y="136708"/>
                </a:cubicBezTo>
                <a:cubicBezTo>
                  <a:pt x="85696" y="123941"/>
                  <a:pt x="101127" y="117572"/>
                  <a:pt x="110160" y="126575"/>
                </a:cubicBezTo>
                <a:cubicBezTo>
                  <a:pt x="114676" y="131092"/>
                  <a:pt x="122001" y="131092"/>
                  <a:pt x="126546" y="126575"/>
                </a:cubicBezTo>
                <a:cubicBezTo>
                  <a:pt x="131092" y="122059"/>
                  <a:pt x="131063" y="114734"/>
                  <a:pt x="126546" y="110189"/>
                </a:cubicBezTo>
                <a:cubicBezTo>
                  <a:pt x="117514" y="101156"/>
                  <a:pt x="123912" y="85725"/>
                  <a:pt x="136679" y="85725"/>
                </a:cubicBezTo>
                <a:cubicBezTo>
                  <a:pt x="143078" y="85725"/>
                  <a:pt x="148260" y="80543"/>
                  <a:pt x="148260" y="74144"/>
                </a:cubicBezTo>
                <a:cubicBezTo>
                  <a:pt x="148260" y="67746"/>
                  <a:pt x="143078" y="62564"/>
                  <a:pt x="136679" y="62564"/>
                </a:cubicBezTo>
                <a:cubicBezTo>
                  <a:pt x="123912" y="62564"/>
                  <a:pt x="117543" y="47133"/>
                  <a:pt x="126546" y="38100"/>
                </a:cubicBezTo>
                <a:cubicBezTo>
                  <a:pt x="131063" y="33584"/>
                  <a:pt x="131063" y="26259"/>
                  <a:pt x="126546" y="21714"/>
                </a:cubicBezTo>
                <a:cubicBezTo>
                  <a:pt x="122030" y="17168"/>
                  <a:pt x="114705" y="17197"/>
                  <a:pt x="110160" y="21714"/>
                </a:cubicBezTo>
                <a:cubicBezTo>
                  <a:pt x="101127" y="30717"/>
                  <a:pt x="85696" y="24348"/>
                  <a:pt x="85696" y="11581"/>
                </a:cubicBezTo>
                <a:close/>
                <a:moveTo>
                  <a:pt x="46322" y="64851"/>
                </a:moveTo>
                <a:cubicBezTo>
                  <a:pt x="46322" y="59738"/>
                  <a:pt x="50473" y="55587"/>
                  <a:pt x="55587" y="55587"/>
                </a:cubicBezTo>
                <a:cubicBezTo>
                  <a:pt x="60700" y="55587"/>
                  <a:pt x="64851" y="59738"/>
                  <a:pt x="64851" y="64851"/>
                </a:cubicBezTo>
                <a:cubicBezTo>
                  <a:pt x="64851" y="69964"/>
                  <a:pt x="60700" y="74116"/>
                  <a:pt x="55587" y="74116"/>
                </a:cubicBezTo>
                <a:cubicBezTo>
                  <a:pt x="50473" y="74116"/>
                  <a:pt x="46322" y="69964"/>
                  <a:pt x="46322" y="64851"/>
                </a:cubicBezTo>
                <a:close/>
                <a:moveTo>
                  <a:pt x="92644" y="74116"/>
                </a:moveTo>
                <a:cubicBezTo>
                  <a:pt x="97758" y="74116"/>
                  <a:pt x="101909" y="78267"/>
                  <a:pt x="101909" y="83380"/>
                </a:cubicBezTo>
                <a:cubicBezTo>
                  <a:pt x="101909" y="88493"/>
                  <a:pt x="97758" y="92644"/>
                  <a:pt x="92644" y="92644"/>
                </a:cubicBezTo>
                <a:cubicBezTo>
                  <a:pt x="87531" y="92644"/>
                  <a:pt x="83380" y="88493"/>
                  <a:pt x="83380" y="83380"/>
                </a:cubicBezTo>
                <a:cubicBezTo>
                  <a:pt x="83380" y="78267"/>
                  <a:pt x="87531" y="74116"/>
                  <a:pt x="92644" y="7411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963502" y="1927003"/>
            <a:ext cx="179730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Over-Reliance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97" y="2186407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~70% of datasets focus on pandemic, limiting generalization to other health topics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924" y="2594043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362" y="2742274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46322" y="0"/>
                </a:moveTo>
                <a:cubicBezTo>
                  <a:pt x="51447" y="0"/>
                  <a:pt x="55587" y="4140"/>
                  <a:pt x="55587" y="9264"/>
                </a:cubicBezTo>
                <a:lnTo>
                  <a:pt x="55587" y="18529"/>
                </a:lnTo>
                <a:lnTo>
                  <a:pt x="92644" y="18529"/>
                </a:lnTo>
                <a:cubicBezTo>
                  <a:pt x="97769" y="18529"/>
                  <a:pt x="101909" y="22669"/>
                  <a:pt x="101909" y="27793"/>
                </a:cubicBezTo>
                <a:cubicBezTo>
                  <a:pt x="101909" y="32918"/>
                  <a:pt x="97769" y="37058"/>
                  <a:pt x="92644" y="37058"/>
                </a:cubicBezTo>
                <a:lnTo>
                  <a:pt x="89865" y="37058"/>
                </a:lnTo>
                <a:lnTo>
                  <a:pt x="87433" y="43746"/>
                </a:lnTo>
                <a:cubicBezTo>
                  <a:pt x="82685" y="56832"/>
                  <a:pt x="75534" y="68788"/>
                  <a:pt x="66530" y="79066"/>
                </a:cubicBezTo>
                <a:cubicBezTo>
                  <a:pt x="70641" y="81614"/>
                  <a:pt x="74926" y="83872"/>
                  <a:pt x="79385" y="85870"/>
                </a:cubicBezTo>
                <a:lnTo>
                  <a:pt x="93976" y="92355"/>
                </a:lnTo>
                <a:lnTo>
                  <a:pt x="111984" y="51823"/>
                </a:lnTo>
                <a:cubicBezTo>
                  <a:pt x="113460" y="48465"/>
                  <a:pt x="116790" y="46322"/>
                  <a:pt x="120438" y="46322"/>
                </a:cubicBezTo>
                <a:cubicBezTo>
                  <a:pt x="124086" y="46322"/>
                  <a:pt x="127415" y="48465"/>
                  <a:pt x="128891" y="51823"/>
                </a:cubicBezTo>
                <a:lnTo>
                  <a:pt x="165949" y="135203"/>
                </a:lnTo>
                <a:cubicBezTo>
                  <a:pt x="168034" y="139893"/>
                  <a:pt x="165920" y="145365"/>
                  <a:pt x="161259" y="147420"/>
                </a:cubicBezTo>
                <a:cubicBezTo>
                  <a:pt x="156598" y="149476"/>
                  <a:pt x="151097" y="147391"/>
                  <a:pt x="149042" y="142730"/>
                </a:cubicBezTo>
                <a:lnTo>
                  <a:pt x="143251" y="129702"/>
                </a:lnTo>
                <a:lnTo>
                  <a:pt x="97653" y="129702"/>
                </a:lnTo>
                <a:lnTo>
                  <a:pt x="91863" y="142730"/>
                </a:lnTo>
                <a:cubicBezTo>
                  <a:pt x="89778" y="147420"/>
                  <a:pt x="84306" y="149505"/>
                  <a:pt x="79645" y="147420"/>
                </a:cubicBezTo>
                <a:cubicBezTo>
                  <a:pt x="74984" y="145336"/>
                  <a:pt x="72871" y="139864"/>
                  <a:pt x="74955" y="135203"/>
                </a:cubicBezTo>
                <a:lnTo>
                  <a:pt x="86478" y="109291"/>
                </a:lnTo>
                <a:lnTo>
                  <a:pt x="71886" y="102806"/>
                </a:lnTo>
                <a:cubicBezTo>
                  <a:pt x="65227" y="99853"/>
                  <a:pt x="58858" y="96321"/>
                  <a:pt x="52836" y="92268"/>
                </a:cubicBezTo>
                <a:cubicBezTo>
                  <a:pt x="46670" y="97248"/>
                  <a:pt x="39924" y="101590"/>
                  <a:pt x="32715" y="105209"/>
                </a:cubicBezTo>
                <a:lnTo>
                  <a:pt x="22669" y="110189"/>
                </a:lnTo>
                <a:cubicBezTo>
                  <a:pt x="18095" y="112476"/>
                  <a:pt x="12536" y="110623"/>
                  <a:pt x="10249" y="106049"/>
                </a:cubicBezTo>
                <a:cubicBezTo>
                  <a:pt x="7962" y="101475"/>
                  <a:pt x="9815" y="95916"/>
                  <a:pt x="14389" y="93629"/>
                </a:cubicBezTo>
                <a:lnTo>
                  <a:pt x="24377" y="88620"/>
                </a:lnTo>
                <a:cubicBezTo>
                  <a:pt x="29096" y="86246"/>
                  <a:pt x="33584" y="83496"/>
                  <a:pt x="37810" y="80427"/>
                </a:cubicBezTo>
                <a:cubicBezTo>
                  <a:pt x="33815" y="76750"/>
                  <a:pt x="30052" y="72784"/>
                  <a:pt x="26548" y="68586"/>
                </a:cubicBezTo>
                <a:lnTo>
                  <a:pt x="23624" y="65054"/>
                </a:lnTo>
                <a:cubicBezTo>
                  <a:pt x="20353" y="61116"/>
                  <a:pt x="20874" y="55268"/>
                  <a:pt x="24811" y="51997"/>
                </a:cubicBezTo>
                <a:cubicBezTo>
                  <a:pt x="28749" y="48725"/>
                  <a:pt x="34597" y="49246"/>
                  <a:pt x="37868" y="53184"/>
                </a:cubicBezTo>
                <a:lnTo>
                  <a:pt x="40821" y="56716"/>
                </a:lnTo>
                <a:cubicBezTo>
                  <a:pt x="44151" y="60740"/>
                  <a:pt x="47799" y="64475"/>
                  <a:pt x="51649" y="67920"/>
                </a:cubicBezTo>
                <a:cubicBezTo>
                  <a:pt x="59611" y="59119"/>
                  <a:pt x="65893" y="48783"/>
                  <a:pt x="70033" y="37405"/>
                </a:cubicBezTo>
                <a:lnTo>
                  <a:pt x="70178" y="37058"/>
                </a:lnTo>
                <a:lnTo>
                  <a:pt x="9293" y="37058"/>
                </a:lnTo>
                <a:cubicBezTo>
                  <a:pt x="4140" y="37058"/>
                  <a:pt x="0" y="32918"/>
                  <a:pt x="0" y="27793"/>
                </a:cubicBezTo>
                <a:cubicBezTo>
                  <a:pt x="0" y="22669"/>
                  <a:pt x="4140" y="18529"/>
                  <a:pt x="9264" y="18529"/>
                </a:cubicBezTo>
                <a:lnTo>
                  <a:pt x="37058" y="18529"/>
                </a:lnTo>
                <a:lnTo>
                  <a:pt x="37058" y="9264"/>
                </a:lnTo>
                <a:cubicBezTo>
                  <a:pt x="37058" y="4140"/>
                  <a:pt x="41198" y="0"/>
                  <a:pt x="46322" y="0"/>
                </a:cubicBezTo>
                <a:close/>
                <a:moveTo>
                  <a:pt x="120438" y="78400"/>
                </a:moveTo>
                <a:lnTo>
                  <a:pt x="105875" y="111173"/>
                </a:lnTo>
                <a:lnTo>
                  <a:pt x="135000" y="111173"/>
                </a:lnTo>
                <a:lnTo>
                  <a:pt x="120438" y="7840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963502" y="2705216"/>
            <a:ext cx="182509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Multilingual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97" y="2964620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English-dominated datasets hinder global deployment and cross-cultural validation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2924" y="3372255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097" y="3520486"/>
            <a:ext cx="185289" cy="148231"/>
          </a:xfrm>
          <a:custGeom>
            <a:avLst/>
            <a:gdLst/>
            <a:ahLst/>
            <a:cxnLst/>
            <a:rect l="l" t="t" r="r" b="b"/>
            <a:pathLst>
              <a:path w="185289" h="148231">
                <a:moveTo>
                  <a:pt x="111173" y="9264"/>
                </a:moveTo>
                <a:lnTo>
                  <a:pt x="148231" y="9264"/>
                </a:lnTo>
                <a:cubicBezTo>
                  <a:pt x="153355" y="9264"/>
                  <a:pt x="157495" y="13404"/>
                  <a:pt x="157495" y="18529"/>
                </a:cubicBezTo>
                <a:cubicBezTo>
                  <a:pt x="157495" y="23653"/>
                  <a:pt x="153355" y="27793"/>
                  <a:pt x="148231" y="27793"/>
                </a:cubicBezTo>
                <a:lnTo>
                  <a:pt x="115342" y="27793"/>
                </a:lnTo>
                <a:cubicBezTo>
                  <a:pt x="113837" y="35263"/>
                  <a:pt x="108712" y="41429"/>
                  <a:pt x="101909" y="44382"/>
                </a:cubicBezTo>
                <a:lnTo>
                  <a:pt x="101909" y="129702"/>
                </a:lnTo>
                <a:lnTo>
                  <a:pt x="148231" y="129702"/>
                </a:lnTo>
                <a:cubicBezTo>
                  <a:pt x="153355" y="129702"/>
                  <a:pt x="157495" y="133842"/>
                  <a:pt x="157495" y="138967"/>
                </a:cubicBezTo>
                <a:cubicBezTo>
                  <a:pt x="157495" y="144091"/>
                  <a:pt x="153355" y="148231"/>
                  <a:pt x="148231" y="148231"/>
                </a:cubicBezTo>
                <a:lnTo>
                  <a:pt x="37058" y="148231"/>
                </a:lnTo>
                <a:cubicBezTo>
                  <a:pt x="31933" y="148231"/>
                  <a:pt x="27793" y="144091"/>
                  <a:pt x="27793" y="138967"/>
                </a:cubicBezTo>
                <a:cubicBezTo>
                  <a:pt x="27793" y="133842"/>
                  <a:pt x="31933" y="129702"/>
                  <a:pt x="37058" y="129702"/>
                </a:cubicBezTo>
                <a:lnTo>
                  <a:pt x="83380" y="129702"/>
                </a:lnTo>
                <a:lnTo>
                  <a:pt x="83380" y="44382"/>
                </a:lnTo>
                <a:cubicBezTo>
                  <a:pt x="76576" y="41400"/>
                  <a:pt x="71452" y="35234"/>
                  <a:pt x="69947" y="27793"/>
                </a:cubicBezTo>
                <a:lnTo>
                  <a:pt x="37058" y="27793"/>
                </a:lnTo>
                <a:cubicBezTo>
                  <a:pt x="31933" y="27793"/>
                  <a:pt x="27793" y="23653"/>
                  <a:pt x="27793" y="18529"/>
                </a:cubicBezTo>
                <a:cubicBezTo>
                  <a:pt x="27793" y="13404"/>
                  <a:pt x="31933" y="9264"/>
                  <a:pt x="37058" y="9264"/>
                </a:cubicBezTo>
                <a:lnTo>
                  <a:pt x="74116" y="9264"/>
                </a:lnTo>
                <a:cubicBezTo>
                  <a:pt x="78342" y="3648"/>
                  <a:pt x="85059" y="0"/>
                  <a:pt x="92644" y="0"/>
                </a:cubicBezTo>
                <a:cubicBezTo>
                  <a:pt x="100230" y="0"/>
                  <a:pt x="106946" y="3648"/>
                  <a:pt x="111173" y="9264"/>
                </a:cubicBezTo>
                <a:close/>
                <a:moveTo>
                  <a:pt x="127270" y="92644"/>
                </a:moveTo>
                <a:lnTo>
                  <a:pt x="169192" y="92644"/>
                </a:lnTo>
                <a:lnTo>
                  <a:pt x="148231" y="56687"/>
                </a:lnTo>
                <a:lnTo>
                  <a:pt x="127270" y="92644"/>
                </a:lnTo>
                <a:close/>
                <a:moveTo>
                  <a:pt x="148231" y="120438"/>
                </a:moveTo>
                <a:cubicBezTo>
                  <a:pt x="130021" y="120438"/>
                  <a:pt x="114879" y="110594"/>
                  <a:pt x="111752" y="97595"/>
                </a:cubicBezTo>
                <a:cubicBezTo>
                  <a:pt x="111000" y="94410"/>
                  <a:pt x="112042" y="91139"/>
                  <a:pt x="113692" y="88302"/>
                </a:cubicBezTo>
                <a:lnTo>
                  <a:pt x="141254" y="41053"/>
                </a:lnTo>
                <a:cubicBezTo>
                  <a:pt x="142701" y="38563"/>
                  <a:pt x="145365" y="37058"/>
                  <a:pt x="148231" y="37058"/>
                </a:cubicBezTo>
                <a:cubicBezTo>
                  <a:pt x="151097" y="37058"/>
                  <a:pt x="153761" y="38592"/>
                  <a:pt x="155208" y="41053"/>
                </a:cubicBezTo>
                <a:lnTo>
                  <a:pt x="182770" y="88302"/>
                </a:lnTo>
                <a:cubicBezTo>
                  <a:pt x="184420" y="91139"/>
                  <a:pt x="185462" y="94410"/>
                  <a:pt x="184710" y="97595"/>
                </a:cubicBezTo>
                <a:cubicBezTo>
                  <a:pt x="181583" y="110565"/>
                  <a:pt x="166441" y="120438"/>
                  <a:pt x="148231" y="120438"/>
                </a:cubicBezTo>
                <a:close/>
                <a:moveTo>
                  <a:pt x="36710" y="56687"/>
                </a:moveTo>
                <a:lnTo>
                  <a:pt x="15750" y="92644"/>
                </a:lnTo>
                <a:lnTo>
                  <a:pt x="57700" y="92644"/>
                </a:lnTo>
                <a:lnTo>
                  <a:pt x="36710" y="56687"/>
                </a:lnTo>
                <a:close/>
                <a:moveTo>
                  <a:pt x="261" y="97595"/>
                </a:moveTo>
                <a:cubicBezTo>
                  <a:pt x="-492" y="94410"/>
                  <a:pt x="550" y="91139"/>
                  <a:pt x="2200" y="88302"/>
                </a:cubicBezTo>
                <a:lnTo>
                  <a:pt x="29762" y="41053"/>
                </a:lnTo>
                <a:cubicBezTo>
                  <a:pt x="31210" y="38563"/>
                  <a:pt x="33873" y="37058"/>
                  <a:pt x="36739" y="37058"/>
                </a:cubicBezTo>
                <a:cubicBezTo>
                  <a:pt x="39605" y="37058"/>
                  <a:pt x="42269" y="38592"/>
                  <a:pt x="43717" y="41053"/>
                </a:cubicBezTo>
                <a:lnTo>
                  <a:pt x="71278" y="88302"/>
                </a:lnTo>
                <a:cubicBezTo>
                  <a:pt x="72928" y="91139"/>
                  <a:pt x="73971" y="94410"/>
                  <a:pt x="73218" y="97595"/>
                </a:cubicBezTo>
                <a:cubicBezTo>
                  <a:pt x="70091" y="110565"/>
                  <a:pt x="54950" y="120438"/>
                  <a:pt x="36739" y="120438"/>
                </a:cubicBezTo>
                <a:cubicBezTo>
                  <a:pt x="18529" y="120438"/>
                  <a:pt x="3387" y="110594"/>
                  <a:pt x="261" y="9759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963502" y="3483429"/>
            <a:ext cx="123217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97" y="3742833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often underrepresented, leading to biased model performance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2924" y="4150468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97" y="4298699"/>
            <a:ext cx="185289" cy="148231"/>
          </a:xfrm>
          <a:custGeom>
            <a:avLst/>
            <a:gdLst/>
            <a:ahLst/>
            <a:cxnLst/>
            <a:rect l="l" t="t" r="r" b="b"/>
            <a:pathLst>
              <a:path w="185289" h="148231">
                <a:moveTo>
                  <a:pt x="74144" y="71799"/>
                </a:moveTo>
                <a:cubicBezTo>
                  <a:pt x="93319" y="71799"/>
                  <a:pt x="108886" y="56232"/>
                  <a:pt x="108886" y="37058"/>
                </a:cubicBezTo>
                <a:cubicBezTo>
                  <a:pt x="108886" y="17883"/>
                  <a:pt x="93319" y="2316"/>
                  <a:pt x="74144" y="2316"/>
                </a:cubicBezTo>
                <a:cubicBezTo>
                  <a:pt x="54970" y="2316"/>
                  <a:pt x="39403" y="17883"/>
                  <a:pt x="39403" y="37058"/>
                </a:cubicBezTo>
                <a:cubicBezTo>
                  <a:pt x="39403" y="56232"/>
                  <a:pt x="54970" y="71799"/>
                  <a:pt x="74144" y="71799"/>
                </a:cubicBezTo>
                <a:close/>
                <a:moveTo>
                  <a:pt x="65546" y="88012"/>
                </a:moveTo>
                <a:cubicBezTo>
                  <a:pt x="37029" y="88012"/>
                  <a:pt x="13926" y="111115"/>
                  <a:pt x="13926" y="139632"/>
                </a:cubicBezTo>
                <a:cubicBezTo>
                  <a:pt x="13926" y="144380"/>
                  <a:pt x="17776" y="148231"/>
                  <a:pt x="22524" y="148231"/>
                </a:cubicBezTo>
                <a:lnTo>
                  <a:pt x="79414" y="148231"/>
                </a:lnTo>
                <a:lnTo>
                  <a:pt x="82569" y="132453"/>
                </a:lnTo>
                <a:cubicBezTo>
                  <a:pt x="83814" y="126170"/>
                  <a:pt x="86912" y="120409"/>
                  <a:pt x="91428" y="115892"/>
                </a:cubicBezTo>
                <a:lnTo>
                  <a:pt x="110913" y="96408"/>
                </a:lnTo>
                <a:cubicBezTo>
                  <a:pt x="102806" y="91110"/>
                  <a:pt x="93137" y="88041"/>
                  <a:pt x="82714" y="88041"/>
                </a:cubicBezTo>
                <a:lnTo>
                  <a:pt x="65517" y="88041"/>
                </a:lnTo>
                <a:close/>
                <a:moveTo>
                  <a:pt x="96205" y="135174"/>
                </a:moveTo>
                <a:lnTo>
                  <a:pt x="92760" y="152429"/>
                </a:lnTo>
                <a:cubicBezTo>
                  <a:pt x="92702" y="152690"/>
                  <a:pt x="92673" y="152979"/>
                  <a:pt x="92673" y="153269"/>
                </a:cubicBezTo>
                <a:cubicBezTo>
                  <a:pt x="92673" y="155585"/>
                  <a:pt x="94555" y="157495"/>
                  <a:pt x="96900" y="157495"/>
                </a:cubicBezTo>
                <a:cubicBezTo>
                  <a:pt x="97190" y="157495"/>
                  <a:pt x="97450" y="157466"/>
                  <a:pt x="97740" y="157409"/>
                </a:cubicBezTo>
                <a:lnTo>
                  <a:pt x="114995" y="153963"/>
                </a:lnTo>
                <a:cubicBezTo>
                  <a:pt x="118585" y="153240"/>
                  <a:pt x="121885" y="151474"/>
                  <a:pt x="124462" y="148897"/>
                </a:cubicBezTo>
                <a:lnTo>
                  <a:pt x="158885" y="114474"/>
                </a:lnTo>
                <a:lnTo>
                  <a:pt x="135724" y="91313"/>
                </a:lnTo>
                <a:lnTo>
                  <a:pt x="101301" y="125736"/>
                </a:lnTo>
                <a:cubicBezTo>
                  <a:pt x="98724" y="128312"/>
                  <a:pt x="96958" y="131613"/>
                  <a:pt x="96234" y="135203"/>
                </a:cubicBezTo>
                <a:close/>
                <a:moveTo>
                  <a:pt x="173737" y="99564"/>
                </a:moveTo>
                <a:cubicBezTo>
                  <a:pt x="180135" y="93166"/>
                  <a:pt x="180135" y="82801"/>
                  <a:pt x="173737" y="76403"/>
                </a:cubicBezTo>
                <a:cubicBezTo>
                  <a:pt x="167339" y="70004"/>
                  <a:pt x="156974" y="70004"/>
                  <a:pt x="150576" y="76403"/>
                </a:cubicBezTo>
                <a:lnTo>
                  <a:pt x="142238" y="84741"/>
                </a:lnTo>
                <a:lnTo>
                  <a:pt x="165399" y="107902"/>
                </a:lnTo>
                <a:lnTo>
                  <a:pt x="173737" y="99564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963502" y="4261641"/>
            <a:ext cx="188994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Annotation Inconsistency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97" y="4521046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labeling criteria across datasets reduce comparability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5089" y="1222906"/>
            <a:ext cx="5614249" cy="2742274"/>
          </a:xfrm>
          <a:custGeom>
            <a:avLst/>
            <a:gdLst/>
            <a:ahLst/>
            <a:cxnLst/>
            <a:rect l="l" t="t" r="r" b="b"/>
            <a:pathLst>
              <a:path w="5614249" h="2742274">
                <a:moveTo>
                  <a:pt x="37058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2668150"/>
                </a:lnTo>
                <a:cubicBezTo>
                  <a:pt x="5614249" y="2709087"/>
                  <a:pt x="5581063" y="2742274"/>
                  <a:pt x="5540126" y="2742274"/>
                </a:cubicBezTo>
                <a:lnTo>
                  <a:pt x="37058" y="2742274"/>
                </a:lnTo>
                <a:cubicBezTo>
                  <a:pt x="16591" y="2742274"/>
                  <a:pt x="0" y="2725682"/>
                  <a:pt x="0" y="270521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05089" y="1222906"/>
            <a:ext cx="37058" cy="2742274"/>
          </a:xfrm>
          <a:custGeom>
            <a:avLst/>
            <a:gdLst/>
            <a:ahLst/>
            <a:cxnLst/>
            <a:rect l="l" t="t" r="r" b="b"/>
            <a:pathLst>
              <a:path w="37058" h="2742274">
                <a:moveTo>
                  <a:pt x="37058" y="0"/>
                </a:moveTo>
                <a:lnTo>
                  <a:pt x="37058" y="0"/>
                </a:lnTo>
                <a:lnTo>
                  <a:pt x="37058" y="2742274"/>
                </a:lnTo>
                <a:lnTo>
                  <a:pt x="37058" y="2742274"/>
                </a:lnTo>
                <a:cubicBezTo>
                  <a:pt x="16591" y="2742274"/>
                  <a:pt x="0" y="2725682"/>
                  <a:pt x="0" y="270521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8907" y="1408195"/>
            <a:ext cx="53177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Generalization Challenges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8907" y="1852888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21006" y="1908474"/>
            <a:ext cx="13896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6542" y="1815830"/>
            <a:ext cx="424311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 Performance Drop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6542" y="2038176"/>
            <a:ext cx="423384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trained on COVID-19 struggle with cancer, mental health content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8907" y="2371696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21006" y="2427283"/>
            <a:ext cx="13896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6542" y="2334638"/>
            <a:ext cx="390959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Dependency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6542" y="2556985"/>
            <a:ext cx="390032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Twitter-trained models underperform on WhatsApp, TikTok content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8907" y="289050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1006" y="2946091"/>
            <a:ext cx="13896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6542" y="2853447"/>
            <a:ext cx="354828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Validity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6542" y="3075793"/>
            <a:ext cx="353901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knowledge evolves, making static datasets outdated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8907" y="3409313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21006" y="3464900"/>
            <a:ext cx="13896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16542" y="3372255"/>
            <a:ext cx="350195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 vs. Real-World Gap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6542" y="3594602"/>
            <a:ext cx="349269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Blanco-Fernández et al. (2024): 98% → 71% accuracy drop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0266" y="4117116"/>
            <a:ext cx="5621661" cy="1230317"/>
          </a:xfrm>
          <a:custGeom>
            <a:avLst/>
            <a:gdLst/>
            <a:ahLst/>
            <a:cxnLst/>
            <a:rect l="l" t="t" r="r" b="b"/>
            <a:pathLst>
              <a:path w="5621661" h="1230317">
                <a:moveTo>
                  <a:pt x="74114" y="0"/>
                </a:moveTo>
                <a:lnTo>
                  <a:pt x="5547546" y="0"/>
                </a:lnTo>
                <a:cubicBezTo>
                  <a:pt x="5588479" y="0"/>
                  <a:pt x="5621661" y="33182"/>
                  <a:pt x="5621661" y="74114"/>
                </a:cubicBezTo>
                <a:lnTo>
                  <a:pt x="5621661" y="1156203"/>
                </a:lnTo>
                <a:cubicBezTo>
                  <a:pt x="5621661" y="1197135"/>
                  <a:pt x="5588479" y="1230317"/>
                  <a:pt x="5547546" y="1230317"/>
                </a:cubicBezTo>
                <a:lnTo>
                  <a:pt x="74114" y="1230317"/>
                </a:lnTo>
                <a:cubicBezTo>
                  <a:pt x="33182" y="1230317"/>
                  <a:pt x="0" y="1197135"/>
                  <a:pt x="0" y="1156203"/>
                </a:cubicBezTo>
                <a:lnTo>
                  <a:pt x="0" y="74114"/>
                </a:lnTo>
                <a:cubicBezTo>
                  <a:pt x="0" y="33182"/>
                  <a:pt x="33182" y="0"/>
                  <a:pt x="74114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9260" y="4306109"/>
            <a:ext cx="532705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 Heterogeneity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79260" y="4676686"/>
            <a:ext cx="531778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variations in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size, quality, annotation schemes, and health domains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cross-dataset evaluation and model comparison extremely challenging.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9106" y="5499376"/>
            <a:ext cx="11432316" cy="741155"/>
          </a:xfrm>
          <a:custGeom>
            <a:avLst/>
            <a:gdLst/>
            <a:ahLst/>
            <a:cxnLst/>
            <a:rect l="l" t="t" r="r" b="b"/>
            <a:pathLst>
              <a:path w="11432316" h="741155">
                <a:moveTo>
                  <a:pt x="37058" y="0"/>
                </a:moveTo>
                <a:lnTo>
                  <a:pt x="11358201" y="0"/>
                </a:lnTo>
                <a:cubicBezTo>
                  <a:pt x="11399133" y="0"/>
                  <a:pt x="11432316" y="33183"/>
                  <a:pt x="11432316" y="74116"/>
                </a:cubicBezTo>
                <a:lnTo>
                  <a:pt x="11432316" y="667040"/>
                </a:lnTo>
                <a:cubicBezTo>
                  <a:pt x="11432316" y="707972"/>
                  <a:pt x="11399133" y="741155"/>
                  <a:pt x="11358201" y="741155"/>
                </a:cubicBezTo>
                <a:lnTo>
                  <a:pt x="37058" y="741155"/>
                </a:lnTo>
                <a:cubicBezTo>
                  <a:pt x="16591" y="741155"/>
                  <a:pt x="0" y="724564"/>
                  <a:pt x="0" y="70409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89106" y="5499376"/>
            <a:ext cx="37058" cy="741155"/>
          </a:xfrm>
          <a:custGeom>
            <a:avLst/>
            <a:gdLst/>
            <a:ahLst/>
            <a:cxnLst/>
            <a:rect l="l" t="t" r="r" b="b"/>
            <a:pathLst>
              <a:path w="37058" h="741155">
                <a:moveTo>
                  <a:pt x="37058" y="0"/>
                </a:moveTo>
                <a:lnTo>
                  <a:pt x="37058" y="0"/>
                </a:lnTo>
                <a:lnTo>
                  <a:pt x="37058" y="741155"/>
                </a:lnTo>
                <a:lnTo>
                  <a:pt x="37058" y="741155"/>
                </a:lnTo>
                <a:cubicBezTo>
                  <a:pt x="16591" y="741155"/>
                  <a:pt x="0" y="724564"/>
                  <a:pt x="0" y="70409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" name="Shape 45"/>
          <p:cNvSpPr/>
          <p:nvPr/>
        </p:nvSpPr>
        <p:spPr>
          <a:xfrm>
            <a:off x="574395" y="568466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8" name="Text 46"/>
          <p:cNvSpPr/>
          <p:nvPr/>
        </p:nvSpPr>
        <p:spPr>
          <a:xfrm>
            <a:off x="856497" y="5677246"/>
            <a:ext cx="1029742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Need: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5866" y="5677246"/>
            <a:ext cx="10312245" cy="385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Diverse, balanced, multilingual datasets covering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health topics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standardized annotation protocols and continuous updating mechanisms.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spc="117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Constraints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Model-Related Limitations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9106" y="1222906"/>
            <a:ext cx="5614249" cy="3779891"/>
          </a:xfrm>
          <a:custGeom>
            <a:avLst/>
            <a:gdLst/>
            <a:ahLst/>
            <a:cxnLst/>
            <a:rect l="l" t="t" r="r" b="b"/>
            <a:pathLst>
              <a:path w="5614249" h="3779891">
                <a:moveTo>
                  <a:pt x="37058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3705767"/>
                </a:lnTo>
                <a:cubicBezTo>
                  <a:pt x="5614249" y="3746704"/>
                  <a:pt x="5581063" y="3779891"/>
                  <a:pt x="5540126" y="3779891"/>
                </a:cubicBezTo>
                <a:lnTo>
                  <a:pt x="37058" y="3779891"/>
                </a:lnTo>
                <a:cubicBezTo>
                  <a:pt x="16591" y="3779891"/>
                  <a:pt x="0" y="3763299"/>
                  <a:pt x="0" y="374283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9106" y="1222906"/>
            <a:ext cx="37058" cy="3779891"/>
          </a:xfrm>
          <a:custGeom>
            <a:avLst/>
            <a:gdLst/>
            <a:ahLst/>
            <a:cxnLst/>
            <a:rect l="l" t="t" r="r" b="b"/>
            <a:pathLst>
              <a:path w="37058" h="3779891">
                <a:moveTo>
                  <a:pt x="37058" y="0"/>
                </a:moveTo>
                <a:lnTo>
                  <a:pt x="37058" y="0"/>
                </a:lnTo>
                <a:lnTo>
                  <a:pt x="37058" y="3779891"/>
                </a:lnTo>
                <a:lnTo>
                  <a:pt x="37058" y="3779891"/>
                </a:lnTo>
                <a:cubicBezTo>
                  <a:pt x="16591" y="3779891"/>
                  <a:pt x="0" y="3763299"/>
                  <a:pt x="0" y="374283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92924" y="1408195"/>
            <a:ext cx="53177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 Model Issues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2924" y="1815830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626" y="1964061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74116" y="50954"/>
                </a:moveTo>
                <a:cubicBezTo>
                  <a:pt x="68991" y="50954"/>
                  <a:pt x="64851" y="55094"/>
                  <a:pt x="64851" y="60219"/>
                </a:cubicBezTo>
                <a:cubicBezTo>
                  <a:pt x="64851" y="64069"/>
                  <a:pt x="61753" y="67167"/>
                  <a:pt x="57903" y="67167"/>
                </a:cubicBezTo>
                <a:cubicBezTo>
                  <a:pt x="54052" y="67167"/>
                  <a:pt x="50954" y="64069"/>
                  <a:pt x="50954" y="60219"/>
                </a:cubicBezTo>
                <a:cubicBezTo>
                  <a:pt x="50954" y="47422"/>
                  <a:pt x="61319" y="37058"/>
                  <a:pt x="74116" y="37058"/>
                </a:cubicBezTo>
                <a:cubicBezTo>
                  <a:pt x="86912" y="37058"/>
                  <a:pt x="97277" y="47422"/>
                  <a:pt x="97277" y="60219"/>
                </a:cubicBezTo>
                <a:cubicBezTo>
                  <a:pt x="97277" y="73884"/>
                  <a:pt x="86854" y="79674"/>
                  <a:pt x="81064" y="81788"/>
                </a:cubicBezTo>
                <a:lnTo>
                  <a:pt x="81064" y="82888"/>
                </a:lnTo>
                <a:cubicBezTo>
                  <a:pt x="81064" y="86738"/>
                  <a:pt x="77966" y="89836"/>
                  <a:pt x="74116" y="89836"/>
                </a:cubicBezTo>
                <a:cubicBezTo>
                  <a:pt x="70265" y="89836"/>
                  <a:pt x="67167" y="86738"/>
                  <a:pt x="67167" y="82888"/>
                </a:cubicBezTo>
                <a:lnTo>
                  <a:pt x="67167" y="80543"/>
                </a:lnTo>
                <a:cubicBezTo>
                  <a:pt x="67167" y="74608"/>
                  <a:pt x="71452" y="70352"/>
                  <a:pt x="75882" y="68904"/>
                </a:cubicBezTo>
                <a:cubicBezTo>
                  <a:pt x="77734" y="68296"/>
                  <a:pt x="79703" y="67312"/>
                  <a:pt x="81151" y="65922"/>
                </a:cubicBezTo>
                <a:cubicBezTo>
                  <a:pt x="82396" y="64706"/>
                  <a:pt x="83380" y="63027"/>
                  <a:pt x="83380" y="60248"/>
                </a:cubicBezTo>
                <a:cubicBezTo>
                  <a:pt x="83380" y="55123"/>
                  <a:pt x="79240" y="50983"/>
                  <a:pt x="74116" y="50983"/>
                </a:cubicBezTo>
                <a:close/>
                <a:moveTo>
                  <a:pt x="64851" y="106541"/>
                </a:moveTo>
                <a:cubicBezTo>
                  <a:pt x="64851" y="101428"/>
                  <a:pt x="69002" y="97277"/>
                  <a:pt x="74116" y="97277"/>
                </a:cubicBezTo>
                <a:cubicBezTo>
                  <a:pt x="79229" y="97277"/>
                  <a:pt x="83380" y="101428"/>
                  <a:pt x="83380" y="106541"/>
                </a:cubicBezTo>
                <a:cubicBezTo>
                  <a:pt x="83380" y="111654"/>
                  <a:pt x="79229" y="115805"/>
                  <a:pt x="74116" y="115805"/>
                </a:cubicBezTo>
                <a:cubicBezTo>
                  <a:pt x="69002" y="115805"/>
                  <a:pt x="64851" y="111654"/>
                  <a:pt x="64851" y="10654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963502" y="1927003"/>
            <a:ext cx="186215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Insufficient Explainability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97" y="2186407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Black-box nature limits trust and adoption in healthcare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924" y="2594043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2626" y="274227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4742" y="16213"/>
                </a:moveTo>
                <a:cubicBezTo>
                  <a:pt x="34742" y="7267"/>
                  <a:pt x="42008" y="0"/>
                  <a:pt x="50954" y="0"/>
                </a:cubicBezTo>
                <a:lnTo>
                  <a:pt x="57903" y="0"/>
                </a:lnTo>
                <a:cubicBezTo>
                  <a:pt x="63027" y="0"/>
                  <a:pt x="67167" y="4140"/>
                  <a:pt x="67167" y="9264"/>
                </a:cubicBezTo>
                <a:lnTo>
                  <a:pt x="67167" y="138967"/>
                </a:lnTo>
                <a:cubicBezTo>
                  <a:pt x="67167" y="144091"/>
                  <a:pt x="63027" y="148231"/>
                  <a:pt x="57903" y="148231"/>
                </a:cubicBezTo>
                <a:lnTo>
                  <a:pt x="48638" y="148231"/>
                </a:lnTo>
                <a:cubicBezTo>
                  <a:pt x="40011" y="148231"/>
                  <a:pt x="32744" y="142325"/>
                  <a:pt x="30688" y="134334"/>
                </a:cubicBezTo>
                <a:cubicBezTo>
                  <a:pt x="30486" y="134334"/>
                  <a:pt x="30312" y="134334"/>
                  <a:pt x="30109" y="134334"/>
                </a:cubicBezTo>
                <a:cubicBezTo>
                  <a:pt x="17313" y="134334"/>
                  <a:pt x="6948" y="123970"/>
                  <a:pt x="6948" y="111173"/>
                </a:cubicBezTo>
                <a:cubicBezTo>
                  <a:pt x="6948" y="105962"/>
                  <a:pt x="8685" y="101156"/>
                  <a:pt x="11581" y="97277"/>
                </a:cubicBezTo>
                <a:cubicBezTo>
                  <a:pt x="5964" y="93050"/>
                  <a:pt x="2316" y="86333"/>
                  <a:pt x="2316" y="78748"/>
                </a:cubicBezTo>
                <a:cubicBezTo>
                  <a:pt x="2316" y="69802"/>
                  <a:pt x="7412" y="62014"/>
                  <a:pt x="14823" y="58163"/>
                </a:cubicBezTo>
                <a:cubicBezTo>
                  <a:pt x="12768" y="54689"/>
                  <a:pt x="11581" y="50636"/>
                  <a:pt x="11581" y="46322"/>
                </a:cubicBezTo>
                <a:cubicBezTo>
                  <a:pt x="11581" y="33526"/>
                  <a:pt x="21945" y="23161"/>
                  <a:pt x="34742" y="23161"/>
                </a:cubicBezTo>
                <a:lnTo>
                  <a:pt x="34742" y="16213"/>
                </a:lnTo>
                <a:close/>
                <a:moveTo>
                  <a:pt x="113489" y="16213"/>
                </a:moveTo>
                <a:lnTo>
                  <a:pt x="113489" y="23161"/>
                </a:lnTo>
                <a:cubicBezTo>
                  <a:pt x="126286" y="23161"/>
                  <a:pt x="136650" y="33526"/>
                  <a:pt x="136650" y="46322"/>
                </a:cubicBezTo>
                <a:cubicBezTo>
                  <a:pt x="136650" y="50665"/>
                  <a:pt x="135463" y="54718"/>
                  <a:pt x="133408" y="58163"/>
                </a:cubicBezTo>
                <a:cubicBezTo>
                  <a:pt x="140848" y="62014"/>
                  <a:pt x="145915" y="69773"/>
                  <a:pt x="145915" y="78748"/>
                </a:cubicBezTo>
                <a:cubicBezTo>
                  <a:pt x="145915" y="86333"/>
                  <a:pt x="142267" y="93050"/>
                  <a:pt x="136650" y="97277"/>
                </a:cubicBezTo>
                <a:cubicBezTo>
                  <a:pt x="139546" y="101156"/>
                  <a:pt x="141283" y="105962"/>
                  <a:pt x="141283" y="111173"/>
                </a:cubicBezTo>
                <a:cubicBezTo>
                  <a:pt x="141283" y="123970"/>
                  <a:pt x="130918" y="134334"/>
                  <a:pt x="118122" y="134334"/>
                </a:cubicBezTo>
                <a:cubicBezTo>
                  <a:pt x="117919" y="134334"/>
                  <a:pt x="117745" y="134334"/>
                  <a:pt x="117543" y="134334"/>
                </a:cubicBezTo>
                <a:cubicBezTo>
                  <a:pt x="115487" y="142325"/>
                  <a:pt x="108220" y="148231"/>
                  <a:pt x="99593" y="148231"/>
                </a:cubicBezTo>
                <a:lnTo>
                  <a:pt x="90328" y="148231"/>
                </a:lnTo>
                <a:cubicBezTo>
                  <a:pt x="85204" y="148231"/>
                  <a:pt x="81064" y="144091"/>
                  <a:pt x="81064" y="138967"/>
                </a:cubicBezTo>
                <a:lnTo>
                  <a:pt x="81064" y="9264"/>
                </a:lnTo>
                <a:cubicBezTo>
                  <a:pt x="81064" y="4140"/>
                  <a:pt x="85204" y="0"/>
                  <a:pt x="90328" y="0"/>
                </a:cubicBezTo>
                <a:lnTo>
                  <a:pt x="97277" y="0"/>
                </a:lnTo>
                <a:cubicBezTo>
                  <a:pt x="106223" y="0"/>
                  <a:pt x="113489" y="7267"/>
                  <a:pt x="113489" y="1621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963502" y="2705216"/>
            <a:ext cx="105614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Inherited Bias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97" y="2964620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models propagate biases from training corpora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2924" y="3372255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891" y="352048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8529" y="9264"/>
                </a:moveTo>
                <a:cubicBezTo>
                  <a:pt x="8309" y="9264"/>
                  <a:pt x="0" y="17573"/>
                  <a:pt x="0" y="27793"/>
                </a:cubicBezTo>
                <a:lnTo>
                  <a:pt x="0" y="46322"/>
                </a:lnTo>
                <a:cubicBezTo>
                  <a:pt x="0" y="56542"/>
                  <a:pt x="8309" y="64851"/>
                  <a:pt x="18529" y="64851"/>
                </a:cubicBezTo>
                <a:lnTo>
                  <a:pt x="111173" y="64851"/>
                </a:lnTo>
                <a:cubicBezTo>
                  <a:pt x="121393" y="64851"/>
                  <a:pt x="129702" y="56542"/>
                  <a:pt x="129702" y="46322"/>
                </a:cubicBezTo>
                <a:lnTo>
                  <a:pt x="129702" y="27793"/>
                </a:lnTo>
                <a:cubicBezTo>
                  <a:pt x="129702" y="17573"/>
                  <a:pt x="121393" y="9264"/>
                  <a:pt x="111173" y="9264"/>
                </a:cubicBezTo>
                <a:lnTo>
                  <a:pt x="18529" y="9264"/>
                </a:lnTo>
                <a:close/>
                <a:moveTo>
                  <a:pt x="81064" y="30109"/>
                </a:moveTo>
                <a:cubicBezTo>
                  <a:pt x="84899" y="30109"/>
                  <a:pt x="88012" y="33223"/>
                  <a:pt x="88012" y="37058"/>
                </a:cubicBezTo>
                <a:cubicBezTo>
                  <a:pt x="88012" y="40893"/>
                  <a:pt x="84899" y="44006"/>
                  <a:pt x="81064" y="44006"/>
                </a:cubicBezTo>
                <a:cubicBezTo>
                  <a:pt x="77229" y="44006"/>
                  <a:pt x="74116" y="40893"/>
                  <a:pt x="74116" y="37058"/>
                </a:cubicBezTo>
                <a:cubicBezTo>
                  <a:pt x="74116" y="33223"/>
                  <a:pt x="77229" y="30109"/>
                  <a:pt x="81064" y="30109"/>
                </a:cubicBezTo>
                <a:close/>
                <a:moveTo>
                  <a:pt x="97277" y="37058"/>
                </a:moveTo>
                <a:cubicBezTo>
                  <a:pt x="97277" y="33223"/>
                  <a:pt x="100390" y="30109"/>
                  <a:pt x="104225" y="30109"/>
                </a:cubicBezTo>
                <a:cubicBezTo>
                  <a:pt x="108060" y="30109"/>
                  <a:pt x="111173" y="33223"/>
                  <a:pt x="111173" y="37058"/>
                </a:cubicBezTo>
                <a:cubicBezTo>
                  <a:pt x="111173" y="40893"/>
                  <a:pt x="108060" y="44006"/>
                  <a:pt x="104225" y="44006"/>
                </a:cubicBezTo>
                <a:cubicBezTo>
                  <a:pt x="100390" y="44006"/>
                  <a:pt x="97277" y="40893"/>
                  <a:pt x="97277" y="37058"/>
                </a:cubicBezTo>
                <a:close/>
                <a:moveTo>
                  <a:pt x="18529" y="83380"/>
                </a:moveTo>
                <a:cubicBezTo>
                  <a:pt x="8309" y="83380"/>
                  <a:pt x="0" y="91689"/>
                  <a:pt x="0" y="101909"/>
                </a:cubicBezTo>
                <a:lnTo>
                  <a:pt x="0" y="120438"/>
                </a:lnTo>
                <a:cubicBezTo>
                  <a:pt x="0" y="130658"/>
                  <a:pt x="8309" y="138967"/>
                  <a:pt x="18529" y="138967"/>
                </a:cubicBezTo>
                <a:lnTo>
                  <a:pt x="111173" y="138967"/>
                </a:lnTo>
                <a:cubicBezTo>
                  <a:pt x="121393" y="138967"/>
                  <a:pt x="129702" y="130658"/>
                  <a:pt x="129702" y="120438"/>
                </a:cubicBezTo>
                <a:lnTo>
                  <a:pt x="129702" y="101909"/>
                </a:lnTo>
                <a:cubicBezTo>
                  <a:pt x="129702" y="91689"/>
                  <a:pt x="121393" y="83380"/>
                  <a:pt x="111173" y="83380"/>
                </a:cubicBezTo>
                <a:lnTo>
                  <a:pt x="18529" y="83380"/>
                </a:lnTo>
                <a:close/>
                <a:moveTo>
                  <a:pt x="81064" y="104225"/>
                </a:moveTo>
                <a:cubicBezTo>
                  <a:pt x="84899" y="104225"/>
                  <a:pt x="88012" y="107338"/>
                  <a:pt x="88012" y="111173"/>
                </a:cubicBezTo>
                <a:cubicBezTo>
                  <a:pt x="88012" y="115008"/>
                  <a:pt x="84899" y="118122"/>
                  <a:pt x="81064" y="118122"/>
                </a:cubicBezTo>
                <a:cubicBezTo>
                  <a:pt x="77229" y="118122"/>
                  <a:pt x="74116" y="115008"/>
                  <a:pt x="74116" y="111173"/>
                </a:cubicBezTo>
                <a:cubicBezTo>
                  <a:pt x="74116" y="107338"/>
                  <a:pt x="77229" y="104225"/>
                  <a:pt x="81064" y="104225"/>
                </a:cubicBezTo>
                <a:close/>
                <a:moveTo>
                  <a:pt x="97277" y="111173"/>
                </a:moveTo>
                <a:cubicBezTo>
                  <a:pt x="97277" y="107338"/>
                  <a:pt x="100390" y="104225"/>
                  <a:pt x="104225" y="104225"/>
                </a:cubicBezTo>
                <a:cubicBezTo>
                  <a:pt x="108060" y="104225"/>
                  <a:pt x="111173" y="107338"/>
                  <a:pt x="111173" y="111173"/>
                </a:cubicBezTo>
                <a:cubicBezTo>
                  <a:pt x="111173" y="115008"/>
                  <a:pt x="108060" y="118122"/>
                  <a:pt x="104225" y="118122"/>
                </a:cubicBezTo>
                <a:cubicBezTo>
                  <a:pt x="100390" y="118122"/>
                  <a:pt x="97277" y="115008"/>
                  <a:pt x="97277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963502" y="3483429"/>
            <a:ext cx="185288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Computational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97" y="3742833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and inference require significant resources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2924" y="4150468"/>
            <a:ext cx="5225143" cy="667040"/>
          </a:xfrm>
          <a:custGeom>
            <a:avLst/>
            <a:gdLst/>
            <a:ahLst/>
            <a:cxnLst/>
            <a:rect l="l" t="t" r="r" b="b"/>
            <a:pathLst>
              <a:path w="5225143" h="667040">
                <a:moveTo>
                  <a:pt x="37061" y="0"/>
                </a:moveTo>
                <a:lnTo>
                  <a:pt x="5188082" y="0"/>
                </a:lnTo>
                <a:cubicBezTo>
                  <a:pt x="5208550" y="0"/>
                  <a:pt x="5225143" y="16593"/>
                  <a:pt x="5225143" y="37061"/>
                </a:cubicBezTo>
                <a:lnTo>
                  <a:pt x="5225143" y="629979"/>
                </a:lnTo>
                <a:cubicBezTo>
                  <a:pt x="5225143" y="650447"/>
                  <a:pt x="5208550" y="667040"/>
                  <a:pt x="5188082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626" y="429869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9079" y="66154"/>
                </a:moveTo>
                <a:cubicBezTo>
                  <a:pt x="22929" y="39229"/>
                  <a:pt x="46120" y="18529"/>
                  <a:pt x="74116" y="18529"/>
                </a:cubicBezTo>
                <a:cubicBezTo>
                  <a:pt x="89460" y="18529"/>
                  <a:pt x="103356" y="24753"/>
                  <a:pt x="113431" y="34800"/>
                </a:cubicBezTo>
                <a:cubicBezTo>
                  <a:pt x="113489" y="34857"/>
                  <a:pt x="113547" y="34915"/>
                  <a:pt x="113605" y="34973"/>
                </a:cubicBezTo>
                <a:lnTo>
                  <a:pt x="115805" y="37058"/>
                </a:lnTo>
                <a:lnTo>
                  <a:pt x="101938" y="37058"/>
                </a:lnTo>
                <a:cubicBezTo>
                  <a:pt x="96813" y="37058"/>
                  <a:pt x="92673" y="41198"/>
                  <a:pt x="92673" y="46322"/>
                </a:cubicBezTo>
                <a:cubicBezTo>
                  <a:pt x="92673" y="51447"/>
                  <a:pt x="96813" y="55587"/>
                  <a:pt x="101938" y="55587"/>
                </a:cubicBezTo>
                <a:lnTo>
                  <a:pt x="138996" y="55587"/>
                </a:lnTo>
                <a:cubicBezTo>
                  <a:pt x="144120" y="55587"/>
                  <a:pt x="148260" y="51447"/>
                  <a:pt x="148260" y="46322"/>
                </a:cubicBezTo>
                <a:lnTo>
                  <a:pt x="148260" y="9264"/>
                </a:lnTo>
                <a:cubicBezTo>
                  <a:pt x="148260" y="4140"/>
                  <a:pt x="144120" y="0"/>
                  <a:pt x="138996" y="0"/>
                </a:cubicBezTo>
                <a:cubicBezTo>
                  <a:pt x="133871" y="0"/>
                  <a:pt x="129731" y="4140"/>
                  <a:pt x="129731" y="9264"/>
                </a:cubicBezTo>
                <a:lnTo>
                  <a:pt x="129731" y="24724"/>
                </a:lnTo>
                <a:lnTo>
                  <a:pt x="126460" y="21627"/>
                </a:lnTo>
                <a:cubicBezTo>
                  <a:pt x="113055" y="8280"/>
                  <a:pt x="94526" y="0"/>
                  <a:pt x="74116" y="0"/>
                </a:cubicBezTo>
                <a:cubicBezTo>
                  <a:pt x="36768" y="0"/>
                  <a:pt x="5877" y="27620"/>
                  <a:pt x="753" y="63548"/>
                </a:cubicBezTo>
                <a:cubicBezTo>
                  <a:pt x="29" y="68615"/>
                  <a:pt x="3532" y="73305"/>
                  <a:pt x="8599" y="74029"/>
                </a:cubicBezTo>
                <a:cubicBezTo>
                  <a:pt x="13665" y="74752"/>
                  <a:pt x="18355" y="71220"/>
                  <a:pt x="19079" y="66183"/>
                </a:cubicBezTo>
                <a:close/>
                <a:moveTo>
                  <a:pt x="147478" y="84683"/>
                </a:moveTo>
                <a:cubicBezTo>
                  <a:pt x="148202" y="79616"/>
                  <a:pt x="144670" y="74926"/>
                  <a:pt x="139632" y="74202"/>
                </a:cubicBezTo>
                <a:cubicBezTo>
                  <a:pt x="134595" y="73479"/>
                  <a:pt x="129876" y="77011"/>
                  <a:pt x="129152" y="82048"/>
                </a:cubicBezTo>
                <a:cubicBezTo>
                  <a:pt x="125302" y="108973"/>
                  <a:pt x="102111" y="129673"/>
                  <a:pt x="74116" y="129673"/>
                </a:cubicBezTo>
                <a:cubicBezTo>
                  <a:pt x="58771" y="129673"/>
                  <a:pt x="44875" y="123449"/>
                  <a:pt x="34800" y="113403"/>
                </a:cubicBezTo>
                <a:cubicBezTo>
                  <a:pt x="34742" y="113345"/>
                  <a:pt x="34684" y="113287"/>
                  <a:pt x="34626" y="113229"/>
                </a:cubicBezTo>
                <a:lnTo>
                  <a:pt x="32426" y="111144"/>
                </a:lnTo>
                <a:lnTo>
                  <a:pt x="46293" y="111144"/>
                </a:lnTo>
                <a:cubicBezTo>
                  <a:pt x="51418" y="111144"/>
                  <a:pt x="55558" y="107004"/>
                  <a:pt x="55558" y="101880"/>
                </a:cubicBezTo>
                <a:cubicBezTo>
                  <a:pt x="55558" y="96755"/>
                  <a:pt x="51418" y="92615"/>
                  <a:pt x="46293" y="92615"/>
                </a:cubicBezTo>
                <a:lnTo>
                  <a:pt x="9264" y="92644"/>
                </a:lnTo>
                <a:cubicBezTo>
                  <a:pt x="6804" y="92644"/>
                  <a:pt x="4430" y="93629"/>
                  <a:pt x="2692" y="95395"/>
                </a:cubicBezTo>
                <a:cubicBezTo>
                  <a:pt x="955" y="97161"/>
                  <a:pt x="-29" y="99506"/>
                  <a:pt x="0" y="101996"/>
                </a:cubicBezTo>
                <a:lnTo>
                  <a:pt x="290" y="138764"/>
                </a:lnTo>
                <a:cubicBezTo>
                  <a:pt x="318" y="143888"/>
                  <a:pt x="4516" y="147999"/>
                  <a:pt x="9641" y="147941"/>
                </a:cubicBezTo>
                <a:cubicBezTo>
                  <a:pt x="14765" y="147884"/>
                  <a:pt x="18876" y="143715"/>
                  <a:pt x="18818" y="138590"/>
                </a:cubicBezTo>
                <a:lnTo>
                  <a:pt x="18703" y="123680"/>
                </a:lnTo>
                <a:lnTo>
                  <a:pt x="21800" y="126604"/>
                </a:lnTo>
                <a:cubicBezTo>
                  <a:pt x="35205" y="139951"/>
                  <a:pt x="53705" y="148231"/>
                  <a:pt x="74116" y="148231"/>
                </a:cubicBezTo>
                <a:cubicBezTo>
                  <a:pt x="111463" y="148231"/>
                  <a:pt x="142354" y="120611"/>
                  <a:pt x="147478" y="8468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963502" y="4261641"/>
            <a:ext cx="117658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97" y="4521046"/>
            <a:ext cx="506764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memorize dataset patterns rather than generalize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5089" y="1222906"/>
            <a:ext cx="5614249" cy="2742274"/>
          </a:xfrm>
          <a:custGeom>
            <a:avLst/>
            <a:gdLst/>
            <a:ahLst/>
            <a:cxnLst/>
            <a:rect l="l" t="t" r="r" b="b"/>
            <a:pathLst>
              <a:path w="5614249" h="2742274">
                <a:moveTo>
                  <a:pt x="37058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2668150"/>
                </a:lnTo>
                <a:cubicBezTo>
                  <a:pt x="5614249" y="2709087"/>
                  <a:pt x="5581063" y="2742274"/>
                  <a:pt x="5540126" y="2742274"/>
                </a:cubicBezTo>
                <a:lnTo>
                  <a:pt x="37058" y="2742274"/>
                </a:lnTo>
                <a:cubicBezTo>
                  <a:pt x="16591" y="2742274"/>
                  <a:pt x="0" y="2725682"/>
                  <a:pt x="0" y="270521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05089" y="1222906"/>
            <a:ext cx="37058" cy="2742274"/>
          </a:xfrm>
          <a:custGeom>
            <a:avLst/>
            <a:gdLst/>
            <a:ahLst/>
            <a:cxnLst/>
            <a:rect l="l" t="t" r="r" b="b"/>
            <a:pathLst>
              <a:path w="37058" h="2742274">
                <a:moveTo>
                  <a:pt x="37058" y="0"/>
                </a:moveTo>
                <a:lnTo>
                  <a:pt x="37058" y="0"/>
                </a:lnTo>
                <a:lnTo>
                  <a:pt x="37058" y="2742274"/>
                </a:lnTo>
                <a:lnTo>
                  <a:pt x="37058" y="2742274"/>
                </a:lnTo>
                <a:cubicBezTo>
                  <a:pt x="16591" y="2742274"/>
                  <a:pt x="0" y="2725682"/>
                  <a:pt x="0" y="270521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8907" y="1408195"/>
            <a:ext cx="53177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LLM-Specific Challenges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7435" y="185288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7" name="Text 25"/>
          <p:cNvSpPr/>
          <p:nvPr/>
        </p:nvSpPr>
        <p:spPr>
          <a:xfrm>
            <a:off x="6705369" y="1815830"/>
            <a:ext cx="265889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 Risk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5369" y="2038176"/>
            <a:ext cx="264962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generate false or misleading information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7435" y="237169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" name="Text 28"/>
          <p:cNvSpPr/>
          <p:nvPr/>
        </p:nvSpPr>
        <p:spPr>
          <a:xfrm>
            <a:off x="6705369" y="2334638"/>
            <a:ext cx="233463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Overconfidence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05369" y="2556985"/>
            <a:ext cx="232537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confidence in incorrect predictions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7435" y="289050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3" name="Text 31"/>
          <p:cNvSpPr/>
          <p:nvPr/>
        </p:nvSpPr>
        <p:spPr>
          <a:xfrm>
            <a:off x="6705369" y="2853447"/>
            <a:ext cx="199185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 &amp;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05369" y="3075793"/>
            <a:ext cx="198259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 challenges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7435" y="3409313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6705369" y="3372255"/>
            <a:ext cx="217714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Window Limits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05369" y="3594602"/>
            <a:ext cx="21678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Difficulty processing long documents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0266" y="4117116"/>
            <a:ext cx="5621661" cy="1471193"/>
          </a:xfrm>
          <a:custGeom>
            <a:avLst/>
            <a:gdLst/>
            <a:ahLst/>
            <a:cxnLst/>
            <a:rect l="l" t="t" r="r" b="b"/>
            <a:pathLst>
              <a:path w="5621661" h="1471193">
                <a:moveTo>
                  <a:pt x="74119" y="0"/>
                </a:moveTo>
                <a:lnTo>
                  <a:pt x="5547542" y="0"/>
                </a:lnTo>
                <a:cubicBezTo>
                  <a:pt x="5588477" y="0"/>
                  <a:pt x="5621661" y="33184"/>
                  <a:pt x="5621661" y="74119"/>
                </a:cubicBezTo>
                <a:lnTo>
                  <a:pt x="5621661" y="1397074"/>
                </a:lnTo>
                <a:cubicBezTo>
                  <a:pt x="5621661" y="1438009"/>
                  <a:pt x="5588477" y="1471193"/>
                  <a:pt x="5547542" y="1471193"/>
                </a:cubicBezTo>
                <a:lnTo>
                  <a:pt x="74119" y="1471193"/>
                </a:lnTo>
                <a:cubicBezTo>
                  <a:pt x="33184" y="1471193"/>
                  <a:pt x="0" y="1438009"/>
                  <a:pt x="0" y="1397074"/>
                </a:cubicBezTo>
                <a:lnTo>
                  <a:pt x="0" y="74119"/>
                </a:lnTo>
                <a:cubicBezTo>
                  <a:pt x="0" y="33184"/>
                  <a:pt x="33184" y="0"/>
                  <a:pt x="7411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9260" y="4306109"/>
            <a:ext cx="532705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Interpretability Trade-off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9260" y="4676686"/>
            <a:ext cx="5317787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vs. Explainability: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accurate models tend to be less interpretable, creating challenges for healthcare deployment where transparency is critical.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9106" y="5740251"/>
            <a:ext cx="11432316" cy="741155"/>
          </a:xfrm>
          <a:custGeom>
            <a:avLst/>
            <a:gdLst/>
            <a:ahLst/>
            <a:cxnLst/>
            <a:rect l="l" t="t" r="r" b="b"/>
            <a:pathLst>
              <a:path w="11432316" h="741155">
                <a:moveTo>
                  <a:pt x="37058" y="0"/>
                </a:moveTo>
                <a:lnTo>
                  <a:pt x="11358201" y="0"/>
                </a:lnTo>
                <a:cubicBezTo>
                  <a:pt x="11399133" y="0"/>
                  <a:pt x="11432316" y="33183"/>
                  <a:pt x="11432316" y="74116"/>
                </a:cubicBezTo>
                <a:lnTo>
                  <a:pt x="11432316" y="667040"/>
                </a:lnTo>
                <a:cubicBezTo>
                  <a:pt x="11432316" y="707972"/>
                  <a:pt x="11399133" y="741155"/>
                  <a:pt x="11358201" y="741155"/>
                </a:cubicBezTo>
                <a:lnTo>
                  <a:pt x="37058" y="741155"/>
                </a:lnTo>
                <a:cubicBezTo>
                  <a:pt x="16591" y="741155"/>
                  <a:pt x="0" y="724564"/>
                  <a:pt x="0" y="70409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9106" y="5740251"/>
            <a:ext cx="37058" cy="741155"/>
          </a:xfrm>
          <a:custGeom>
            <a:avLst/>
            <a:gdLst/>
            <a:ahLst/>
            <a:cxnLst/>
            <a:rect l="l" t="t" r="r" b="b"/>
            <a:pathLst>
              <a:path w="37058" h="741155">
                <a:moveTo>
                  <a:pt x="37058" y="0"/>
                </a:moveTo>
                <a:lnTo>
                  <a:pt x="37058" y="0"/>
                </a:lnTo>
                <a:lnTo>
                  <a:pt x="37058" y="741155"/>
                </a:lnTo>
                <a:lnTo>
                  <a:pt x="37058" y="741155"/>
                </a:lnTo>
                <a:cubicBezTo>
                  <a:pt x="16591" y="741155"/>
                  <a:pt x="0" y="724564"/>
                  <a:pt x="0" y="70409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3" name="Shape 41"/>
          <p:cNvSpPr/>
          <p:nvPr/>
        </p:nvSpPr>
        <p:spPr>
          <a:xfrm>
            <a:off x="592924" y="5925540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84799" y="111173"/>
                </a:moveTo>
                <a:cubicBezTo>
                  <a:pt x="86912" y="104717"/>
                  <a:pt x="91139" y="98869"/>
                  <a:pt x="95916" y="93831"/>
                </a:cubicBezTo>
                <a:cubicBezTo>
                  <a:pt x="105383" y="83872"/>
                  <a:pt x="111173" y="70410"/>
                  <a:pt x="111173" y="55587"/>
                </a:cubicBezTo>
                <a:cubicBezTo>
                  <a:pt x="111173" y="24898"/>
                  <a:pt x="86275" y="0"/>
                  <a:pt x="55587" y="0"/>
                </a:cubicBezTo>
                <a:cubicBezTo>
                  <a:pt x="24898" y="0"/>
                  <a:pt x="0" y="24898"/>
                  <a:pt x="0" y="55587"/>
                </a:cubicBezTo>
                <a:cubicBezTo>
                  <a:pt x="0" y="70410"/>
                  <a:pt x="5790" y="83872"/>
                  <a:pt x="15257" y="93831"/>
                </a:cubicBezTo>
                <a:cubicBezTo>
                  <a:pt x="20034" y="98869"/>
                  <a:pt x="24290" y="104717"/>
                  <a:pt x="26375" y="111173"/>
                </a:cubicBezTo>
                <a:lnTo>
                  <a:pt x="84770" y="111173"/>
                </a:lnTo>
                <a:close/>
                <a:moveTo>
                  <a:pt x="83380" y="125070"/>
                </a:moveTo>
                <a:lnTo>
                  <a:pt x="27793" y="125070"/>
                </a:lnTo>
                <a:lnTo>
                  <a:pt x="27793" y="129702"/>
                </a:lnTo>
                <a:cubicBezTo>
                  <a:pt x="27793" y="142499"/>
                  <a:pt x="38158" y="152863"/>
                  <a:pt x="50954" y="152863"/>
                </a:cubicBezTo>
                <a:lnTo>
                  <a:pt x="60219" y="152863"/>
                </a:lnTo>
                <a:cubicBezTo>
                  <a:pt x="73015" y="152863"/>
                  <a:pt x="83380" y="142499"/>
                  <a:pt x="83380" y="129702"/>
                </a:cubicBezTo>
                <a:lnTo>
                  <a:pt x="83380" y="125070"/>
                </a:lnTo>
                <a:close/>
                <a:moveTo>
                  <a:pt x="53271" y="32426"/>
                </a:moveTo>
                <a:cubicBezTo>
                  <a:pt x="41748" y="32426"/>
                  <a:pt x="32426" y="41748"/>
                  <a:pt x="32426" y="53271"/>
                </a:cubicBezTo>
                <a:cubicBezTo>
                  <a:pt x="32426" y="57121"/>
                  <a:pt x="29328" y="60219"/>
                  <a:pt x="25477" y="60219"/>
                </a:cubicBezTo>
                <a:cubicBezTo>
                  <a:pt x="21627" y="60219"/>
                  <a:pt x="18529" y="57121"/>
                  <a:pt x="18529" y="53271"/>
                </a:cubicBezTo>
                <a:cubicBezTo>
                  <a:pt x="18529" y="34076"/>
                  <a:pt x="34076" y="18529"/>
                  <a:pt x="53271" y="18529"/>
                </a:cubicBezTo>
                <a:cubicBezTo>
                  <a:pt x="57121" y="18529"/>
                  <a:pt x="60219" y="21627"/>
                  <a:pt x="60219" y="25477"/>
                </a:cubicBezTo>
                <a:cubicBezTo>
                  <a:pt x="60219" y="29328"/>
                  <a:pt x="57121" y="32426"/>
                  <a:pt x="53271" y="324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856497" y="5918121"/>
            <a:ext cx="1351103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Priority: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55866" y="5918121"/>
            <a:ext cx="10657809" cy="385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yet accurate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using attention visualization, SHAP/LIME explanations, and hybrid architectures that balance performance with transparency.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7" y="332207"/>
            <a:ext cx="1159402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spc="105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207" y="597973"/>
            <a:ext cx="11677079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Domain &amp; Contextual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817" y="1096283"/>
            <a:ext cx="5664131" cy="1993243"/>
          </a:xfrm>
          <a:custGeom>
            <a:avLst/>
            <a:gdLst/>
            <a:ahLst/>
            <a:cxnLst/>
            <a:rect l="l" t="t" r="r" b="b"/>
            <a:pathLst>
              <a:path w="5664131" h="1993243">
                <a:moveTo>
                  <a:pt x="33221" y="0"/>
                </a:moveTo>
                <a:lnTo>
                  <a:pt x="5597696" y="0"/>
                </a:lnTo>
                <a:cubicBezTo>
                  <a:pt x="5634387" y="0"/>
                  <a:pt x="5664131" y="29744"/>
                  <a:pt x="5664131" y="66435"/>
                </a:cubicBezTo>
                <a:lnTo>
                  <a:pt x="5664131" y="1926808"/>
                </a:lnTo>
                <a:cubicBezTo>
                  <a:pt x="5664131" y="1963499"/>
                  <a:pt x="5634387" y="1993243"/>
                  <a:pt x="5597696" y="1993243"/>
                </a:cubicBezTo>
                <a:lnTo>
                  <a:pt x="33221" y="1993243"/>
                </a:lnTo>
                <a:cubicBezTo>
                  <a:pt x="14873" y="1993243"/>
                  <a:pt x="0" y="1978369"/>
                  <a:pt x="0" y="1960022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817" y="1096283"/>
            <a:ext cx="33221" cy="1993243"/>
          </a:xfrm>
          <a:custGeom>
            <a:avLst/>
            <a:gdLst/>
            <a:ahLst/>
            <a:cxnLst/>
            <a:rect l="l" t="t" r="r" b="b"/>
            <a:pathLst>
              <a:path w="33221" h="1993243">
                <a:moveTo>
                  <a:pt x="33221" y="0"/>
                </a:moveTo>
                <a:lnTo>
                  <a:pt x="33221" y="0"/>
                </a:lnTo>
                <a:lnTo>
                  <a:pt x="33221" y="1993243"/>
                </a:lnTo>
                <a:lnTo>
                  <a:pt x="33221" y="1993243"/>
                </a:lnTo>
                <a:cubicBezTo>
                  <a:pt x="14873" y="1993243"/>
                  <a:pt x="0" y="1978369"/>
                  <a:pt x="0" y="1960022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31531" y="1262387"/>
            <a:ext cx="5398365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Evolving Nature of Misinformation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1531" y="1661035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8354" y="1735782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109028" y="43602"/>
                </a:moveTo>
                <a:lnTo>
                  <a:pt x="110822" y="43602"/>
                </a:lnTo>
                <a:cubicBezTo>
                  <a:pt x="113843" y="43602"/>
                  <a:pt x="116272" y="41172"/>
                  <a:pt x="116272" y="38152"/>
                </a:cubicBezTo>
                <a:lnTo>
                  <a:pt x="116272" y="5450"/>
                </a:lnTo>
                <a:cubicBezTo>
                  <a:pt x="116272" y="3247"/>
                  <a:pt x="114955" y="1249"/>
                  <a:pt x="112911" y="409"/>
                </a:cubicBezTo>
                <a:cubicBezTo>
                  <a:pt x="110868" y="-431"/>
                  <a:pt x="108529" y="45"/>
                  <a:pt x="106962" y="1590"/>
                </a:cubicBezTo>
                <a:lnTo>
                  <a:pt x="95221" y="13353"/>
                </a:lnTo>
                <a:cubicBezTo>
                  <a:pt x="85161" y="5019"/>
                  <a:pt x="72216" y="0"/>
                  <a:pt x="58136" y="0"/>
                </a:cubicBezTo>
                <a:cubicBezTo>
                  <a:pt x="28841" y="0"/>
                  <a:pt x="4610" y="21665"/>
                  <a:pt x="590" y="49847"/>
                </a:cubicBezTo>
                <a:cubicBezTo>
                  <a:pt x="23" y="53821"/>
                  <a:pt x="2771" y="57500"/>
                  <a:pt x="6745" y="58068"/>
                </a:cubicBezTo>
                <a:cubicBezTo>
                  <a:pt x="10719" y="58636"/>
                  <a:pt x="14398" y="55865"/>
                  <a:pt x="14966" y="51914"/>
                </a:cubicBezTo>
                <a:cubicBezTo>
                  <a:pt x="17986" y="30771"/>
                  <a:pt x="36176" y="14534"/>
                  <a:pt x="58136" y="14534"/>
                </a:cubicBezTo>
                <a:cubicBezTo>
                  <a:pt x="68219" y="14534"/>
                  <a:pt x="77485" y="17940"/>
                  <a:pt x="84865" y="23686"/>
                </a:cubicBezTo>
                <a:lnTo>
                  <a:pt x="74260" y="34291"/>
                </a:lnTo>
                <a:cubicBezTo>
                  <a:pt x="72693" y="35858"/>
                  <a:pt x="72239" y="38197"/>
                  <a:pt x="73079" y="40241"/>
                </a:cubicBezTo>
                <a:cubicBezTo>
                  <a:pt x="73919" y="42285"/>
                  <a:pt x="75918" y="43602"/>
                  <a:pt x="78121" y="43602"/>
                </a:cubicBezTo>
                <a:lnTo>
                  <a:pt x="109028" y="43602"/>
                </a:lnTo>
                <a:close/>
                <a:moveTo>
                  <a:pt x="115705" y="66425"/>
                </a:moveTo>
                <a:cubicBezTo>
                  <a:pt x="116272" y="62451"/>
                  <a:pt x="113502" y="58772"/>
                  <a:pt x="109550" y="58204"/>
                </a:cubicBezTo>
                <a:cubicBezTo>
                  <a:pt x="105599" y="57637"/>
                  <a:pt x="101897" y="60407"/>
                  <a:pt x="101330" y="64359"/>
                </a:cubicBezTo>
                <a:cubicBezTo>
                  <a:pt x="98309" y="85478"/>
                  <a:pt x="80119" y="101716"/>
                  <a:pt x="58159" y="101716"/>
                </a:cubicBezTo>
                <a:cubicBezTo>
                  <a:pt x="48076" y="101716"/>
                  <a:pt x="38810" y="98309"/>
                  <a:pt x="31430" y="92564"/>
                </a:cubicBezTo>
                <a:lnTo>
                  <a:pt x="42013" y="81981"/>
                </a:lnTo>
                <a:cubicBezTo>
                  <a:pt x="43579" y="80414"/>
                  <a:pt x="44034" y="78075"/>
                  <a:pt x="43193" y="76031"/>
                </a:cubicBezTo>
                <a:cubicBezTo>
                  <a:pt x="42353" y="73987"/>
                  <a:pt x="40355" y="72670"/>
                  <a:pt x="38152" y="72670"/>
                </a:cubicBezTo>
                <a:lnTo>
                  <a:pt x="5450" y="72670"/>
                </a:lnTo>
                <a:cubicBezTo>
                  <a:pt x="2430" y="72670"/>
                  <a:pt x="0" y="75100"/>
                  <a:pt x="0" y="78121"/>
                </a:cubicBezTo>
                <a:lnTo>
                  <a:pt x="0" y="110822"/>
                </a:lnTo>
                <a:cubicBezTo>
                  <a:pt x="0" y="113025"/>
                  <a:pt x="1317" y="115023"/>
                  <a:pt x="3361" y="115864"/>
                </a:cubicBezTo>
                <a:cubicBezTo>
                  <a:pt x="5405" y="116704"/>
                  <a:pt x="7744" y="116227"/>
                  <a:pt x="9311" y="114683"/>
                </a:cubicBezTo>
                <a:lnTo>
                  <a:pt x="21074" y="102919"/>
                </a:lnTo>
                <a:cubicBezTo>
                  <a:pt x="31112" y="111254"/>
                  <a:pt x="44056" y="116272"/>
                  <a:pt x="58136" y="116272"/>
                </a:cubicBezTo>
                <a:cubicBezTo>
                  <a:pt x="87431" y="116272"/>
                  <a:pt x="111662" y="94608"/>
                  <a:pt x="115682" y="6642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896959" y="1627815"/>
            <a:ext cx="3313766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Rapidly Evolving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959" y="1827139"/>
            <a:ext cx="3305460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adapts to detection methods and current events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531" y="2126125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8354" y="2200872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58136" y="0"/>
                </a:moveTo>
                <a:cubicBezTo>
                  <a:pt x="90223" y="0"/>
                  <a:pt x="116272" y="26050"/>
                  <a:pt x="116272" y="58136"/>
                </a:cubicBezTo>
                <a:cubicBezTo>
                  <a:pt x="116272" y="90223"/>
                  <a:pt x="90223" y="116272"/>
                  <a:pt x="58136" y="116272"/>
                </a:cubicBezTo>
                <a:cubicBezTo>
                  <a:pt x="26050" y="116272"/>
                  <a:pt x="0" y="90223"/>
                  <a:pt x="0" y="58136"/>
                </a:cubicBezTo>
                <a:cubicBezTo>
                  <a:pt x="0" y="26050"/>
                  <a:pt x="26050" y="0"/>
                  <a:pt x="58136" y="0"/>
                </a:cubicBezTo>
                <a:close/>
                <a:moveTo>
                  <a:pt x="52686" y="27251"/>
                </a:moveTo>
                <a:lnTo>
                  <a:pt x="52686" y="58136"/>
                </a:lnTo>
                <a:cubicBezTo>
                  <a:pt x="52686" y="59953"/>
                  <a:pt x="53594" y="61656"/>
                  <a:pt x="55116" y="62678"/>
                </a:cubicBezTo>
                <a:lnTo>
                  <a:pt x="76917" y="77212"/>
                </a:lnTo>
                <a:cubicBezTo>
                  <a:pt x="79415" y="78893"/>
                  <a:pt x="82799" y="78211"/>
                  <a:pt x="84479" y="75691"/>
                </a:cubicBezTo>
                <a:cubicBezTo>
                  <a:pt x="86160" y="73170"/>
                  <a:pt x="85478" y="69809"/>
                  <a:pt x="82958" y="68128"/>
                </a:cubicBezTo>
                <a:lnTo>
                  <a:pt x="63587" y="55229"/>
                </a:lnTo>
                <a:lnTo>
                  <a:pt x="63587" y="27251"/>
                </a:lnTo>
                <a:cubicBezTo>
                  <a:pt x="63587" y="24231"/>
                  <a:pt x="61157" y="21801"/>
                  <a:pt x="58136" y="21801"/>
                </a:cubicBezTo>
                <a:cubicBezTo>
                  <a:pt x="55116" y="21801"/>
                  <a:pt x="52686" y="24231"/>
                  <a:pt x="52686" y="2725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896959" y="2092905"/>
            <a:ext cx="272409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Context Sensitivity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959" y="2292229"/>
            <a:ext cx="2715793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claim may be true or false depending on time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531" y="2591215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8354" y="2665962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50869" y="0"/>
                </a:moveTo>
                <a:cubicBezTo>
                  <a:pt x="58886" y="0"/>
                  <a:pt x="65403" y="4883"/>
                  <a:pt x="65403" y="10901"/>
                </a:cubicBezTo>
                <a:cubicBezTo>
                  <a:pt x="65403" y="13262"/>
                  <a:pt x="64404" y="15442"/>
                  <a:pt x="62678" y="17236"/>
                </a:cubicBezTo>
                <a:cubicBezTo>
                  <a:pt x="61179" y="18803"/>
                  <a:pt x="59953" y="20711"/>
                  <a:pt x="59953" y="22891"/>
                </a:cubicBezTo>
                <a:cubicBezTo>
                  <a:pt x="59953" y="26298"/>
                  <a:pt x="62724" y="29068"/>
                  <a:pt x="66130" y="29068"/>
                </a:cubicBezTo>
                <a:lnTo>
                  <a:pt x="76304" y="29068"/>
                </a:lnTo>
                <a:cubicBezTo>
                  <a:pt x="82322" y="29068"/>
                  <a:pt x="87204" y="33951"/>
                  <a:pt x="87204" y="39969"/>
                </a:cubicBezTo>
                <a:lnTo>
                  <a:pt x="87204" y="50143"/>
                </a:lnTo>
                <a:cubicBezTo>
                  <a:pt x="87204" y="53549"/>
                  <a:pt x="89975" y="56319"/>
                  <a:pt x="93381" y="56319"/>
                </a:cubicBezTo>
                <a:cubicBezTo>
                  <a:pt x="95539" y="56319"/>
                  <a:pt x="97469" y="55093"/>
                  <a:pt x="99036" y="53594"/>
                </a:cubicBezTo>
                <a:cubicBezTo>
                  <a:pt x="100830" y="51891"/>
                  <a:pt x="103010" y="50869"/>
                  <a:pt x="105372" y="50869"/>
                </a:cubicBezTo>
                <a:cubicBezTo>
                  <a:pt x="111390" y="50869"/>
                  <a:pt x="116272" y="57387"/>
                  <a:pt x="116272" y="65403"/>
                </a:cubicBezTo>
                <a:cubicBezTo>
                  <a:pt x="116272" y="73420"/>
                  <a:pt x="111390" y="79937"/>
                  <a:pt x="105372" y="79937"/>
                </a:cubicBezTo>
                <a:cubicBezTo>
                  <a:pt x="103010" y="79937"/>
                  <a:pt x="100807" y="78938"/>
                  <a:pt x="99036" y="77212"/>
                </a:cubicBezTo>
                <a:cubicBezTo>
                  <a:pt x="97469" y="75713"/>
                  <a:pt x="95561" y="74487"/>
                  <a:pt x="93381" y="74487"/>
                </a:cubicBezTo>
                <a:cubicBezTo>
                  <a:pt x="89975" y="74487"/>
                  <a:pt x="87204" y="77258"/>
                  <a:pt x="87204" y="80664"/>
                </a:cubicBezTo>
                <a:lnTo>
                  <a:pt x="87204" y="105372"/>
                </a:lnTo>
                <a:cubicBezTo>
                  <a:pt x="87204" y="111390"/>
                  <a:pt x="82322" y="116272"/>
                  <a:pt x="76304" y="116272"/>
                </a:cubicBezTo>
                <a:lnTo>
                  <a:pt x="63405" y="116272"/>
                </a:lnTo>
                <a:cubicBezTo>
                  <a:pt x="60498" y="116272"/>
                  <a:pt x="58136" y="113911"/>
                  <a:pt x="58136" y="111004"/>
                </a:cubicBezTo>
                <a:cubicBezTo>
                  <a:pt x="58136" y="108915"/>
                  <a:pt x="59453" y="107075"/>
                  <a:pt x="61134" y="105826"/>
                </a:cubicBezTo>
                <a:cubicBezTo>
                  <a:pt x="63768" y="103850"/>
                  <a:pt x="65403" y="101125"/>
                  <a:pt x="65403" y="98105"/>
                </a:cubicBezTo>
                <a:cubicBezTo>
                  <a:pt x="65403" y="92087"/>
                  <a:pt x="58886" y="87204"/>
                  <a:pt x="50869" y="87204"/>
                </a:cubicBezTo>
                <a:cubicBezTo>
                  <a:pt x="42853" y="87204"/>
                  <a:pt x="36335" y="92087"/>
                  <a:pt x="36335" y="98105"/>
                </a:cubicBezTo>
                <a:cubicBezTo>
                  <a:pt x="36335" y="101125"/>
                  <a:pt x="37970" y="103850"/>
                  <a:pt x="40605" y="105826"/>
                </a:cubicBezTo>
                <a:cubicBezTo>
                  <a:pt x="42285" y="107075"/>
                  <a:pt x="43602" y="108892"/>
                  <a:pt x="43602" y="111004"/>
                </a:cubicBezTo>
                <a:cubicBezTo>
                  <a:pt x="43602" y="113911"/>
                  <a:pt x="41240" y="116272"/>
                  <a:pt x="38334" y="116272"/>
                </a:cubicBezTo>
                <a:lnTo>
                  <a:pt x="10901" y="116272"/>
                </a:lnTo>
                <a:cubicBezTo>
                  <a:pt x="4883" y="116272"/>
                  <a:pt x="0" y="111390"/>
                  <a:pt x="0" y="105372"/>
                </a:cubicBezTo>
                <a:lnTo>
                  <a:pt x="0" y="77939"/>
                </a:lnTo>
                <a:cubicBezTo>
                  <a:pt x="0" y="75032"/>
                  <a:pt x="2362" y="72670"/>
                  <a:pt x="5269" y="72670"/>
                </a:cubicBezTo>
                <a:cubicBezTo>
                  <a:pt x="7358" y="72670"/>
                  <a:pt x="9197" y="73987"/>
                  <a:pt x="10446" y="75668"/>
                </a:cubicBezTo>
                <a:cubicBezTo>
                  <a:pt x="12422" y="78302"/>
                  <a:pt x="15147" y="79937"/>
                  <a:pt x="18168" y="79937"/>
                </a:cubicBezTo>
                <a:cubicBezTo>
                  <a:pt x="24186" y="79937"/>
                  <a:pt x="29068" y="73420"/>
                  <a:pt x="29068" y="65403"/>
                </a:cubicBezTo>
                <a:cubicBezTo>
                  <a:pt x="29068" y="57387"/>
                  <a:pt x="24186" y="50869"/>
                  <a:pt x="18168" y="50869"/>
                </a:cubicBezTo>
                <a:cubicBezTo>
                  <a:pt x="15147" y="50869"/>
                  <a:pt x="12422" y="52504"/>
                  <a:pt x="10446" y="55139"/>
                </a:cubicBezTo>
                <a:cubicBezTo>
                  <a:pt x="9197" y="56819"/>
                  <a:pt x="7381" y="58136"/>
                  <a:pt x="5269" y="58136"/>
                </a:cubicBezTo>
                <a:cubicBezTo>
                  <a:pt x="2362" y="58136"/>
                  <a:pt x="0" y="55774"/>
                  <a:pt x="0" y="52868"/>
                </a:cubicBezTo>
                <a:lnTo>
                  <a:pt x="0" y="39969"/>
                </a:lnTo>
                <a:cubicBezTo>
                  <a:pt x="0" y="33951"/>
                  <a:pt x="4883" y="29068"/>
                  <a:pt x="10901" y="29068"/>
                </a:cubicBezTo>
                <a:lnTo>
                  <a:pt x="35608" y="29068"/>
                </a:lnTo>
                <a:cubicBezTo>
                  <a:pt x="39015" y="29068"/>
                  <a:pt x="41785" y="26298"/>
                  <a:pt x="41785" y="22891"/>
                </a:cubicBezTo>
                <a:cubicBezTo>
                  <a:pt x="41785" y="20734"/>
                  <a:pt x="40559" y="18803"/>
                  <a:pt x="39060" y="17236"/>
                </a:cubicBezTo>
                <a:cubicBezTo>
                  <a:pt x="37357" y="15442"/>
                  <a:pt x="36335" y="13262"/>
                  <a:pt x="36335" y="10901"/>
                </a:cubicBezTo>
                <a:cubicBezTo>
                  <a:pt x="36335" y="4883"/>
                  <a:pt x="42853" y="0"/>
                  <a:pt x="50869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896959" y="2557995"/>
            <a:ext cx="279884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Dependency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959" y="2757319"/>
            <a:ext cx="2790540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 heavily depends on surrounding information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2207" y="3222409"/>
            <a:ext cx="5680741" cy="1661035"/>
          </a:xfrm>
          <a:custGeom>
            <a:avLst/>
            <a:gdLst/>
            <a:ahLst/>
            <a:cxnLst/>
            <a:rect l="l" t="t" r="r" b="b"/>
            <a:pathLst>
              <a:path w="5680741" h="1661035">
                <a:moveTo>
                  <a:pt x="66441" y="0"/>
                </a:moveTo>
                <a:lnTo>
                  <a:pt x="5614300" y="0"/>
                </a:lnTo>
                <a:cubicBezTo>
                  <a:pt x="5650994" y="0"/>
                  <a:pt x="5680741" y="29747"/>
                  <a:pt x="5680741" y="66441"/>
                </a:cubicBezTo>
                <a:lnTo>
                  <a:pt x="5680741" y="1594594"/>
                </a:lnTo>
                <a:cubicBezTo>
                  <a:pt x="5680741" y="1631289"/>
                  <a:pt x="5650994" y="1661035"/>
                  <a:pt x="5614300" y="1661035"/>
                </a:cubicBezTo>
                <a:lnTo>
                  <a:pt x="66441" y="1661035"/>
                </a:lnTo>
                <a:cubicBezTo>
                  <a:pt x="29747" y="1661035"/>
                  <a:pt x="0" y="1631289"/>
                  <a:pt x="0" y="1594594"/>
                </a:cubicBezTo>
                <a:lnTo>
                  <a:pt x="0" y="66441"/>
                </a:lnTo>
                <a:cubicBezTo>
                  <a:pt x="0" y="29747"/>
                  <a:pt x="29747" y="0"/>
                  <a:pt x="6644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8311" y="3388512"/>
            <a:ext cx="5423281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Diversity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921" y="3753940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43343" y="43343"/>
                </a:moveTo>
                <a:cubicBezTo>
                  <a:pt x="45782" y="40903"/>
                  <a:pt x="49727" y="40903"/>
                  <a:pt x="52141" y="43343"/>
                </a:cubicBezTo>
                <a:lnTo>
                  <a:pt x="66415" y="57617"/>
                </a:lnTo>
                <a:lnTo>
                  <a:pt x="80690" y="43343"/>
                </a:lnTo>
                <a:cubicBezTo>
                  <a:pt x="83130" y="40903"/>
                  <a:pt x="87075" y="40903"/>
                  <a:pt x="89488" y="43343"/>
                </a:cubicBezTo>
                <a:cubicBezTo>
                  <a:pt x="91902" y="45782"/>
                  <a:pt x="91928" y="49727"/>
                  <a:pt x="89488" y="52141"/>
                </a:cubicBezTo>
                <a:lnTo>
                  <a:pt x="75214" y="66415"/>
                </a:lnTo>
                <a:lnTo>
                  <a:pt x="89488" y="80690"/>
                </a:lnTo>
                <a:cubicBezTo>
                  <a:pt x="91928" y="83130"/>
                  <a:pt x="91928" y="87075"/>
                  <a:pt x="89488" y="89488"/>
                </a:cubicBezTo>
                <a:cubicBezTo>
                  <a:pt x="87049" y="91902"/>
                  <a:pt x="83104" y="91928"/>
                  <a:pt x="80690" y="89488"/>
                </a:cubicBezTo>
                <a:lnTo>
                  <a:pt x="66415" y="75214"/>
                </a:lnTo>
                <a:lnTo>
                  <a:pt x="52141" y="89488"/>
                </a:lnTo>
                <a:cubicBezTo>
                  <a:pt x="49701" y="91928"/>
                  <a:pt x="45756" y="91928"/>
                  <a:pt x="43343" y="89488"/>
                </a:cubicBezTo>
                <a:cubicBezTo>
                  <a:pt x="40929" y="87049"/>
                  <a:pt x="40903" y="83104"/>
                  <a:pt x="43343" y="80690"/>
                </a:cubicBezTo>
                <a:lnTo>
                  <a:pt x="57617" y="66415"/>
                </a:lnTo>
                <a:lnTo>
                  <a:pt x="43343" y="52141"/>
                </a:lnTo>
                <a:cubicBezTo>
                  <a:pt x="40903" y="49701"/>
                  <a:pt x="40903" y="45756"/>
                  <a:pt x="43343" y="4334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730856" y="3747306"/>
            <a:ext cx="671889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Twitter/X: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3261" y="3747306"/>
            <a:ext cx="1824440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text, hashtags, retweets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921" y="4019706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43343" y="43343"/>
                </a:moveTo>
                <a:cubicBezTo>
                  <a:pt x="45782" y="40903"/>
                  <a:pt x="49727" y="40903"/>
                  <a:pt x="52141" y="43343"/>
                </a:cubicBezTo>
                <a:lnTo>
                  <a:pt x="66415" y="57617"/>
                </a:lnTo>
                <a:lnTo>
                  <a:pt x="80690" y="43343"/>
                </a:lnTo>
                <a:cubicBezTo>
                  <a:pt x="83130" y="40903"/>
                  <a:pt x="87075" y="40903"/>
                  <a:pt x="89488" y="43343"/>
                </a:cubicBezTo>
                <a:cubicBezTo>
                  <a:pt x="91902" y="45782"/>
                  <a:pt x="91928" y="49727"/>
                  <a:pt x="89488" y="52141"/>
                </a:cubicBezTo>
                <a:lnTo>
                  <a:pt x="75214" y="66415"/>
                </a:lnTo>
                <a:lnTo>
                  <a:pt x="89488" y="80690"/>
                </a:lnTo>
                <a:cubicBezTo>
                  <a:pt x="91928" y="83130"/>
                  <a:pt x="91928" y="87075"/>
                  <a:pt x="89488" y="89488"/>
                </a:cubicBezTo>
                <a:cubicBezTo>
                  <a:pt x="87049" y="91902"/>
                  <a:pt x="83104" y="91928"/>
                  <a:pt x="80690" y="89488"/>
                </a:cubicBezTo>
                <a:lnTo>
                  <a:pt x="66415" y="75214"/>
                </a:lnTo>
                <a:lnTo>
                  <a:pt x="52141" y="89488"/>
                </a:lnTo>
                <a:cubicBezTo>
                  <a:pt x="49701" y="91928"/>
                  <a:pt x="45756" y="91928"/>
                  <a:pt x="43343" y="89488"/>
                </a:cubicBezTo>
                <a:cubicBezTo>
                  <a:pt x="40929" y="87049"/>
                  <a:pt x="40903" y="83104"/>
                  <a:pt x="43343" y="80690"/>
                </a:cubicBezTo>
                <a:lnTo>
                  <a:pt x="57617" y="66415"/>
                </a:lnTo>
                <a:lnTo>
                  <a:pt x="43343" y="52141"/>
                </a:lnTo>
                <a:cubicBezTo>
                  <a:pt x="40903" y="49701"/>
                  <a:pt x="40903" y="45756"/>
                  <a:pt x="43343" y="4334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730856" y="4013071"/>
            <a:ext cx="767710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9082" y="4013071"/>
            <a:ext cx="2164018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Encrypted, private groups, forwards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921" y="4285471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43343" y="43343"/>
                </a:moveTo>
                <a:cubicBezTo>
                  <a:pt x="45782" y="40903"/>
                  <a:pt x="49727" y="40903"/>
                  <a:pt x="52141" y="43343"/>
                </a:cubicBezTo>
                <a:lnTo>
                  <a:pt x="66415" y="57617"/>
                </a:lnTo>
                <a:lnTo>
                  <a:pt x="80690" y="43343"/>
                </a:lnTo>
                <a:cubicBezTo>
                  <a:pt x="83130" y="40903"/>
                  <a:pt x="87075" y="40903"/>
                  <a:pt x="89488" y="43343"/>
                </a:cubicBezTo>
                <a:cubicBezTo>
                  <a:pt x="91902" y="45782"/>
                  <a:pt x="91928" y="49727"/>
                  <a:pt x="89488" y="52141"/>
                </a:cubicBezTo>
                <a:lnTo>
                  <a:pt x="75214" y="66415"/>
                </a:lnTo>
                <a:lnTo>
                  <a:pt x="89488" y="80690"/>
                </a:lnTo>
                <a:cubicBezTo>
                  <a:pt x="91928" y="83130"/>
                  <a:pt x="91928" y="87075"/>
                  <a:pt x="89488" y="89488"/>
                </a:cubicBezTo>
                <a:cubicBezTo>
                  <a:pt x="87049" y="91902"/>
                  <a:pt x="83104" y="91928"/>
                  <a:pt x="80690" y="89488"/>
                </a:cubicBezTo>
                <a:lnTo>
                  <a:pt x="66415" y="75214"/>
                </a:lnTo>
                <a:lnTo>
                  <a:pt x="52141" y="89488"/>
                </a:lnTo>
                <a:cubicBezTo>
                  <a:pt x="49701" y="91928"/>
                  <a:pt x="45756" y="91928"/>
                  <a:pt x="43343" y="89488"/>
                </a:cubicBezTo>
                <a:cubicBezTo>
                  <a:pt x="40929" y="87049"/>
                  <a:pt x="40903" y="83104"/>
                  <a:pt x="43343" y="80690"/>
                </a:cubicBezTo>
                <a:lnTo>
                  <a:pt x="57617" y="66415"/>
                </a:lnTo>
                <a:lnTo>
                  <a:pt x="43343" y="52141"/>
                </a:lnTo>
                <a:cubicBezTo>
                  <a:pt x="40903" y="49701"/>
                  <a:pt x="40903" y="45756"/>
                  <a:pt x="43343" y="4334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730856" y="4278837"/>
            <a:ext cx="1144246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TikTok/YouTube: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45618" y="4278837"/>
            <a:ext cx="1691661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Video, audio, visual content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4921" y="4551237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43343" y="43343"/>
                </a:moveTo>
                <a:cubicBezTo>
                  <a:pt x="45782" y="40903"/>
                  <a:pt x="49727" y="40903"/>
                  <a:pt x="52141" y="43343"/>
                </a:cubicBezTo>
                <a:lnTo>
                  <a:pt x="66415" y="57617"/>
                </a:lnTo>
                <a:lnTo>
                  <a:pt x="80690" y="43343"/>
                </a:lnTo>
                <a:cubicBezTo>
                  <a:pt x="83130" y="40903"/>
                  <a:pt x="87075" y="40903"/>
                  <a:pt x="89488" y="43343"/>
                </a:cubicBezTo>
                <a:cubicBezTo>
                  <a:pt x="91902" y="45782"/>
                  <a:pt x="91928" y="49727"/>
                  <a:pt x="89488" y="52141"/>
                </a:cubicBezTo>
                <a:lnTo>
                  <a:pt x="75214" y="66415"/>
                </a:lnTo>
                <a:lnTo>
                  <a:pt x="89488" y="80690"/>
                </a:lnTo>
                <a:cubicBezTo>
                  <a:pt x="91928" y="83130"/>
                  <a:pt x="91928" y="87075"/>
                  <a:pt x="89488" y="89488"/>
                </a:cubicBezTo>
                <a:cubicBezTo>
                  <a:pt x="87049" y="91902"/>
                  <a:pt x="83104" y="91928"/>
                  <a:pt x="80690" y="89488"/>
                </a:cubicBezTo>
                <a:lnTo>
                  <a:pt x="66415" y="75214"/>
                </a:lnTo>
                <a:lnTo>
                  <a:pt x="52141" y="89488"/>
                </a:lnTo>
                <a:cubicBezTo>
                  <a:pt x="49701" y="91928"/>
                  <a:pt x="45756" y="91928"/>
                  <a:pt x="43343" y="89488"/>
                </a:cubicBezTo>
                <a:cubicBezTo>
                  <a:pt x="40929" y="87049"/>
                  <a:pt x="40903" y="83104"/>
                  <a:pt x="43343" y="80690"/>
                </a:cubicBezTo>
                <a:lnTo>
                  <a:pt x="57617" y="66415"/>
                </a:lnTo>
                <a:lnTo>
                  <a:pt x="43343" y="52141"/>
                </a:lnTo>
                <a:cubicBezTo>
                  <a:pt x="40903" y="49701"/>
                  <a:pt x="40903" y="45756"/>
                  <a:pt x="43343" y="4334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730856" y="4544603"/>
            <a:ext cx="731063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32435" y="4544603"/>
            <a:ext cx="2053144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content, comments, shares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7427" y="1096283"/>
            <a:ext cx="5664131" cy="3388512"/>
          </a:xfrm>
          <a:custGeom>
            <a:avLst/>
            <a:gdLst/>
            <a:ahLst/>
            <a:cxnLst/>
            <a:rect l="l" t="t" r="r" b="b"/>
            <a:pathLst>
              <a:path w="5664131" h="3388512">
                <a:moveTo>
                  <a:pt x="33221" y="0"/>
                </a:moveTo>
                <a:lnTo>
                  <a:pt x="5597682" y="0"/>
                </a:lnTo>
                <a:cubicBezTo>
                  <a:pt x="5634356" y="0"/>
                  <a:pt x="5664131" y="29775"/>
                  <a:pt x="5664131" y="66449"/>
                </a:cubicBezTo>
                <a:lnTo>
                  <a:pt x="5664131" y="3322064"/>
                </a:lnTo>
                <a:cubicBezTo>
                  <a:pt x="5664131" y="3358738"/>
                  <a:pt x="5634356" y="3388512"/>
                  <a:pt x="5597682" y="3388512"/>
                </a:cubicBezTo>
                <a:lnTo>
                  <a:pt x="33221" y="3388512"/>
                </a:lnTo>
                <a:cubicBezTo>
                  <a:pt x="14873" y="3388512"/>
                  <a:pt x="0" y="3373639"/>
                  <a:pt x="0" y="3355292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97427" y="1096283"/>
            <a:ext cx="33221" cy="3388512"/>
          </a:xfrm>
          <a:custGeom>
            <a:avLst/>
            <a:gdLst/>
            <a:ahLst/>
            <a:cxnLst/>
            <a:rect l="l" t="t" r="r" b="b"/>
            <a:pathLst>
              <a:path w="33221" h="3388512">
                <a:moveTo>
                  <a:pt x="33221" y="0"/>
                </a:moveTo>
                <a:lnTo>
                  <a:pt x="33221" y="0"/>
                </a:lnTo>
                <a:lnTo>
                  <a:pt x="33221" y="3388512"/>
                </a:lnTo>
                <a:lnTo>
                  <a:pt x="33221" y="3388512"/>
                </a:lnTo>
                <a:cubicBezTo>
                  <a:pt x="14873" y="3388512"/>
                  <a:pt x="0" y="3373639"/>
                  <a:pt x="0" y="3355292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6380141" y="1262387"/>
            <a:ext cx="5398365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Detection Difficulties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0141" y="1627815"/>
            <a:ext cx="5315313" cy="597973"/>
          </a:xfrm>
          <a:custGeom>
            <a:avLst/>
            <a:gdLst/>
            <a:ahLst/>
            <a:cxnLst/>
            <a:rect l="l" t="t" r="r" b="b"/>
            <a:pathLst>
              <a:path w="5315313" h="597973">
                <a:moveTo>
                  <a:pt x="33223" y="0"/>
                </a:moveTo>
                <a:lnTo>
                  <a:pt x="5282090" y="0"/>
                </a:lnTo>
                <a:cubicBezTo>
                  <a:pt x="5300439" y="0"/>
                  <a:pt x="5315313" y="14875"/>
                  <a:pt x="5315313" y="33223"/>
                </a:cubicBezTo>
                <a:lnTo>
                  <a:pt x="5315313" y="564749"/>
                </a:lnTo>
                <a:cubicBezTo>
                  <a:pt x="5315313" y="583098"/>
                  <a:pt x="5300439" y="597973"/>
                  <a:pt x="5282090" y="597973"/>
                </a:cubicBezTo>
                <a:lnTo>
                  <a:pt x="33223" y="597973"/>
                </a:lnTo>
                <a:cubicBezTo>
                  <a:pt x="14875" y="597973"/>
                  <a:pt x="0" y="583098"/>
                  <a:pt x="0" y="564749"/>
                </a:cubicBezTo>
                <a:lnTo>
                  <a:pt x="0" y="33223"/>
                </a:lnTo>
                <a:cubicBezTo>
                  <a:pt x="0" y="14875"/>
                  <a:pt x="14875" y="0"/>
                  <a:pt x="332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79803" y="1727477"/>
            <a:ext cx="518243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Subtle Misinformation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9803" y="1960022"/>
            <a:ext cx="5174125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true content with false conclusions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0141" y="2325450"/>
            <a:ext cx="5315313" cy="597973"/>
          </a:xfrm>
          <a:custGeom>
            <a:avLst/>
            <a:gdLst/>
            <a:ahLst/>
            <a:cxnLst/>
            <a:rect l="l" t="t" r="r" b="b"/>
            <a:pathLst>
              <a:path w="5315313" h="597973">
                <a:moveTo>
                  <a:pt x="33223" y="0"/>
                </a:moveTo>
                <a:lnTo>
                  <a:pt x="5282090" y="0"/>
                </a:lnTo>
                <a:cubicBezTo>
                  <a:pt x="5300439" y="0"/>
                  <a:pt x="5315313" y="14875"/>
                  <a:pt x="5315313" y="33223"/>
                </a:cubicBezTo>
                <a:lnTo>
                  <a:pt x="5315313" y="564749"/>
                </a:lnTo>
                <a:cubicBezTo>
                  <a:pt x="5315313" y="583098"/>
                  <a:pt x="5300439" y="597973"/>
                  <a:pt x="5282090" y="597973"/>
                </a:cubicBezTo>
                <a:lnTo>
                  <a:pt x="33223" y="597973"/>
                </a:lnTo>
                <a:cubicBezTo>
                  <a:pt x="14875" y="597973"/>
                  <a:pt x="0" y="583098"/>
                  <a:pt x="0" y="564749"/>
                </a:cubicBezTo>
                <a:lnTo>
                  <a:pt x="0" y="33223"/>
                </a:lnTo>
                <a:cubicBezTo>
                  <a:pt x="0" y="14875"/>
                  <a:pt x="14875" y="0"/>
                  <a:pt x="332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79803" y="2425112"/>
            <a:ext cx="518243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Emotionally Manipulative Content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9803" y="2657657"/>
            <a:ext cx="5174125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Exploits fear, hope, anger to bypass critical thinking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0141" y="3023084"/>
            <a:ext cx="5315313" cy="597973"/>
          </a:xfrm>
          <a:custGeom>
            <a:avLst/>
            <a:gdLst/>
            <a:ahLst/>
            <a:cxnLst/>
            <a:rect l="l" t="t" r="r" b="b"/>
            <a:pathLst>
              <a:path w="5315313" h="597973">
                <a:moveTo>
                  <a:pt x="33223" y="0"/>
                </a:moveTo>
                <a:lnTo>
                  <a:pt x="5282090" y="0"/>
                </a:lnTo>
                <a:cubicBezTo>
                  <a:pt x="5300439" y="0"/>
                  <a:pt x="5315313" y="14875"/>
                  <a:pt x="5315313" y="33223"/>
                </a:cubicBezTo>
                <a:lnTo>
                  <a:pt x="5315313" y="564749"/>
                </a:lnTo>
                <a:cubicBezTo>
                  <a:pt x="5315313" y="583098"/>
                  <a:pt x="5300439" y="597973"/>
                  <a:pt x="5282090" y="597973"/>
                </a:cubicBezTo>
                <a:lnTo>
                  <a:pt x="33223" y="597973"/>
                </a:lnTo>
                <a:cubicBezTo>
                  <a:pt x="14875" y="597973"/>
                  <a:pt x="0" y="583098"/>
                  <a:pt x="0" y="564749"/>
                </a:cubicBezTo>
                <a:lnTo>
                  <a:pt x="0" y="33223"/>
                </a:lnTo>
                <a:cubicBezTo>
                  <a:pt x="0" y="14875"/>
                  <a:pt x="14875" y="0"/>
                  <a:pt x="332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79803" y="3122747"/>
            <a:ext cx="518243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Satire vs. Misinformation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9803" y="3355292"/>
            <a:ext cx="5174125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Distinguishing intentional humor from deception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0141" y="3720719"/>
            <a:ext cx="5315313" cy="597973"/>
          </a:xfrm>
          <a:custGeom>
            <a:avLst/>
            <a:gdLst/>
            <a:ahLst/>
            <a:cxnLst/>
            <a:rect l="l" t="t" r="r" b="b"/>
            <a:pathLst>
              <a:path w="5315313" h="597973">
                <a:moveTo>
                  <a:pt x="33223" y="0"/>
                </a:moveTo>
                <a:lnTo>
                  <a:pt x="5282090" y="0"/>
                </a:lnTo>
                <a:cubicBezTo>
                  <a:pt x="5300439" y="0"/>
                  <a:pt x="5315313" y="14875"/>
                  <a:pt x="5315313" y="33223"/>
                </a:cubicBezTo>
                <a:lnTo>
                  <a:pt x="5315313" y="564749"/>
                </a:lnTo>
                <a:cubicBezTo>
                  <a:pt x="5315313" y="583098"/>
                  <a:pt x="5300439" y="597973"/>
                  <a:pt x="5282090" y="597973"/>
                </a:cubicBezTo>
                <a:lnTo>
                  <a:pt x="33223" y="597973"/>
                </a:lnTo>
                <a:cubicBezTo>
                  <a:pt x="14875" y="597973"/>
                  <a:pt x="0" y="583098"/>
                  <a:pt x="0" y="564749"/>
                </a:cubicBezTo>
                <a:lnTo>
                  <a:pt x="0" y="33223"/>
                </a:lnTo>
                <a:cubicBezTo>
                  <a:pt x="0" y="14875"/>
                  <a:pt x="14875" y="0"/>
                  <a:pt x="332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79803" y="3820381"/>
            <a:ext cx="518243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Scientific Uncertainty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9803" y="4052926"/>
            <a:ext cx="5174125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research with conflicting findings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4139" y="4621001"/>
            <a:ext cx="5679080" cy="1102928"/>
          </a:xfrm>
          <a:custGeom>
            <a:avLst/>
            <a:gdLst/>
            <a:ahLst/>
            <a:cxnLst/>
            <a:rect l="l" t="t" r="r" b="b"/>
            <a:pathLst>
              <a:path w="5679080" h="1102928">
                <a:moveTo>
                  <a:pt x="66440" y="0"/>
                </a:moveTo>
                <a:lnTo>
                  <a:pt x="5612640" y="0"/>
                </a:lnTo>
                <a:cubicBezTo>
                  <a:pt x="5649334" y="0"/>
                  <a:pt x="5679080" y="29746"/>
                  <a:pt x="5679080" y="66440"/>
                </a:cubicBezTo>
                <a:lnTo>
                  <a:pt x="5679080" y="1036487"/>
                </a:lnTo>
                <a:cubicBezTo>
                  <a:pt x="5679080" y="1073181"/>
                  <a:pt x="5649334" y="1102928"/>
                  <a:pt x="5612640" y="1102928"/>
                </a:cubicBezTo>
                <a:lnTo>
                  <a:pt x="66440" y="1102928"/>
                </a:lnTo>
                <a:cubicBezTo>
                  <a:pt x="29771" y="1102928"/>
                  <a:pt x="0" y="1073157"/>
                  <a:pt x="0" y="1036487"/>
                </a:cubicBezTo>
                <a:lnTo>
                  <a:pt x="0" y="66440"/>
                </a:lnTo>
                <a:cubicBezTo>
                  <a:pt x="0" y="29771"/>
                  <a:pt x="29771" y="0"/>
                  <a:pt x="6644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3564" y="4790433"/>
            <a:ext cx="5414975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Cross-Platform Generalization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3564" y="5122640"/>
            <a:ext cx="5406670" cy="43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trained on one platform </a:t>
            </a:r>
            <a:pPr>
              <a:lnSpc>
                <a:spcPct val="140000"/>
              </a:lnSpc>
            </a:pPr>
            <a:r>
              <a:rPr lang="en-US" sz="1046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rarely perform well </a:t>
            </a:r>
            <a:pPr>
              <a:lnSpc>
                <a:spcPct val="14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others due to differences in content format, user behavior, and linguistic patterns.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48817" y="5860130"/>
            <a:ext cx="11510975" cy="465090"/>
          </a:xfrm>
          <a:custGeom>
            <a:avLst/>
            <a:gdLst/>
            <a:ahLst/>
            <a:cxnLst/>
            <a:rect l="l" t="t" r="r" b="b"/>
            <a:pathLst>
              <a:path w="11510975" h="465090">
                <a:moveTo>
                  <a:pt x="33221" y="0"/>
                </a:moveTo>
                <a:lnTo>
                  <a:pt x="11444533" y="0"/>
                </a:lnTo>
                <a:cubicBezTo>
                  <a:pt x="11481228" y="0"/>
                  <a:pt x="11510975" y="29747"/>
                  <a:pt x="11510975" y="66443"/>
                </a:cubicBezTo>
                <a:lnTo>
                  <a:pt x="11510975" y="398647"/>
                </a:lnTo>
                <a:cubicBezTo>
                  <a:pt x="11510975" y="435342"/>
                  <a:pt x="11481228" y="465090"/>
                  <a:pt x="11444533" y="465090"/>
                </a:cubicBezTo>
                <a:lnTo>
                  <a:pt x="33221" y="465090"/>
                </a:lnTo>
                <a:cubicBezTo>
                  <a:pt x="14873" y="465090"/>
                  <a:pt x="0" y="450217"/>
                  <a:pt x="0" y="431869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48817" y="5860130"/>
            <a:ext cx="33221" cy="465090"/>
          </a:xfrm>
          <a:custGeom>
            <a:avLst/>
            <a:gdLst/>
            <a:ahLst/>
            <a:cxnLst/>
            <a:rect l="l" t="t" r="r" b="b"/>
            <a:pathLst>
              <a:path w="33221" h="465090">
                <a:moveTo>
                  <a:pt x="33221" y="0"/>
                </a:moveTo>
                <a:lnTo>
                  <a:pt x="33221" y="0"/>
                </a:lnTo>
                <a:lnTo>
                  <a:pt x="33221" y="465090"/>
                </a:lnTo>
                <a:lnTo>
                  <a:pt x="33221" y="465090"/>
                </a:lnTo>
                <a:cubicBezTo>
                  <a:pt x="14873" y="465090"/>
                  <a:pt x="0" y="450217"/>
                  <a:pt x="0" y="431869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Shape 51"/>
          <p:cNvSpPr/>
          <p:nvPr/>
        </p:nvSpPr>
        <p:spPr>
          <a:xfrm>
            <a:off x="514921" y="6026233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58136" y="41526"/>
                </a:moveTo>
                <a:cubicBezTo>
                  <a:pt x="58136" y="36942"/>
                  <a:pt x="61858" y="33221"/>
                  <a:pt x="66441" y="33221"/>
                </a:cubicBezTo>
                <a:cubicBezTo>
                  <a:pt x="71025" y="33221"/>
                  <a:pt x="74747" y="36942"/>
                  <a:pt x="74747" y="41526"/>
                </a:cubicBezTo>
                <a:cubicBezTo>
                  <a:pt x="74747" y="46110"/>
                  <a:pt x="71025" y="49831"/>
                  <a:pt x="66441" y="49831"/>
                </a:cubicBezTo>
                <a:cubicBezTo>
                  <a:pt x="61858" y="49831"/>
                  <a:pt x="58136" y="46110"/>
                  <a:pt x="58136" y="41526"/>
                </a:cubicBezTo>
                <a:close/>
                <a:moveTo>
                  <a:pt x="56060" y="58136"/>
                </a:moveTo>
                <a:lnTo>
                  <a:pt x="68518" y="58136"/>
                </a:lnTo>
                <a:cubicBezTo>
                  <a:pt x="71970" y="58136"/>
                  <a:pt x="74747" y="60913"/>
                  <a:pt x="74747" y="64365"/>
                </a:cubicBezTo>
                <a:lnTo>
                  <a:pt x="74747" y="87204"/>
                </a:lnTo>
                <a:lnTo>
                  <a:pt x="76823" y="87204"/>
                </a:lnTo>
                <a:cubicBezTo>
                  <a:pt x="80275" y="87204"/>
                  <a:pt x="83052" y="89981"/>
                  <a:pt x="83052" y="93433"/>
                </a:cubicBezTo>
                <a:cubicBezTo>
                  <a:pt x="83052" y="96885"/>
                  <a:pt x="80275" y="99662"/>
                  <a:pt x="76823" y="99662"/>
                </a:cubicBezTo>
                <a:lnTo>
                  <a:pt x="56060" y="99662"/>
                </a:lnTo>
                <a:cubicBezTo>
                  <a:pt x="52608" y="99662"/>
                  <a:pt x="49831" y="96885"/>
                  <a:pt x="49831" y="93433"/>
                </a:cubicBezTo>
                <a:cubicBezTo>
                  <a:pt x="49831" y="89981"/>
                  <a:pt x="52608" y="87204"/>
                  <a:pt x="56060" y="87204"/>
                </a:cubicBezTo>
                <a:lnTo>
                  <a:pt x="62289" y="87204"/>
                </a:lnTo>
                <a:lnTo>
                  <a:pt x="62289" y="70594"/>
                </a:lnTo>
                <a:lnTo>
                  <a:pt x="56060" y="70594"/>
                </a:lnTo>
                <a:cubicBezTo>
                  <a:pt x="52608" y="70594"/>
                  <a:pt x="49831" y="67817"/>
                  <a:pt x="49831" y="64365"/>
                </a:cubicBezTo>
                <a:cubicBezTo>
                  <a:pt x="49831" y="60913"/>
                  <a:pt x="52608" y="58136"/>
                  <a:pt x="56060" y="5813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4" name="Text 52"/>
          <p:cNvSpPr/>
          <p:nvPr/>
        </p:nvSpPr>
        <p:spPr>
          <a:xfrm>
            <a:off x="767814" y="6019599"/>
            <a:ext cx="1270069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Factor: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008399" y="6019599"/>
            <a:ext cx="8937409" cy="14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misinformation detection requires understanding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context, cultural nuances, platform dynamics,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evolving narratives simultaneously.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111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Threats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Emerging Risks: AI-Generated Misinformation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1166191"/>
            <a:ext cx="5636591" cy="2862470"/>
          </a:xfrm>
          <a:custGeom>
            <a:avLst/>
            <a:gdLst/>
            <a:ahLst/>
            <a:cxnLst/>
            <a:rect l="l" t="t" r="r" b="b"/>
            <a:pathLst>
              <a:path w="5636591" h="2862470">
                <a:moveTo>
                  <a:pt x="35339" y="0"/>
                </a:moveTo>
                <a:lnTo>
                  <a:pt x="5565917" y="0"/>
                </a:lnTo>
                <a:cubicBezTo>
                  <a:pt x="5604949" y="0"/>
                  <a:pt x="5636591" y="31642"/>
                  <a:pt x="5636591" y="70674"/>
                </a:cubicBezTo>
                <a:lnTo>
                  <a:pt x="5636591" y="2791795"/>
                </a:lnTo>
                <a:cubicBezTo>
                  <a:pt x="5636591" y="2830828"/>
                  <a:pt x="5604949" y="2862470"/>
                  <a:pt x="5565917" y="2862470"/>
                </a:cubicBezTo>
                <a:lnTo>
                  <a:pt x="35339" y="2862470"/>
                </a:lnTo>
                <a:cubicBezTo>
                  <a:pt x="15822" y="2862470"/>
                  <a:pt x="0" y="2846648"/>
                  <a:pt x="0" y="282713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1061" y="1166191"/>
            <a:ext cx="35339" cy="2862470"/>
          </a:xfrm>
          <a:custGeom>
            <a:avLst/>
            <a:gdLst/>
            <a:ahLst/>
            <a:cxnLst/>
            <a:rect l="l" t="t" r="r" b="b"/>
            <a:pathLst>
              <a:path w="35339" h="2862470">
                <a:moveTo>
                  <a:pt x="35339" y="0"/>
                </a:moveTo>
                <a:lnTo>
                  <a:pt x="35339" y="0"/>
                </a:lnTo>
                <a:lnTo>
                  <a:pt x="35339" y="2862470"/>
                </a:lnTo>
                <a:lnTo>
                  <a:pt x="35339" y="2862470"/>
                </a:lnTo>
                <a:cubicBezTo>
                  <a:pt x="15822" y="2862470"/>
                  <a:pt x="0" y="2846648"/>
                  <a:pt x="0" y="282713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65426" y="1342887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AI-Generated Misinformation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5426" y="1731617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1443" y="1872974"/>
            <a:ext cx="176696" cy="141357"/>
          </a:xfrm>
          <a:custGeom>
            <a:avLst/>
            <a:gdLst/>
            <a:ahLst/>
            <a:cxnLst/>
            <a:rect l="l" t="t" r="r" b="b"/>
            <a:pathLst>
              <a:path w="176696" h="141357">
                <a:moveTo>
                  <a:pt x="97183" y="0"/>
                </a:moveTo>
                <a:cubicBezTo>
                  <a:pt x="97183" y="-4887"/>
                  <a:pt x="93235" y="-8835"/>
                  <a:pt x="88348" y="-8835"/>
                </a:cubicBezTo>
                <a:cubicBezTo>
                  <a:pt x="83461" y="-8835"/>
                  <a:pt x="79513" y="-4887"/>
                  <a:pt x="79513" y="0"/>
                </a:cubicBezTo>
                <a:lnTo>
                  <a:pt x="79513" y="17670"/>
                </a:lnTo>
                <a:lnTo>
                  <a:pt x="53009" y="17670"/>
                </a:lnTo>
                <a:cubicBezTo>
                  <a:pt x="38376" y="17670"/>
                  <a:pt x="26504" y="29541"/>
                  <a:pt x="26504" y="44174"/>
                </a:cubicBezTo>
                <a:lnTo>
                  <a:pt x="26504" y="106017"/>
                </a:lnTo>
                <a:cubicBezTo>
                  <a:pt x="26504" y="120650"/>
                  <a:pt x="38376" y="132522"/>
                  <a:pt x="53009" y="132522"/>
                </a:cubicBezTo>
                <a:lnTo>
                  <a:pt x="123687" y="132522"/>
                </a:lnTo>
                <a:cubicBezTo>
                  <a:pt x="138320" y="132522"/>
                  <a:pt x="150191" y="120650"/>
                  <a:pt x="150191" y="106017"/>
                </a:cubicBezTo>
                <a:lnTo>
                  <a:pt x="150191" y="44174"/>
                </a:lnTo>
                <a:cubicBezTo>
                  <a:pt x="150191" y="29541"/>
                  <a:pt x="138320" y="17670"/>
                  <a:pt x="123687" y="17670"/>
                </a:cubicBezTo>
                <a:lnTo>
                  <a:pt x="97183" y="17670"/>
                </a:lnTo>
                <a:lnTo>
                  <a:pt x="97183" y="0"/>
                </a:lnTo>
                <a:close/>
                <a:moveTo>
                  <a:pt x="44174" y="101600"/>
                </a:moveTo>
                <a:cubicBezTo>
                  <a:pt x="44174" y="97928"/>
                  <a:pt x="47128" y="94974"/>
                  <a:pt x="50800" y="94974"/>
                </a:cubicBezTo>
                <a:lnTo>
                  <a:pt x="59635" y="94974"/>
                </a:lnTo>
                <a:cubicBezTo>
                  <a:pt x="63307" y="94974"/>
                  <a:pt x="66261" y="97928"/>
                  <a:pt x="66261" y="101600"/>
                </a:cubicBezTo>
                <a:cubicBezTo>
                  <a:pt x="66261" y="105272"/>
                  <a:pt x="63307" y="108226"/>
                  <a:pt x="59635" y="108226"/>
                </a:cubicBezTo>
                <a:lnTo>
                  <a:pt x="50800" y="108226"/>
                </a:lnTo>
                <a:cubicBezTo>
                  <a:pt x="47128" y="108226"/>
                  <a:pt x="44174" y="105272"/>
                  <a:pt x="44174" y="101600"/>
                </a:cubicBezTo>
                <a:close/>
                <a:moveTo>
                  <a:pt x="77304" y="101600"/>
                </a:moveTo>
                <a:cubicBezTo>
                  <a:pt x="77304" y="97928"/>
                  <a:pt x="80258" y="94974"/>
                  <a:pt x="83930" y="94974"/>
                </a:cubicBezTo>
                <a:lnTo>
                  <a:pt x="92765" y="94974"/>
                </a:lnTo>
                <a:cubicBezTo>
                  <a:pt x="96437" y="94974"/>
                  <a:pt x="99391" y="97928"/>
                  <a:pt x="99391" y="101600"/>
                </a:cubicBezTo>
                <a:cubicBezTo>
                  <a:pt x="99391" y="105272"/>
                  <a:pt x="96437" y="108226"/>
                  <a:pt x="92765" y="108226"/>
                </a:cubicBezTo>
                <a:lnTo>
                  <a:pt x="83930" y="108226"/>
                </a:lnTo>
                <a:cubicBezTo>
                  <a:pt x="80258" y="108226"/>
                  <a:pt x="77304" y="105272"/>
                  <a:pt x="77304" y="101600"/>
                </a:cubicBezTo>
                <a:close/>
                <a:moveTo>
                  <a:pt x="110435" y="101600"/>
                </a:moveTo>
                <a:cubicBezTo>
                  <a:pt x="110435" y="97928"/>
                  <a:pt x="113389" y="94974"/>
                  <a:pt x="117061" y="94974"/>
                </a:cubicBezTo>
                <a:lnTo>
                  <a:pt x="125896" y="94974"/>
                </a:lnTo>
                <a:cubicBezTo>
                  <a:pt x="129568" y="94974"/>
                  <a:pt x="132522" y="97928"/>
                  <a:pt x="132522" y="101600"/>
                </a:cubicBezTo>
                <a:cubicBezTo>
                  <a:pt x="132522" y="105272"/>
                  <a:pt x="129568" y="108226"/>
                  <a:pt x="125896" y="108226"/>
                </a:cubicBezTo>
                <a:lnTo>
                  <a:pt x="117061" y="108226"/>
                </a:lnTo>
                <a:cubicBezTo>
                  <a:pt x="113389" y="108226"/>
                  <a:pt x="110435" y="105272"/>
                  <a:pt x="110435" y="101600"/>
                </a:cubicBezTo>
                <a:close/>
                <a:moveTo>
                  <a:pt x="61843" y="48591"/>
                </a:moveTo>
                <a:cubicBezTo>
                  <a:pt x="69158" y="48591"/>
                  <a:pt x="75096" y="54529"/>
                  <a:pt x="75096" y="61843"/>
                </a:cubicBezTo>
                <a:cubicBezTo>
                  <a:pt x="75096" y="69158"/>
                  <a:pt x="69158" y="75096"/>
                  <a:pt x="61843" y="75096"/>
                </a:cubicBezTo>
                <a:cubicBezTo>
                  <a:pt x="54529" y="75096"/>
                  <a:pt x="48591" y="69158"/>
                  <a:pt x="48591" y="61843"/>
                </a:cubicBezTo>
                <a:cubicBezTo>
                  <a:pt x="48591" y="54529"/>
                  <a:pt x="54529" y="48591"/>
                  <a:pt x="61843" y="48591"/>
                </a:cubicBezTo>
                <a:close/>
                <a:moveTo>
                  <a:pt x="101600" y="61843"/>
                </a:moveTo>
                <a:cubicBezTo>
                  <a:pt x="101600" y="54529"/>
                  <a:pt x="107538" y="48591"/>
                  <a:pt x="114852" y="48591"/>
                </a:cubicBezTo>
                <a:cubicBezTo>
                  <a:pt x="122166" y="48591"/>
                  <a:pt x="128104" y="54529"/>
                  <a:pt x="128104" y="61843"/>
                </a:cubicBezTo>
                <a:cubicBezTo>
                  <a:pt x="128104" y="69158"/>
                  <a:pt x="122166" y="75096"/>
                  <a:pt x="114852" y="75096"/>
                </a:cubicBezTo>
                <a:cubicBezTo>
                  <a:pt x="107538" y="75096"/>
                  <a:pt x="101600" y="69158"/>
                  <a:pt x="101600" y="61843"/>
                </a:cubicBezTo>
                <a:close/>
                <a:moveTo>
                  <a:pt x="17670" y="61843"/>
                </a:moveTo>
                <a:cubicBezTo>
                  <a:pt x="17670" y="56957"/>
                  <a:pt x="13722" y="53009"/>
                  <a:pt x="8835" y="53009"/>
                </a:cubicBezTo>
                <a:cubicBezTo>
                  <a:pt x="3948" y="53009"/>
                  <a:pt x="0" y="56957"/>
                  <a:pt x="0" y="61843"/>
                </a:cubicBezTo>
                <a:lnTo>
                  <a:pt x="0" y="88348"/>
                </a:lnTo>
                <a:cubicBezTo>
                  <a:pt x="0" y="93235"/>
                  <a:pt x="3948" y="97183"/>
                  <a:pt x="8835" y="97183"/>
                </a:cubicBezTo>
                <a:cubicBezTo>
                  <a:pt x="13722" y="97183"/>
                  <a:pt x="17670" y="93235"/>
                  <a:pt x="17670" y="88348"/>
                </a:cubicBezTo>
                <a:lnTo>
                  <a:pt x="17670" y="61843"/>
                </a:lnTo>
                <a:close/>
                <a:moveTo>
                  <a:pt x="167861" y="53009"/>
                </a:moveTo>
                <a:cubicBezTo>
                  <a:pt x="162974" y="53009"/>
                  <a:pt x="159026" y="56957"/>
                  <a:pt x="159026" y="61843"/>
                </a:cubicBezTo>
                <a:lnTo>
                  <a:pt x="159026" y="88348"/>
                </a:lnTo>
                <a:cubicBezTo>
                  <a:pt x="159026" y="93235"/>
                  <a:pt x="162974" y="97183"/>
                  <a:pt x="167861" y="97183"/>
                </a:cubicBezTo>
                <a:cubicBezTo>
                  <a:pt x="172748" y="97183"/>
                  <a:pt x="176696" y="93235"/>
                  <a:pt x="176696" y="88348"/>
                </a:cubicBezTo>
                <a:lnTo>
                  <a:pt x="176696" y="61843"/>
                </a:lnTo>
                <a:cubicBezTo>
                  <a:pt x="176696" y="56957"/>
                  <a:pt x="172748" y="53009"/>
                  <a:pt x="167861" y="5300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918817" y="1837635"/>
            <a:ext cx="16786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LLM-Generated Content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1443" y="2085009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produce convincing health misinformation at scale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5426" y="2473739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7948" y="2615096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7670" y="8835"/>
                </a:moveTo>
                <a:cubicBezTo>
                  <a:pt x="7924" y="8835"/>
                  <a:pt x="0" y="16758"/>
                  <a:pt x="0" y="26504"/>
                </a:cubicBezTo>
                <a:lnTo>
                  <a:pt x="0" y="114852"/>
                </a:lnTo>
                <a:cubicBezTo>
                  <a:pt x="0" y="124598"/>
                  <a:pt x="7924" y="132522"/>
                  <a:pt x="17670" y="132522"/>
                </a:cubicBezTo>
                <a:lnTo>
                  <a:pt x="106017" y="132522"/>
                </a:lnTo>
                <a:cubicBezTo>
                  <a:pt x="115763" y="132522"/>
                  <a:pt x="123687" y="124598"/>
                  <a:pt x="123687" y="114852"/>
                </a:cubicBezTo>
                <a:lnTo>
                  <a:pt x="123687" y="26504"/>
                </a:lnTo>
                <a:cubicBezTo>
                  <a:pt x="123687" y="16758"/>
                  <a:pt x="115763" y="8835"/>
                  <a:pt x="106017" y="8835"/>
                </a:cubicBezTo>
                <a:lnTo>
                  <a:pt x="17670" y="8835"/>
                </a:lnTo>
                <a:close/>
                <a:moveTo>
                  <a:pt x="35339" y="30922"/>
                </a:moveTo>
                <a:cubicBezTo>
                  <a:pt x="42653" y="30922"/>
                  <a:pt x="48591" y="36860"/>
                  <a:pt x="48591" y="44174"/>
                </a:cubicBezTo>
                <a:cubicBezTo>
                  <a:pt x="48591" y="51488"/>
                  <a:pt x="42653" y="57426"/>
                  <a:pt x="35339" y="57426"/>
                </a:cubicBezTo>
                <a:cubicBezTo>
                  <a:pt x="28025" y="57426"/>
                  <a:pt x="22087" y="51488"/>
                  <a:pt x="22087" y="44174"/>
                </a:cubicBezTo>
                <a:cubicBezTo>
                  <a:pt x="22087" y="36860"/>
                  <a:pt x="28025" y="30922"/>
                  <a:pt x="35339" y="30922"/>
                </a:cubicBezTo>
                <a:close/>
                <a:moveTo>
                  <a:pt x="75096" y="61843"/>
                </a:moveTo>
                <a:cubicBezTo>
                  <a:pt x="77415" y="61843"/>
                  <a:pt x="79541" y="63058"/>
                  <a:pt x="80755" y="65018"/>
                </a:cubicBezTo>
                <a:lnTo>
                  <a:pt x="105051" y="104775"/>
                </a:lnTo>
                <a:cubicBezTo>
                  <a:pt x="106293" y="106818"/>
                  <a:pt x="106349" y="109386"/>
                  <a:pt x="105189" y="111484"/>
                </a:cubicBezTo>
                <a:cubicBezTo>
                  <a:pt x="104030" y="113582"/>
                  <a:pt x="101793" y="114852"/>
                  <a:pt x="99391" y="114852"/>
                </a:cubicBezTo>
                <a:lnTo>
                  <a:pt x="24296" y="114852"/>
                </a:lnTo>
                <a:cubicBezTo>
                  <a:pt x="21838" y="114852"/>
                  <a:pt x="19547" y="113472"/>
                  <a:pt x="18415" y="111291"/>
                </a:cubicBezTo>
                <a:cubicBezTo>
                  <a:pt x="17283" y="109110"/>
                  <a:pt x="17449" y="106459"/>
                  <a:pt x="18857" y="104444"/>
                </a:cubicBezTo>
                <a:lnTo>
                  <a:pt x="34318" y="82357"/>
                </a:lnTo>
                <a:cubicBezTo>
                  <a:pt x="35560" y="80590"/>
                  <a:pt x="37575" y="79541"/>
                  <a:pt x="39757" y="79541"/>
                </a:cubicBezTo>
                <a:cubicBezTo>
                  <a:pt x="41938" y="79541"/>
                  <a:pt x="43953" y="80590"/>
                  <a:pt x="45195" y="82357"/>
                </a:cubicBezTo>
                <a:lnTo>
                  <a:pt x="52484" y="92793"/>
                </a:lnTo>
                <a:lnTo>
                  <a:pt x="69436" y="65046"/>
                </a:lnTo>
                <a:cubicBezTo>
                  <a:pt x="70651" y="63086"/>
                  <a:pt x="72777" y="61871"/>
                  <a:pt x="75096" y="6187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918817" y="2579757"/>
            <a:ext cx="15284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Technology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1443" y="2827130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 videos of healthcare professionals spreading false claims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5426" y="3215861"/>
            <a:ext cx="5265530" cy="636104"/>
          </a:xfrm>
          <a:custGeom>
            <a:avLst/>
            <a:gdLst/>
            <a:ahLst/>
            <a:cxnLst/>
            <a:rect l="l" t="t" r="r" b="b"/>
            <a:pathLst>
              <a:path w="5265530" h="636104">
                <a:moveTo>
                  <a:pt x="35342" y="0"/>
                </a:moveTo>
                <a:lnTo>
                  <a:pt x="5230188" y="0"/>
                </a:lnTo>
                <a:cubicBezTo>
                  <a:pt x="5249707" y="0"/>
                  <a:pt x="5265530" y="15823"/>
                  <a:pt x="5265530" y="35342"/>
                </a:cubicBezTo>
                <a:lnTo>
                  <a:pt x="5265530" y="600762"/>
                </a:lnTo>
                <a:cubicBezTo>
                  <a:pt x="5265530" y="620281"/>
                  <a:pt x="5249707" y="636104"/>
                  <a:pt x="5230188" y="636104"/>
                </a:cubicBezTo>
                <a:lnTo>
                  <a:pt x="35342" y="636104"/>
                </a:lnTo>
                <a:cubicBezTo>
                  <a:pt x="15823" y="636104"/>
                  <a:pt x="0" y="620281"/>
                  <a:pt x="0" y="600762"/>
                </a:cubicBezTo>
                <a:lnTo>
                  <a:pt x="0" y="35342"/>
                </a:lnTo>
                <a:cubicBezTo>
                  <a:pt x="0" y="15823"/>
                  <a:pt x="15823" y="0"/>
                  <a:pt x="353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1443" y="3357217"/>
            <a:ext cx="176696" cy="141357"/>
          </a:xfrm>
          <a:custGeom>
            <a:avLst/>
            <a:gdLst/>
            <a:ahLst/>
            <a:cxnLst/>
            <a:rect l="l" t="t" r="r" b="b"/>
            <a:pathLst>
              <a:path w="176696" h="141357">
                <a:moveTo>
                  <a:pt x="88348" y="4417"/>
                </a:moveTo>
                <a:cubicBezTo>
                  <a:pt x="104195" y="4417"/>
                  <a:pt x="117061" y="17283"/>
                  <a:pt x="117061" y="33130"/>
                </a:cubicBezTo>
                <a:cubicBezTo>
                  <a:pt x="117061" y="48978"/>
                  <a:pt x="104195" y="61843"/>
                  <a:pt x="88348" y="61843"/>
                </a:cubicBezTo>
                <a:cubicBezTo>
                  <a:pt x="72501" y="61843"/>
                  <a:pt x="59635" y="48978"/>
                  <a:pt x="59635" y="33130"/>
                </a:cubicBezTo>
                <a:cubicBezTo>
                  <a:pt x="59635" y="17283"/>
                  <a:pt x="72501" y="4417"/>
                  <a:pt x="88348" y="4417"/>
                </a:cubicBezTo>
                <a:close/>
                <a:moveTo>
                  <a:pt x="26504" y="24296"/>
                </a:moveTo>
                <a:cubicBezTo>
                  <a:pt x="37475" y="24296"/>
                  <a:pt x="46383" y="33203"/>
                  <a:pt x="46383" y="44174"/>
                </a:cubicBezTo>
                <a:cubicBezTo>
                  <a:pt x="46383" y="55145"/>
                  <a:pt x="37475" y="64052"/>
                  <a:pt x="26504" y="64052"/>
                </a:cubicBezTo>
                <a:cubicBezTo>
                  <a:pt x="15533" y="64052"/>
                  <a:pt x="6626" y="55145"/>
                  <a:pt x="6626" y="44174"/>
                </a:cubicBezTo>
                <a:cubicBezTo>
                  <a:pt x="6626" y="33203"/>
                  <a:pt x="15533" y="24296"/>
                  <a:pt x="26504" y="24296"/>
                </a:cubicBezTo>
                <a:close/>
                <a:moveTo>
                  <a:pt x="0" y="114852"/>
                </a:moveTo>
                <a:cubicBezTo>
                  <a:pt x="0" y="95333"/>
                  <a:pt x="15820" y="79513"/>
                  <a:pt x="35339" y="79513"/>
                </a:cubicBezTo>
                <a:cubicBezTo>
                  <a:pt x="38873" y="79513"/>
                  <a:pt x="42297" y="80038"/>
                  <a:pt x="45527" y="81004"/>
                </a:cubicBezTo>
                <a:cubicBezTo>
                  <a:pt x="36443" y="91164"/>
                  <a:pt x="30922" y="104582"/>
                  <a:pt x="30922" y="119270"/>
                </a:cubicBezTo>
                <a:lnTo>
                  <a:pt x="30922" y="123687"/>
                </a:lnTo>
                <a:cubicBezTo>
                  <a:pt x="30922" y="126834"/>
                  <a:pt x="31584" y="129816"/>
                  <a:pt x="32772" y="132522"/>
                </a:cubicBezTo>
                <a:lnTo>
                  <a:pt x="8835" y="132522"/>
                </a:lnTo>
                <a:cubicBezTo>
                  <a:pt x="3948" y="132522"/>
                  <a:pt x="0" y="128574"/>
                  <a:pt x="0" y="123687"/>
                </a:cubicBezTo>
                <a:lnTo>
                  <a:pt x="0" y="114852"/>
                </a:lnTo>
                <a:close/>
                <a:moveTo>
                  <a:pt x="143924" y="132522"/>
                </a:moveTo>
                <a:cubicBezTo>
                  <a:pt x="145111" y="129816"/>
                  <a:pt x="145774" y="126834"/>
                  <a:pt x="145774" y="123687"/>
                </a:cubicBezTo>
                <a:lnTo>
                  <a:pt x="145774" y="119270"/>
                </a:lnTo>
                <a:cubicBezTo>
                  <a:pt x="145774" y="104582"/>
                  <a:pt x="140252" y="91164"/>
                  <a:pt x="131169" y="81004"/>
                </a:cubicBezTo>
                <a:cubicBezTo>
                  <a:pt x="134399" y="80038"/>
                  <a:pt x="137823" y="79513"/>
                  <a:pt x="141357" y="79513"/>
                </a:cubicBezTo>
                <a:cubicBezTo>
                  <a:pt x="160876" y="79513"/>
                  <a:pt x="176696" y="95333"/>
                  <a:pt x="176696" y="114852"/>
                </a:cubicBezTo>
                <a:lnTo>
                  <a:pt x="176696" y="123687"/>
                </a:lnTo>
                <a:cubicBezTo>
                  <a:pt x="176696" y="128574"/>
                  <a:pt x="172748" y="132522"/>
                  <a:pt x="167861" y="132522"/>
                </a:cubicBezTo>
                <a:lnTo>
                  <a:pt x="143924" y="132522"/>
                </a:lnTo>
                <a:close/>
                <a:moveTo>
                  <a:pt x="130313" y="44174"/>
                </a:moveTo>
                <a:cubicBezTo>
                  <a:pt x="130313" y="33203"/>
                  <a:pt x="139220" y="24296"/>
                  <a:pt x="150191" y="24296"/>
                </a:cubicBezTo>
                <a:cubicBezTo>
                  <a:pt x="161162" y="24296"/>
                  <a:pt x="170070" y="33203"/>
                  <a:pt x="170070" y="44174"/>
                </a:cubicBezTo>
                <a:cubicBezTo>
                  <a:pt x="170070" y="55145"/>
                  <a:pt x="161162" y="64052"/>
                  <a:pt x="150191" y="64052"/>
                </a:cubicBezTo>
                <a:cubicBezTo>
                  <a:pt x="139220" y="64052"/>
                  <a:pt x="130313" y="55145"/>
                  <a:pt x="130313" y="44174"/>
                </a:cubicBezTo>
                <a:close/>
                <a:moveTo>
                  <a:pt x="44174" y="119270"/>
                </a:moveTo>
                <a:cubicBezTo>
                  <a:pt x="44174" y="94863"/>
                  <a:pt x="63942" y="75096"/>
                  <a:pt x="88348" y="75096"/>
                </a:cubicBezTo>
                <a:cubicBezTo>
                  <a:pt x="112754" y="75096"/>
                  <a:pt x="132522" y="94863"/>
                  <a:pt x="132522" y="119270"/>
                </a:cubicBezTo>
                <a:lnTo>
                  <a:pt x="132522" y="123687"/>
                </a:lnTo>
                <a:cubicBezTo>
                  <a:pt x="132522" y="128574"/>
                  <a:pt x="128574" y="132522"/>
                  <a:pt x="123687" y="132522"/>
                </a:cubicBezTo>
                <a:lnTo>
                  <a:pt x="53009" y="132522"/>
                </a:lnTo>
                <a:cubicBezTo>
                  <a:pt x="48122" y="132522"/>
                  <a:pt x="44174" y="128574"/>
                  <a:pt x="44174" y="123687"/>
                </a:cubicBezTo>
                <a:lnTo>
                  <a:pt x="44174" y="11927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918817" y="3321878"/>
            <a:ext cx="170511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Coordinated Campaigns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443" y="3569252"/>
            <a:ext cx="51153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Sophisticated disinformation networks using AI tools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3391" y="4170017"/>
            <a:ext cx="5654261" cy="1484243"/>
          </a:xfrm>
          <a:custGeom>
            <a:avLst/>
            <a:gdLst/>
            <a:ahLst/>
            <a:cxnLst/>
            <a:rect l="l" t="t" r="r" b="b"/>
            <a:pathLst>
              <a:path w="5654261" h="1484243">
                <a:moveTo>
                  <a:pt x="70680" y="0"/>
                </a:moveTo>
                <a:lnTo>
                  <a:pt x="5583581" y="0"/>
                </a:lnTo>
                <a:cubicBezTo>
                  <a:pt x="5622617" y="0"/>
                  <a:pt x="5654261" y="31644"/>
                  <a:pt x="5654261" y="70680"/>
                </a:cubicBezTo>
                <a:lnTo>
                  <a:pt x="5654261" y="1413564"/>
                </a:lnTo>
                <a:cubicBezTo>
                  <a:pt x="5654261" y="1452599"/>
                  <a:pt x="5622617" y="1484243"/>
                  <a:pt x="5583581" y="1484243"/>
                </a:cubicBezTo>
                <a:lnTo>
                  <a:pt x="70680" y="1484243"/>
                </a:lnTo>
                <a:cubicBezTo>
                  <a:pt x="31644" y="1484243"/>
                  <a:pt x="0" y="1452599"/>
                  <a:pt x="0" y="1413564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087" y="4346713"/>
            <a:ext cx="53803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Detection Challenges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6591" y="4735443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461" y="4700104"/>
            <a:ext cx="353391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content lacks traditional linguistic markers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591" y="5018157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461" y="4982817"/>
            <a:ext cx="3313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generation overwhelms manual fact-checking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6591" y="5300870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461" y="5265530"/>
            <a:ext cx="29861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targeting increases effectiveness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0030" y="1166191"/>
            <a:ext cx="5636591" cy="2721113"/>
          </a:xfrm>
          <a:custGeom>
            <a:avLst/>
            <a:gdLst/>
            <a:ahLst/>
            <a:cxnLst/>
            <a:rect l="l" t="t" r="r" b="b"/>
            <a:pathLst>
              <a:path w="5636591" h="2721113">
                <a:moveTo>
                  <a:pt x="35339" y="0"/>
                </a:moveTo>
                <a:lnTo>
                  <a:pt x="5565924" y="0"/>
                </a:lnTo>
                <a:cubicBezTo>
                  <a:pt x="5604952" y="0"/>
                  <a:pt x="5636591" y="31639"/>
                  <a:pt x="5636591" y="70667"/>
                </a:cubicBezTo>
                <a:lnTo>
                  <a:pt x="5636591" y="2650446"/>
                </a:lnTo>
                <a:cubicBezTo>
                  <a:pt x="5636591" y="2689474"/>
                  <a:pt x="5604952" y="2721113"/>
                  <a:pt x="5565924" y="2721113"/>
                </a:cubicBezTo>
                <a:lnTo>
                  <a:pt x="35339" y="2721113"/>
                </a:lnTo>
                <a:cubicBezTo>
                  <a:pt x="15822" y="2721113"/>
                  <a:pt x="0" y="2705291"/>
                  <a:pt x="0" y="268577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00030" y="1166191"/>
            <a:ext cx="35339" cy="2721113"/>
          </a:xfrm>
          <a:custGeom>
            <a:avLst/>
            <a:gdLst/>
            <a:ahLst/>
            <a:cxnLst/>
            <a:rect l="l" t="t" r="r" b="b"/>
            <a:pathLst>
              <a:path w="35339" h="2721113">
                <a:moveTo>
                  <a:pt x="35339" y="0"/>
                </a:moveTo>
                <a:lnTo>
                  <a:pt x="35339" y="0"/>
                </a:lnTo>
                <a:lnTo>
                  <a:pt x="35339" y="2721113"/>
                </a:lnTo>
                <a:lnTo>
                  <a:pt x="35339" y="2721113"/>
                </a:lnTo>
                <a:cubicBezTo>
                  <a:pt x="15822" y="2721113"/>
                  <a:pt x="0" y="2705291"/>
                  <a:pt x="0" y="268577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6394395" y="1342887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Hallucination in LLMs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94395" y="1731617"/>
            <a:ext cx="5336209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used for detection may themselves </a:t>
            </a:r>
            <a:pPr>
              <a:lnSpc>
                <a:spcPct val="140000"/>
              </a:lnSpc>
            </a:pPr>
            <a:r>
              <a:rPr lang="en-US" sz="1113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false information </a:t>
            </a:r>
            <a:pPr>
              <a:lnSpc>
                <a:spcPct val="14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confidently incorrect assessments: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4395" y="2367722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01296" y="2420730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3125" y="2332383"/>
            <a:ext cx="26946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3125" y="2544417"/>
            <a:ext cx="26857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Legitimate health information incorrectly flagged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4395" y="2862470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01296" y="2915478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83125" y="2827130"/>
            <a:ext cx="259742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Fabricated References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83125" y="3039165"/>
            <a:ext cx="25885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Invented studies or statistics to support claims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4395" y="335721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01296" y="3410226"/>
            <a:ext cx="1325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83125" y="3321878"/>
            <a:ext cx="24914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Outdated Information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83125" y="3533913"/>
            <a:ext cx="24825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data cutoff limits current knowledge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5894" y="4032195"/>
            <a:ext cx="5643659" cy="1491311"/>
          </a:xfrm>
          <a:custGeom>
            <a:avLst/>
            <a:gdLst/>
            <a:ahLst/>
            <a:cxnLst/>
            <a:rect l="l" t="t" r="r" b="b"/>
            <a:pathLst>
              <a:path w="5643659" h="1491311">
                <a:moveTo>
                  <a:pt x="70673" y="0"/>
                </a:moveTo>
                <a:lnTo>
                  <a:pt x="5572986" y="0"/>
                </a:lnTo>
                <a:cubicBezTo>
                  <a:pt x="5612018" y="0"/>
                  <a:pt x="5643659" y="31641"/>
                  <a:pt x="5643659" y="70673"/>
                </a:cubicBezTo>
                <a:lnTo>
                  <a:pt x="5643659" y="1420638"/>
                </a:lnTo>
                <a:cubicBezTo>
                  <a:pt x="5643659" y="1459670"/>
                  <a:pt x="5612018" y="1491311"/>
                  <a:pt x="5572986" y="1491311"/>
                </a:cubicBezTo>
                <a:lnTo>
                  <a:pt x="70673" y="1491311"/>
                </a:lnTo>
                <a:cubicBezTo>
                  <a:pt x="31641" y="1491311"/>
                  <a:pt x="0" y="1459670"/>
                  <a:pt x="0" y="1420638"/>
                </a:cubicBezTo>
                <a:lnTo>
                  <a:pt x="0" y="70673"/>
                </a:lnTo>
                <a:cubicBezTo>
                  <a:pt x="0" y="31668"/>
                  <a:pt x="31668" y="0"/>
                  <a:pt x="70673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6124" y="4212431"/>
            <a:ext cx="536271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 Strategies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3793" y="4601162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71948" y="0"/>
                  <a:pt x="73218" y="276"/>
                  <a:pt x="74378" y="801"/>
                </a:cubicBezTo>
                <a:lnTo>
                  <a:pt x="126393" y="22860"/>
                </a:lnTo>
                <a:cubicBezTo>
                  <a:pt x="132467" y="25428"/>
                  <a:pt x="136994" y="31419"/>
                  <a:pt x="136967" y="38652"/>
                </a:cubicBezTo>
                <a:cubicBezTo>
                  <a:pt x="136829" y="66040"/>
                  <a:pt x="125564" y="116150"/>
                  <a:pt x="77995" y="138927"/>
                </a:cubicBezTo>
                <a:cubicBezTo>
                  <a:pt x="73384" y="141136"/>
                  <a:pt x="68028" y="141136"/>
                  <a:pt x="63417" y="138927"/>
                </a:cubicBezTo>
                <a:cubicBezTo>
                  <a:pt x="15820" y="116150"/>
                  <a:pt x="4583" y="66040"/>
                  <a:pt x="4445" y="38652"/>
                </a:cubicBezTo>
                <a:cubicBezTo>
                  <a:pt x="4417" y="31419"/>
                  <a:pt x="8945" y="25428"/>
                  <a:pt x="15019" y="22860"/>
                </a:cubicBezTo>
                <a:lnTo>
                  <a:pt x="67006" y="801"/>
                </a:lnTo>
                <a:cubicBezTo>
                  <a:pt x="68166" y="276"/>
                  <a:pt x="69408" y="0"/>
                  <a:pt x="70678" y="0"/>
                </a:cubicBezTo>
                <a:close/>
                <a:moveTo>
                  <a:pt x="70678" y="18443"/>
                </a:moveTo>
                <a:lnTo>
                  <a:pt x="70678" y="122831"/>
                </a:lnTo>
                <a:cubicBezTo>
                  <a:pt x="108778" y="104388"/>
                  <a:pt x="119021" y="63528"/>
                  <a:pt x="119270" y="39066"/>
                </a:cubicBezTo>
                <a:lnTo>
                  <a:pt x="70678" y="18470"/>
                </a:lnTo>
                <a:lnTo>
                  <a:pt x="70678" y="1847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Text 44"/>
          <p:cNvSpPr/>
          <p:nvPr/>
        </p:nvSpPr>
        <p:spPr>
          <a:xfrm>
            <a:off x="6613497" y="4594087"/>
            <a:ext cx="1421185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03319" y="4594087"/>
            <a:ext cx="2466782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verification for critical decisions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3793" y="4883875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71948" y="0"/>
                  <a:pt x="73218" y="276"/>
                  <a:pt x="74378" y="801"/>
                </a:cubicBezTo>
                <a:lnTo>
                  <a:pt x="126393" y="22860"/>
                </a:lnTo>
                <a:cubicBezTo>
                  <a:pt x="132467" y="25428"/>
                  <a:pt x="136994" y="31419"/>
                  <a:pt x="136967" y="38652"/>
                </a:cubicBezTo>
                <a:cubicBezTo>
                  <a:pt x="136829" y="66040"/>
                  <a:pt x="125564" y="116150"/>
                  <a:pt x="77995" y="138927"/>
                </a:cubicBezTo>
                <a:cubicBezTo>
                  <a:pt x="73384" y="141136"/>
                  <a:pt x="68028" y="141136"/>
                  <a:pt x="63417" y="138927"/>
                </a:cubicBezTo>
                <a:cubicBezTo>
                  <a:pt x="15820" y="116150"/>
                  <a:pt x="4583" y="66040"/>
                  <a:pt x="4445" y="38652"/>
                </a:cubicBezTo>
                <a:cubicBezTo>
                  <a:pt x="4417" y="31419"/>
                  <a:pt x="8945" y="25428"/>
                  <a:pt x="15019" y="22860"/>
                </a:cubicBezTo>
                <a:lnTo>
                  <a:pt x="67006" y="801"/>
                </a:lnTo>
                <a:cubicBezTo>
                  <a:pt x="68166" y="276"/>
                  <a:pt x="69408" y="0"/>
                  <a:pt x="70678" y="0"/>
                </a:cubicBezTo>
                <a:close/>
                <a:moveTo>
                  <a:pt x="70678" y="18443"/>
                </a:moveTo>
                <a:lnTo>
                  <a:pt x="70678" y="122831"/>
                </a:lnTo>
                <a:cubicBezTo>
                  <a:pt x="108778" y="104388"/>
                  <a:pt x="119021" y="63528"/>
                  <a:pt x="119270" y="39066"/>
                </a:cubicBezTo>
                <a:lnTo>
                  <a:pt x="70678" y="18470"/>
                </a:lnTo>
                <a:lnTo>
                  <a:pt x="70678" y="1847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6613497" y="4876800"/>
            <a:ext cx="1704119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Multi-Model Consensus: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86253" y="4876800"/>
            <a:ext cx="2851868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predictions from multiple systems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3793" y="516658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71948" y="0"/>
                  <a:pt x="73218" y="276"/>
                  <a:pt x="74378" y="801"/>
                </a:cubicBezTo>
                <a:lnTo>
                  <a:pt x="126393" y="22860"/>
                </a:lnTo>
                <a:cubicBezTo>
                  <a:pt x="132467" y="25428"/>
                  <a:pt x="136994" y="31419"/>
                  <a:pt x="136967" y="38652"/>
                </a:cubicBezTo>
                <a:cubicBezTo>
                  <a:pt x="136829" y="66040"/>
                  <a:pt x="125564" y="116150"/>
                  <a:pt x="77995" y="138927"/>
                </a:cubicBezTo>
                <a:cubicBezTo>
                  <a:pt x="73384" y="141136"/>
                  <a:pt x="68028" y="141136"/>
                  <a:pt x="63417" y="138927"/>
                </a:cubicBezTo>
                <a:cubicBezTo>
                  <a:pt x="15820" y="116150"/>
                  <a:pt x="4583" y="66040"/>
                  <a:pt x="4445" y="38652"/>
                </a:cubicBezTo>
                <a:cubicBezTo>
                  <a:pt x="4417" y="31419"/>
                  <a:pt x="8945" y="25428"/>
                  <a:pt x="15019" y="22860"/>
                </a:cubicBezTo>
                <a:lnTo>
                  <a:pt x="67006" y="801"/>
                </a:lnTo>
                <a:cubicBezTo>
                  <a:pt x="68166" y="276"/>
                  <a:pt x="69408" y="0"/>
                  <a:pt x="70678" y="0"/>
                </a:cubicBezTo>
                <a:close/>
                <a:moveTo>
                  <a:pt x="70678" y="18443"/>
                </a:moveTo>
                <a:lnTo>
                  <a:pt x="70678" y="122831"/>
                </a:lnTo>
                <a:cubicBezTo>
                  <a:pt x="108778" y="104388"/>
                  <a:pt x="119021" y="63528"/>
                  <a:pt x="119270" y="39066"/>
                </a:cubicBezTo>
                <a:lnTo>
                  <a:pt x="70678" y="18470"/>
                </a:lnTo>
                <a:lnTo>
                  <a:pt x="70678" y="1847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6613497" y="5159513"/>
            <a:ext cx="1672314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54448" y="5159513"/>
            <a:ext cx="2223715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and update for new patterns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1061" y="5795617"/>
            <a:ext cx="11467548" cy="494748"/>
          </a:xfrm>
          <a:custGeom>
            <a:avLst/>
            <a:gdLst/>
            <a:ahLst/>
            <a:cxnLst/>
            <a:rect l="l" t="t" r="r" b="b"/>
            <a:pathLst>
              <a:path w="11467548" h="494748">
                <a:moveTo>
                  <a:pt x="35339" y="0"/>
                </a:moveTo>
                <a:lnTo>
                  <a:pt x="11396868" y="0"/>
                </a:lnTo>
                <a:cubicBezTo>
                  <a:pt x="11435903" y="0"/>
                  <a:pt x="11467548" y="31644"/>
                  <a:pt x="11467548" y="70680"/>
                </a:cubicBezTo>
                <a:lnTo>
                  <a:pt x="11467548" y="424068"/>
                </a:lnTo>
                <a:cubicBezTo>
                  <a:pt x="11467548" y="463077"/>
                  <a:pt x="11435877" y="494748"/>
                  <a:pt x="11396868" y="494748"/>
                </a:cubicBezTo>
                <a:lnTo>
                  <a:pt x="35339" y="494748"/>
                </a:lnTo>
                <a:cubicBezTo>
                  <a:pt x="15822" y="494748"/>
                  <a:pt x="0" y="478926"/>
                  <a:pt x="0" y="4594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71061" y="5795617"/>
            <a:ext cx="35339" cy="494748"/>
          </a:xfrm>
          <a:custGeom>
            <a:avLst/>
            <a:gdLst/>
            <a:ahLst/>
            <a:cxnLst/>
            <a:rect l="l" t="t" r="r" b="b"/>
            <a:pathLst>
              <a:path w="35339" h="494748">
                <a:moveTo>
                  <a:pt x="35339" y="0"/>
                </a:moveTo>
                <a:lnTo>
                  <a:pt x="35339" y="0"/>
                </a:lnTo>
                <a:lnTo>
                  <a:pt x="35339" y="494748"/>
                </a:lnTo>
                <a:lnTo>
                  <a:pt x="35339" y="494748"/>
                </a:lnTo>
                <a:cubicBezTo>
                  <a:pt x="15822" y="494748"/>
                  <a:pt x="0" y="478926"/>
                  <a:pt x="0" y="4594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" name="Shape 54"/>
          <p:cNvSpPr/>
          <p:nvPr/>
        </p:nvSpPr>
        <p:spPr>
          <a:xfrm>
            <a:off x="547757" y="597231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70678" y="37548"/>
                </a:moveTo>
                <a:cubicBezTo>
                  <a:pt x="74350" y="37548"/>
                  <a:pt x="77304" y="40502"/>
                  <a:pt x="77304" y="44174"/>
                </a:cubicBezTo>
                <a:lnTo>
                  <a:pt x="77304" y="75096"/>
                </a:lnTo>
                <a:cubicBezTo>
                  <a:pt x="77304" y="78768"/>
                  <a:pt x="74350" y="81722"/>
                  <a:pt x="70678" y="81722"/>
                </a:cubicBezTo>
                <a:cubicBezTo>
                  <a:pt x="67006" y="81722"/>
                  <a:pt x="64052" y="78768"/>
                  <a:pt x="64052" y="75096"/>
                </a:cubicBezTo>
                <a:lnTo>
                  <a:pt x="64052" y="44174"/>
                </a:lnTo>
                <a:cubicBezTo>
                  <a:pt x="64052" y="40502"/>
                  <a:pt x="67006" y="37548"/>
                  <a:pt x="70678" y="37548"/>
                </a:cubicBezTo>
                <a:close/>
                <a:moveTo>
                  <a:pt x="63307" y="97183"/>
                </a:moveTo>
                <a:cubicBezTo>
                  <a:pt x="63139" y="94446"/>
                  <a:pt x="64504" y="91843"/>
                  <a:pt x="66849" y="90424"/>
                </a:cubicBezTo>
                <a:cubicBezTo>
                  <a:pt x="69195" y="89005"/>
                  <a:pt x="72134" y="89005"/>
                  <a:pt x="74480" y="90424"/>
                </a:cubicBezTo>
                <a:cubicBezTo>
                  <a:pt x="76825" y="91843"/>
                  <a:pt x="78190" y="94446"/>
                  <a:pt x="78022" y="97183"/>
                </a:cubicBezTo>
                <a:cubicBezTo>
                  <a:pt x="78190" y="99919"/>
                  <a:pt x="76825" y="102522"/>
                  <a:pt x="74480" y="103941"/>
                </a:cubicBezTo>
                <a:cubicBezTo>
                  <a:pt x="72134" y="105360"/>
                  <a:pt x="69195" y="105360"/>
                  <a:pt x="66849" y="103941"/>
                </a:cubicBezTo>
                <a:cubicBezTo>
                  <a:pt x="64504" y="102522"/>
                  <a:pt x="63139" y="99919"/>
                  <a:pt x="63307" y="9718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7" name="Text 55"/>
          <p:cNvSpPr/>
          <p:nvPr/>
        </p:nvSpPr>
        <p:spPr>
          <a:xfrm>
            <a:off x="816776" y="5965256"/>
            <a:ext cx="1107440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Urgent Priority: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892852" y="5965256"/>
            <a:ext cx="9216777" cy="1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must address </a:t>
            </a:r>
            <a:pPr>
              <a:lnSpc>
                <a:spcPct val="130000"/>
              </a:lnSpc>
            </a:pPr>
            <a:r>
              <a:rPr lang="en-US" sz="1113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misinformation detection </a:t>
            </a:r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develop robust countermeasures before deployment of autonomous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itd2dwqlrgba/chapter5_imag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81175"/>
            <a:ext cx="1628775" cy="381000"/>
          </a:xfrm>
          <a:custGeom>
            <a:avLst/>
            <a:gdLst/>
            <a:ahLst/>
            <a:cxnLst/>
            <a:rect l="l" t="t" r="r" b="b"/>
            <a:pathLst>
              <a:path w="1628775" h="381000">
                <a:moveTo>
                  <a:pt x="0" y="0"/>
                </a:moveTo>
                <a:lnTo>
                  <a:pt x="1628775" y="0"/>
                </a:lnTo>
                <a:lnTo>
                  <a:pt x="16287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81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5737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90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Directions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opportunities, recommendations, and key takeaways for advancing the field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Opportunities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6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5049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Multilingual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050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cross-lingual detection systems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work across languages and cultural contexts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721" y="12763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4172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4121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498896" y="1562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4889421" y="15049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4121" y="19050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frameworks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provide clear reasoning for healthcare applications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2561" y="12763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0256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4961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9261" y="156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927" y="2798"/>
                </a:moveTo>
                <a:cubicBezTo>
                  <a:pt x="79206" y="-923"/>
                  <a:pt x="73164" y="-923"/>
                  <a:pt x="69443" y="2798"/>
                </a:cubicBezTo>
                <a:lnTo>
                  <a:pt x="50393" y="21848"/>
                </a:lnTo>
                <a:cubicBezTo>
                  <a:pt x="47655" y="24586"/>
                  <a:pt x="46851" y="28664"/>
                  <a:pt x="48339" y="32236"/>
                </a:cubicBezTo>
                <a:cubicBezTo>
                  <a:pt x="49828" y="35808"/>
                  <a:pt x="53310" y="38100"/>
                  <a:pt x="57150" y="38100"/>
                </a:cubicBezTo>
                <a:lnTo>
                  <a:pt x="66675" y="38100"/>
                </a:lnTo>
                <a:lnTo>
                  <a:pt x="66675" y="66675"/>
                </a:lnTo>
                <a:lnTo>
                  <a:pt x="38100" y="66675"/>
                </a:lnTo>
                <a:lnTo>
                  <a:pt x="38100" y="57150"/>
                </a:lnTo>
                <a:cubicBezTo>
                  <a:pt x="38100" y="53310"/>
                  <a:pt x="35778" y="49828"/>
                  <a:pt x="32206" y="48339"/>
                </a:cubicBezTo>
                <a:cubicBezTo>
                  <a:pt x="28635" y="46851"/>
                  <a:pt x="24557" y="47685"/>
                  <a:pt x="21818" y="50393"/>
                </a:cubicBezTo>
                <a:lnTo>
                  <a:pt x="2768" y="69443"/>
                </a:lnTo>
                <a:cubicBezTo>
                  <a:pt x="-952" y="73164"/>
                  <a:pt x="-952" y="79206"/>
                  <a:pt x="2768" y="82927"/>
                </a:cubicBezTo>
                <a:lnTo>
                  <a:pt x="21818" y="101977"/>
                </a:lnTo>
                <a:cubicBezTo>
                  <a:pt x="24557" y="104715"/>
                  <a:pt x="28635" y="105519"/>
                  <a:pt x="32206" y="104031"/>
                </a:cubicBezTo>
                <a:cubicBezTo>
                  <a:pt x="35778" y="102543"/>
                  <a:pt x="38100" y="99090"/>
                  <a:pt x="38100" y="95250"/>
                </a:cubicBezTo>
                <a:lnTo>
                  <a:pt x="381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cubicBezTo>
                  <a:pt x="53310" y="114300"/>
                  <a:pt x="49828" y="116622"/>
                  <a:pt x="48339" y="120194"/>
                </a:cubicBezTo>
                <a:cubicBezTo>
                  <a:pt x="46851" y="123765"/>
                  <a:pt x="47685" y="127843"/>
                  <a:pt x="50393" y="130582"/>
                </a:cubicBezTo>
                <a:lnTo>
                  <a:pt x="69443" y="149632"/>
                </a:lnTo>
                <a:cubicBezTo>
                  <a:pt x="73164" y="153353"/>
                  <a:pt x="79206" y="153353"/>
                  <a:pt x="82927" y="149632"/>
                </a:cubicBezTo>
                <a:lnTo>
                  <a:pt x="101977" y="130582"/>
                </a:lnTo>
                <a:cubicBezTo>
                  <a:pt x="104715" y="127843"/>
                  <a:pt x="105519" y="123765"/>
                  <a:pt x="104031" y="120194"/>
                </a:cubicBezTo>
                <a:cubicBezTo>
                  <a:pt x="102543" y="116622"/>
                  <a:pt x="99090" y="114300"/>
                  <a:pt x="95250" y="114300"/>
                </a:cubicBezTo>
                <a:lnTo>
                  <a:pt x="85725" y="114300"/>
                </a:lnTo>
                <a:lnTo>
                  <a:pt x="85725" y="85725"/>
                </a:lnTo>
                <a:lnTo>
                  <a:pt x="114300" y="85725"/>
                </a:lnTo>
                <a:lnTo>
                  <a:pt x="114300" y="95250"/>
                </a:lnTo>
                <a:cubicBezTo>
                  <a:pt x="114300" y="99090"/>
                  <a:pt x="116622" y="102572"/>
                  <a:pt x="120194" y="104061"/>
                </a:cubicBezTo>
                <a:cubicBezTo>
                  <a:pt x="123765" y="105549"/>
                  <a:pt x="127843" y="104715"/>
                  <a:pt x="130582" y="102007"/>
                </a:cubicBezTo>
                <a:lnTo>
                  <a:pt x="149632" y="82957"/>
                </a:lnTo>
                <a:cubicBezTo>
                  <a:pt x="153353" y="79236"/>
                  <a:pt x="153353" y="73194"/>
                  <a:pt x="149632" y="69473"/>
                </a:cubicBezTo>
                <a:lnTo>
                  <a:pt x="130582" y="50423"/>
                </a:lnTo>
                <a:cubicBezTo>
                  <a:pt x="127843" y="47685"/>
                  <a:pt x="123765" y="46881"/>
                  <a:pt x="120194" y="48369"/>
                </a:cubicBezTo>
                <a:cubicBezTo>
                  <a:pt x="116622" y="49857"/>
                  <a:pt x="114300" y="53310"/>
                  <a:pt x="114300" y="57150"/>
                </a:cubicBezTo>
                <a:lnTo>
                  <a:pt x="114300" y="66675"/>
                </a:lnTo>
                <a:lnTo>
                  <a:pt x="85725" y="66675"/>
                </a:lnTo>
                <a:lnTo>
                  <a:pt x="85725" y="38100"/>
                </a:lnTo>
                <a:lnTo>
                  <a:pt x="95250" y="38100"/>
                </a:lnTo>
                <a:cubicBezTo>
                  <a:pt x="99090" y="38100"/>
                  <a:pt x="102572" y="35778"/>
                  <a:pt x="104061" y="32206"/>
                </a:cubicBezTo>
                <a:cubicBezTo>
                  <a:pt x="105549" y="28635"/>
                  <a:pt x="104715" y="24557"/>
                  <a:pt x="102007" y="21818"/>
                </a:cubicBezTo>
                <a:lnTo>
                  <a:pt x="82957" y="2768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8750261" y="150495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Cross-Domain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4961" y="19050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systems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generalize across health topics and platforms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7241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" y="2724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" y="29527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Graphs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33528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medical knowledge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improved reasoning and verification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721" y="27241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41721" y="2724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4121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7946" y="3009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4889421" y="29527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Systems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94121" y="33528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4A6C8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low-latency detection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immediate intervention on social platforms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561" y="2724150"/>
            <a:ext cx="3705225" cy="1276350"/>
          </a:xfrm>
          <a:custGeom>
            <a:avLst/>
            <a:gdLst/>
            <a:ahLst/>
            <a:cxnLst/>
            <a:rect l="l" t="t" r="r" b="b"/>
            <a:pathLst>
              <a:path w="3705225" h="1276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52"/>
                </a:lnTo>
                <a:cubicBezTo>
                  <a:pt x="3705225" y="1242235"/>
                  <a:pt x="3671110" y="1276350"/>
                  <a:pt x="36290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102561" y="2724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Shape 34"/>
          <p:cNvSpPr/>
          <p:nvPr/>
        </p:nvSpPr>
        <p:spPr>
          <a:xfrm>
            <a:off x="8254961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Shape 35"/>
          <p:cNvSpPr/>
          <p:nvPr/>
        </p:nvSpPr>
        <p:spPr>
          <a:xfrm>
            <a:off x="8350211" y="3009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6"/>
          <p:cNvSpPr/>
          <p:nvPr/>
        </p:nvSpPr>
        <p:spPr>
          <a:xfrm>
            <a:off x="8750261" y="29527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Interdisciplinary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54961" y="335280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Foster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 NLP researchers and public health experts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4152900"/>
            <a:ext cx="5638800" cy="1524000"/>
          </a:xfrm>
          <a:custGeom>
            <a:avLst/>
            <a:gdLst/>
            <a:ahLst/>
            <a:cxnLst/>
            <a:rect l="l" t="t" r="r" b="b"/>
            <a:pathLst>
              <a:path w="5638800" h="1524000">
                <a:moveTo>
                  <a:pt x="7620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1447800"/>
                </a:lnTo>
                <a:cubicBezTo>
                  <a:pt x="5638800" y="1489856"/>
                  <a:pt x="5604656" y="1524000"/>
                  <a:pt x="55626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33400" y="43053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Priorities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245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" y="4716791"/>
            <a:ext cx="14986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264926" y="4716791"/>
            <a:ext cx="32196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dependency on large labeled datasets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524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" y="5021591"/>
            <a:ext cx="16593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425660" y="5021591"/>
            <a:ext cx="28716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 to evolving misinformation patterns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2450" y="533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" y="5326391"/>
            <a:ext cx="18717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Robustness: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638068" y="5326391"/>
            <a:ext cx="296489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Resist sophisticated manipulation attempts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2200" y="4152900"/>
            <a:ext cx="5638800" cy="1524000"/>
          </a:xfrm>
          <a:custGeom>
            <a:avLst/>
            <a:gdLst/>
            <a:ahLst/>
            <a:cxnLst/>
            <a:rect l="l" t="t" r="r" b="b"/>
            <a:pathLst>
              <a:path w="5638800" h="1524000">
                <a:moveTo>
                  <a:pt x="7620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1447800"/>
                </a:lnTo>
                <a:cubicBezTo>
                  <a:pt x="5638800" y="1489856"/>
                  <a:pt x="5604656" y="1524000"/>
                  <a:pt x="55626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24600" y="43053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 Priorities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365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4" name="Text 52"/>
          <p:cNvSpPr/>
          <p:nvPr/>
        </p:nvSpPr>
        <p:spPr>
          <a:xfrm>
            <a:off x="6591300" y="4716791"/>
            <a:ext cx="20410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Benchmarks: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98575" y="4716791"/>
            <a:ext cx="296489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evaluation protocols across studies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36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7" name="Text 55"/>
          <p:cNvSpPr/>
          <p:nvPr/>
        </p:nvSpPr>
        <p:spPr>
          <a:xfrm>
            <a:off x="6591300" y="5021591"/>
            <a:ext cx="15155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Testing: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73033" y="5021591"/>
            <a:ext cx="334601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in actual social media environments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3650" y="533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0" name="Text 58"/>
          <p:cNvSpPr/>
          <p:nvPr/>
        </p:nvSpPr>
        <p:spPr>
          <a:xfrm>
            <a:off x="6591300" y="5326391"/>
            <a:ext cx="163401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Studies: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91500" y="5326391"/>
            <a:ext cx="29056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performance over extended periods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Recommendations for Researchers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38100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4478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 Creation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1905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1160" y="19621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897391"/>
            <a:ext cx="14147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 Coverage: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1487" y="1897391"/>
            <a:ext cx="33207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multiple health topics beyond COVID-19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3241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1160" y="23812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2316491"/>
            <a:ext cx="9735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30360" y="2316491"/>
            <a:ext cx="36430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non-English languages and cultural contexts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27432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1160" y="28003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735591"/>
            <a:ext cx="80462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1411" y="2735591"/>
            <a:ext cx="34730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class imbalance through careful sampling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3162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1160" y="32194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3154691"/>
            <a:ext cx="1447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Annotation: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04586" y="3154691"/>
            <a:ext cx="27955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Involve medical professionals in labeling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7719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" y="3962400"/>
            <a:ext cx="532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0075" y="4381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" y="434340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transformers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best performance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0075" y="4686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" y="4648200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variants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(SciBERT, BioBERT) for health content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0075" y="4991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" y="49530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techniques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start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1257300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38100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10300" y="12573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850" y="14478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Evaluation Protocol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9850" y="1905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1411" y="19621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0850" y="1897391"/>
            <a:ext cx="1930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Cross-Dataset Validation: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97873" y="1897391"/>
            <a:ext cx="26517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multiple independent datasets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9850" y="23241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21411" y="23812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0850" y="2316491"/>
            <a:ext cx="12786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Metrics: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45648" y="2316491"/>
            <a:ext cx="312551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precision, recall, F1, not just accuracy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850" y="27432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21411" y="28003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00850" y="2735591"/>
            <a:ext cx="1168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Analysis: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935873" y="2735591"/>
            <a:ext cx="35316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 failure cases to understand limitations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9850" y="3162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21411" y="32194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0850" y="3154691"/>
            <a:ext cx="168533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Comparison: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52366" y="3154691"/>
            <a:ext cx="315968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against simple baselines and SOTA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060" y="3775710"/>
            <a:ext cx="5608320" cy="1607820"/>
          </a:xfrm>
          <a:custGeom>
            <a:avLst/>
            <a:gdLst/>
            <a:ahLst/>
            <a:cxnLst/>
            <a:rect l="l" t="t" r="r" b="b"/>
            <a:pathLst>
              <a:path w="5608320" h="1607820">
                <a:moveTo>
                  <a:pt x="76195" y="0"/>
                </a:moveTo>
                <a:lnTo>
                  <a:pt x="5532125" y="0"/>
                </a:lnTo>
                <a:cubicBezTo>
                  <a:pt x="5574207" y="0"/>
                  <a:pt x="5608320" y="34113"/>
                  <a:pt x="5608320" y="76195"/>
                </a:cubicBezTo>
                <a:lnTo>
                  <a:pt x="5608320" y="1531625"/>
                </a:lnTo>
                <a:cubicBezTo>
                  <a:pt x="5608320" y="1573707"/>
                  <a:pt x="5574207" y="1607820"/>
                  <a:pt x="5532125" y="1607820"/>
                </a:cubicBezTo>
                <a:lnTo>
                  <a:pt x="76195" y="1607820"/>
                </a:lnTo>
                <a:cubicBezTo>
                  <a:pt x="34113" y="1607820"/>
                  <a:pt x="0" y="1573707"/>
                  <a:pt x="0" y="15316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9370" y="3970027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Ethical Considerations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8420" y="43891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Text 51"/>
          <p:cNvSpPr/>
          <p:nvPr/>
        </p:nvSpPr>
        <p:spPr>
          <a:xfrm>
            <a:off x="6656070" y="4381500"/>
            <a:ext cx="6693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91626" y="4381500"/>
            <a:ext cx="29056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user data in social media datasets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8420" y="46939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" name="Text 54"/>
          <p:cNvSpPr/>
          <p:nvPr/>
        </p:nvSpPr>
        <p:spPr>
          <a:xfrm>
            <a:off x="6656070" y="4686300"/>
            <a:ext cx="11265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48826" y="4686300"/>
            <a:ext cx="288869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limitations and potential biases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08420" y="49987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9" name="Text 57"/>
          <p:cNvSpPr/>
          <p:nvPr/>
        </p:nvSpPr>
        <p:spPr>
          <a:xfrm>
            <a:off x="6656070" y="4991100"/>
            <a:ext cx="13971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Oversight: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19455" y="4991100"/>
            <a:ext cx="29729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expert review for critical decisions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00050" y="5539736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685800"/>
                </a:lnTo>
                <a:cubicBezTo>
                  <a:pt x="11410950" y="727856"/>
                  <a:pt x="11376806" y="762000"/>
                  <a:pt x="113347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00050" y="553973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3" name="Shape 61"/>
          <p:cNvSpPr/>
          <p:nvPr/>
        </p:nvSpPr>
        <p:spPr>
          <a:xfrm>
            <a:off x="609600" y="573023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4" name="Text 62"/>
          <p:cNvSpPr/>
          <p:nvPr/>
        </p:nvSpPr>
        <p:spPr>
          <a:xfrm>
            <a:off x="880586" y="5722627"/>
            <a:ext cx="10926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71500" y="5722627"/>
            <a:ext cx="106606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robustness, interpretability, and ethical deployment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marginal accuracy gains. Healthcare applications demand trustworthy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spc="101" kern="0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Takeaways &amp;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996" y="1062273"/>
            <a:ext cx="5673505" cy="2382067"/>
          </a:xfrm>
          <a:custGeom>
            <a:avLst/>
            <a:gdLst/>
            <a:ahLst/>
            <a:cxnLst/>
            <a:rect l="l" t="t" r="r" b="b"/>
            <a:pathLst>
              <a:path w="5673505" h="2382067">
                <a:moveTo>
                  <a:pt x="32190" y="0"/>
                </a:moveTo>
                <a:lnTo>
                  <a:pt x="5609118" y="0"/>
                </a:lnTo>
                <a:cubicBezTo>
                  <a:pt x="5644678" y="0"/>
                  <a:pt x="5673505" y="28827"/>
                  <a:pt x="5673505" y="64387"/>
                </a:cubicBezTo>
                <a:lnTo>
                  <a:pt x="5673505" y="2317680"/>
                </a:lnTo>
                <a:cubicBezTo>
                  <a:pt x="5673505" y="2353240"/>
                  <a:pt x="5644678" y="2382067"/>
                  <a:pt x="5609118" y="2382067"/>
                </a:cubicBezTo>
                <a:lnTo>
                  <a:pt x="32190" y="2382067"/>
                </a:lnTo>
                <a:cubicBezTo>
                  <a:pt x="14412" y="2382067"/>
                  <a:pt x="0" y="2367655"/>
                  <a:pt x="0" y="2349877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7996" y="1062273"/>
            <a:ext cx="32190" cy="2382067"/>
          </a:xfrm>
          <a:custGeom>
            <a:avLst/>
            <a:gdLst/>
            <a:ahLst/>
            <a:cxnLst/>
            <a:rect l="l" t="t" r="r" b="b"/>
            <a:pathLst>
              <a:path w="32190" h="2382067">
                <a:moveTo>
                  <a:pt x="32190" y="0"/>
                </a:moveTo>
                <a:lnTo>
                  <a:pt x="32190" y="0"/>
                </a:lnTo>
                <a:lnTo>
                  <a:pt x="32190" y="2382067"/>
                </a:lnTo>
                <a:lnTo>
                  <a:pt x="32190" y="2382067"/>
                </a:lnTo>
                <a:cubicBezTo>
                  <a:pt x="14412" y="2382067"/>
                  <a:pt x="0" y="2367655"/>
                  <a:pt x="0" y="2349877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Text 4"/>
          <p:cNvSpPr/>
          <p:nvPr/>
        </p:nvSpPr>
        <p:spPr>
          <a:xfrm>
            <a:off x="515042" y="1223224"/>
            <a:ext cx="5415984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Evolution of Methods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5042" y="1609505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0"/>
                </a:moveTo>
                <a:lnTo>
                  <a:pt x="128760" y="0"/>
                </a:lnTo>
                <a:cubicBezTo>
                  <a:pt x="199825" y="0"/>
                  <a:pt x="257521" y="57696"/>
                  <a:pt x="257521" y="128760"/>
                </a:cubicBezTo>
                <a:lnTo>
                  <a:pt x="257521" y="128760"/>
                </a:lnTo>
                <a:cubicBezTo>
                  <a:pt x="257521" y="199825"/>
                  <a:pt x="199825" y="257521"/>
                  <a:pt x="128760" y="257521"/>
                </a:cubicBezTo>
                <a:lnTo>
                  <a:pt x="128760" y="257521"/>
                </a:lnTo>
                <a:cubicBezTo>
                  <a:pt x="57696" y="257521"/>
                  <a:pt x="0" y="199825"/>
                  <a:pt x="0" y="128760"/>
                </a:cubicBezTo>
                <a:lnTo>
                  <a:pt x="0" y="128760"/>
                </a:lnTo>
                <a:cubicBezTo>
                  <a:pt x="0" y="57696"/>
                  <a:pt x="57696" y="0"/>
                  <a:pt x="12876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2440" y="1681933"/>
            <a:ext cx="126749" cy="112665"/>
          </a:xfrm>
          <a:custGeom>
            <a:avLst/>
            <a:gdLst/>
            <a:ahLst/>
            <a:cxnLst/>
            <a:rect l="l" t="t" r="r" b="b"/>
            <a:pathLst>
              <a:path w="126749" h="112665">
                <a:moveTo>
                  <a:pt x="63374" y="14083"/>
                </a:moveTo>
                <a:cubicBezTo>
                  <a:pt x="86700" y="14083"/>
                  <a:pt x="105624" y="33007"/>
                  <a:pt x="105624" y="56333"/>
                </a:cubicBezTo>
                <a:cubicBezTo>
                  <a:pt x="105624" y="79658"/>
                  <a:pt x="86700" y="98582"/>
                  <a:pt x="63374" y="98582"/>
                </a:cubicBezTo>
                <a:cubicBezTo>
                  <a:pt x="49027" y="98582"/>
                  <a:pt x="36330" y="91431"/>
                  <a:pt x="28694" y="80472"/>
                </a:cubicBezTo>
                <a:cubicBezTo>
                  <a:pt x="26472" y="77281"/>
                  <a:pt x="22071" y="76511"/>
                  <a:pt x="18880" y="78734"/>
                </a:cubicBezTo>
                <a:cubicBezTo>
                  <a:pt x="15690" y="80956"/>
                  <a:pt x="14919" y="85357"/>
                  <a:pt x="17142" y="88548"/>
                </a:cubicBezTo>
                <a:cubicBezTo>
                  <a:pt x="27308" y="103115"/>
                  <a:pt x="44230" y="112665"/>
                  <a:pt x="63374" y="112665"/>
                </a:cubicBezTo>
                <a:cubicBezTo>
                  <a:pt x="94489" y="112665"/>
                  <a:pt x="119707" y="87448"/>
                  <a:pt x="119707" y="56333"/>
                </a:cubicBezTo>
                <a:cubicBezTo>
                  <a:pt x="119707" y="25218"/>
                  <a:pt x="94489" y="0"/>
                  <a:pt x="63374" y="0"/>
                </a:cubicBezTo>
                <a:cubicBezTo>
                  <a:pt x="44516" y="0"/>
                  <a:pt x="27836" y="9264"/>
                  <a:pt x="17604" y="23479"/>
                </a:cubicBezTo>
                <a:lnTo>
                  <a:pt x="17604" y="17604"/>
                </a:lnTo>
                <a:cubicBezTo>
                  <a:pt x="17604" y="13709"/>
                  <a:pt x="14457" y="10562"/>
                  <a:pt x="10562" y="10562"/>
                </a:cubicBezTo>
                <a:cubicBezTo>
                  <a:pt x="6668" y="10562"/>
                  <a:pt x="3521" y="13709"/>
                  <a:pt x="3521" y="17604"/>
                </a:cubicBezTo>
                <a:lnTo>
                  <a:pt x="3521" y="42250"/>
                </a:lnTo>
                <a:cubicBezTo>
                  <a:pt x="3521" y="46144"/>
                  <a:pt x="6668" y="49291"/>
                  <a:pt x="10562" y="49291"/>
                </a:cubicBezTo>
                <a:lnTo>
                  <a:pt x="15976" y="49291"/>
                </a:lnTo>
                <a:cubicBezTo>
                  <a:pt x="16086" y="49291"/>
                  <a:pt x="16196" y="49291"/>
                  <a:pt x="16306" y="49291"/>
                </a:cubicBezTo>
                <a:lnTo>
                  <a:pt x="35230" y="49291"/>
                </a:lnTo>
                <a:cubicBezTo>
                  <a:pt x="39125" y="49291"/>
                  <a:pt x="42272" y="46144"/>
                  <a:pt x="42272" y="42250"/>
                </a:cubicBezTo>
                <a:cubicBezTo>
                  <a:pt x="42272" y="38355"/>
                  <a:pt x="39125" y="35208"/>
                  <a:pt x="35230" y="35208"/>
                </a:cubicBezTo>
                <a:lnTo>
                  <a:pt x="26802" y="35208"/>
                </a:lnTo>
                <a:cubicBezTo>
                  <a:pt x="34086" y="22577"/>
                  <a:pt x="47751" y="14083"/>
                  <a:pt x="63374" y="14083"/>
                </a:cubicBezTo>
                <a:close/>
                <a:moveTo>
                  <a:pt x="68655" y="33448"/>
                </a:moveTo>
                <a:cubicBezTo>
                  <a:pt x="68655" y="30521"/>
                  <a:pt x="66301" y="28166"/>
                  <a:pt x="63374" y="28166"/>
                </a:cubicBezTo>
                <a:cubicBezTo>
                  <a:pt x="60448" y="28166"/>
                  <a:pt x="58093" y="30521"/>
                  <a:pt x="58093" y="33448"/>
                </a:cubicBezTo>
                <a:lnTo>
                  <a:pt x="58093" y="56333"/>
                </a:lnTo>
                <a:cubicBezTo>
                  <a:pt x="58093" y="57741"/>
                  <a:pt x="58643" y="59083"/>
                  <a:pt x="59633" y="60074"/>
                </a:cubicBezTo>
                <a:lnTo>
                  <a:pt x="75477" y="75917"/>
                </a:lnTo>
                <a:cubicBezTo>
                  <a:pt x="77545" y="77986"/>
                  <a:pt x="80890" y="77986"/>
                  <a:pt x="82937" y="75917"/>
                </a:cubicBezTo>
                <a:cubicBezTo>
                  <a:pt x="84983" y="73849"/>
                  <a:pt x="85005" y="70504"/>
                  <a:pt x="82937" y="68457"/>
                </a:cubicBezTo>
                <a:lnTo>
                  <a:pt x="68633" y="54154"/>
                </a:lnTo>
                <a:lnTo>
                  <a:pt x="68633" y="3344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869133" y="1577315"/>
            <a:ext cx="2205022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2016-2019: Traditional 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9133" y="1770455"/>
            <a:ext cx="2196974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SVM, Random Forest with TF-IDF features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5042" y="2060166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0"/>
                </a:moveTo>
                <a:lnTo>
                  <a:pt x="128760" y="0"/>
                </a:lnTo>
                <a:cubicBezTo>
                  <a:pt x="199825" y="0"/>
                  <a:pt x="257521" y="57696"/>
                  <a:pt x="257521" y="128760"/>
                </a:cubicBezTo>
                <a:lnTo>
                  <a:pt x="257521" y="128760"/>
                </a:lnTo>
                <a:cubicBezTo>
                  <a:pt x="257521" y="199825"/>
                  <a:pt x="199825" y="257521"/>
                  <a:pt x="128760" y="257521"/>
                </a:cubicBezTo>
                <a:lnTo>
                  <a:pt x="128760" y="257521"/>
                </a:lnTo>
                <a:cubicBezTo>
                  <a:pt x="57696" y="257521"/>
                  <a:pt x="0" y="199825"/>
                  <a:pt x="0" y="128760"/>
                </a:cubicBezTo>
                <a:lnTo>
                  <a:pt x="0" y="128760"/>
                </a:lnTo>
                <a:cubicBezTo>
                  <a:pt x="0" y="57696"/>
                  <a:pt x="57696" y="0"/>
                  <a:pt x="12876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2440" y="2132594"/>
            <a:ext cx="126749" cy="112665"/>
          </a:xfrm>
          <a:custGeom>
            <a:avLst/>
            <a:gdLst/>
            <a:ahLst/>
            <a:cxnLst/>
            <a:rect l="l" t="t" r="r" b="b"/>
            <a:pathLst>
              <a:path w="126749" h="112665">
                <a:moveTo>
                  <a:pt x="63374" y="14083"/>
                </a:moveTo>
                <a:cubicBezTo>
                  <a:pt x="86700" y="14083"/>
                  <a:pt x="105624" y="33007"/>
                  <a:pt x="105624" y="56333"/>
                </a:cubicBezTo>
                <a:cubicBezTo>
                  <a:pt x="105624" y="79658"/>
                  <a:pt x="86700" y="98582"/>
                  <a:pt x="63374" y="98582"/>
                </a:cubicBezTo>
                <a:cubicBezTo>
                  <a:pt x="49027" y="98582"/>
                  <a:pt x="36330" y="91431"/>
                  <a:pt x="28694" y="80472"/>
                </a:cubicBezTo>
                <a:cubicBezTo>
                  <a:pt x="26472" y="77281"/>
                  <a:pt x="22071" y="76511"/>
                  <a:pt x="18880" y="78734"/>
                </a:cubicBezTo>
                <a:cubicBezTo>
                  <a:pt x="15690" y="80956"/>
                  <a:pt x="14919" y="85357"/>
                  <a:pt x="17142" y="88548"/>
                </a:cubicBezTo>
                <a:cubicBezTo>
                  <a:pt x="27308" y="103115"/>
                  <a:pt x="44230" y="112665"/>
                  <a:pt x="63374" y="112665"/>
                </a:cubicBezTo>
                <a:cubicBezTo>
                  <a:pt x="94489" y="112665"/>
                  <a:pt x="119707" y="87448"/>
                  <a:pt x="119707" y="56333"/>
                </a:cubicBezTo>
                <a:cubicBezTo>
                  <a:pt x="119707" y="25218"/>
                  <a:pt x="94489" y="0"/>
                  <a:pt x="63374" y="0"/>
                </a:cubicBezTo>
                <a:cubicBezTo>
                  <a:pt x="44516" y="0"/>
                  <a:pt x="27836" y="9264"/>
                  <a:pt x="17604" y="23479"/>
                </a:cubicBezTo>
                <a:lnTo>
                  <a:pt x="17604" y="17604"/>
                </a:lnTo>
                <a:cubicBezTo>
                  <a:pt x="17604" y="13709"/>
                  <a:pt x="14457" y="10562"/>
                  <a:pt x="10562" y="10562"/>
                </a:cubicBezTo>
                <a:cubicBezTo>
                  <a:pt x="6668" y="10562"/>
                  <a:pt x="3521" y="13709"/>
                  <a:pt x="3521" y="17604"/>
                </a:cubicBezTo>
                <a:lnTo>
                  <a:pt x="3521" y="42250"/>
                </a:lnTo>
                <a:cubicBezTo>
                  <a:pt x="3521" y="46144"/>
                  <a:pt x="6668" y="49291"/>
                  <a:pt x="10562" y="49291"/>
                </a:cubicBezTo>
                <a:lnTo>
                  <a:pt x="15976" y="49291"/>
                </a:lnTo>
                <a:cubicBezTo>
                  <a:pt x="16086" y="49291"/>
                  <a:pt x="16196" y="49291"/>
                  <a:pt x="16306" y="49291"/>
                </a:cubicBezTo>
                <a:lnTo>
                  <a:pt x="35230" y="49291"/>
                </a:lnTo>
                <a:cubicBezTo>
                  <a:pt x="39125" y="49291"/>
                  <a:pt x="42272" y="46144"/>
                  <a:pt x="42272" y="42250"/>
                </a:cubicBezTo>
                <a:cubicBezTo>
                  <a:pt x="42272" y="38355"/>
                  <a:pt x="39125" y="35208"/>
                  <a:pt x="35230" y="35208"/>
                </a:cubicBezTo>
                <a:lnTo>
                  <a:pt x="26802" y="35208"/>
                </a:lnTo>
                <a:cubicBezTo>
                  <a:pt x="34086" y="22577"/>
                  <a:pt x="47751" y="14083"/>
                  <a:pt x="63374" y="14083"/>
                </a:cubicBezTo>
                <a:close/>
                <a:moveTo>
                  <a:pt x="68655" y="33448"/>
                </a:moveTo>
                <a:cubicBezTo>
                  <a:pt x="68655" y="30521"/>
                  <a:pt x="66301" y="28166"/>
                  <a:pt x="63374" y="28166"/>
                </a:cubicBezTo>
                <a:cubicBezTo>
                  <a:pt x="60448" y="28166"/>
                  <a:pt x="58093" y="30521"/>
                  <a:pt x="58093" y="33448"/>
                </a:cubicBezTo>
                <a:lnTo>
                  <a:pt x="58093" y="56333"/>
                </a:lnTo>
                <a:cubicBezTo>
                  <a:pt x="58093" y="57741"/>
                  <a:pt x="58643" y="59083"/>
                  <a:pt x="59633" y="60074"/>
                </a:cubicBezTo>
                <a:lnTo>
                  <a:pt x="75477" y="75917"/>
                </a:lnTo>
                <a:cubicBezTo>
                  <a:pt x="77545" y="77986"/>
                  <a:pt x="80890" y="77986"/>
                  <a:pt x="82937" y="75917"/>
                </a:cubicBezTo>
                <a:cubicBezTo>
                  <a:pt x="84983" y="73849"/>
                  <a:pt x="85005" y="70504"/>
                  <a:pt x="82937" y="68457"/>
                </a:cubicBezTo>
                <a:lnTo>
                  <a:pt x="68633" y="54154"/>
                </a:lnTo>
                <a:lnTo>
                  <a:pt x="68633" y="3344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869133" y="2027976"/>
            <a:ext cx="1657790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2019-2021: Deep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133" y="2221117"/>
            <a:ext cx="1649743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CNN, LSTM, GRU architectures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5042" y="2510828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0"/>
                </a:moveTo>
                <a:lnTo>
                  <a:pt x="128760" y="0"/>
                </a:lnTo>
                <a:cubicBezTo>
                  <a:pt x="199825" y="0"/>
                  <a:pt x="257521" y="57696"/>
                  <a:pt x="257521" y="128760"/>
                </a:cubicBezTo>
                <a:lnTo>
                  <a:pt x="257521" y="128760"/>
                </a:lnTo>
                <a:cubicBezTo>
                  <a:pt x="257521" y="199825"/>
                  <a:pt x="199825" y="257521"/>
                  <a:pt x="128760" y="257521"/>
                </a:cubicBezTo>
                <a:lnTo>
                  <a:pt x="128760" y="257521"/>
                </a:lnTo>
                <a:cubicBezTo>
                  <a:pt x="57696" y="257521"/>
                  <a:pt x="0" y="199825"/>
                  <a:pt x="0" y="128760"/>
                </a:cubicBezTo>
                <a:lnTo>
                  <a:pt x="0" y="128760"/>
                </a:lnTo>
                <a:cubicBezTo>
                  <a:pt x="0" y="57696"/>
                  <a:pt x="57696" y="0"/>
                  <a:pt x="12876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82440" y="2583255"/>
            <a:ext cx="126749" cy="112665"/>
          </a:xfrm>
          <a:custGeom>
            <a:avLst/>
            <a:gdLst/>
            <a:ahLst/>
            <a:cxnLst/>
            <a:rect l="l" t="t" r="r" b="b"/>
            <a:pathLst>
              <a:path w="126749" h="112665">
                <a:moveTo>
                  <a:pt x="63374" y="14083"/>
                </a:moveTo>
                <a:cubicBezTo>
                  <a:pt x="86700" y="14083"/>
                  <a:pt x="105624" y="33007"/>
                  <a:pt x="105624" y="56333"/>
                </a:cubicBezTo>
                <a:cubicBezTo>
                  <a:pt x="105624" y="79658"/>
                  <a:pt x="86700" y="98582"/>
                  <a:pt x="63374" y="98582"/>
                </a:cubicBezTo>
                <a:cubicBezTo>
                  <a:pt x="49027" y="98582"/>
                  <a:pt x="36330" y="91431"/>
                  <a:pt x="28694" y="80472"/>
                </a:cubicBezTo>
                <a:cubicBezTo>
                  <a:pt x="26472" y="77281"/>
                  <a:pt x="22071" y="76511"/>
                  <a:pt x="18880" y="78734"/>
                </a:cubicBezTo>
                <a:cubicBezTo>
                  <a:pt x="15690" y="80956"/>
                  <a:pt x="14919" y="85357"/>
                  <a:pt x="17142" y="88548"/>
                </a:cubicBezTo>
                <a:cubicBezTo>
                  <a:pt x="27308" y="103115"/>
                  <a:pt x="44230" y="112665"/>
                  <a:pt x="63374" y="112665"/>
                </a:cubicBezTo>
                <a:cubicBezTo>
                  <a:pt x="94489" y="112665"/>
                  <a:pt x="119707" y="87448"/>
                  <a:pt x="119707" y="56333"/>
                </a:cubicBezTo>
                <a:cubicBezTo>
                  <a:pt x="119707" y="25218"/>
                  <a:pt x="94489" y="0"/>
                  <a:pt x="63374" y="0"/>
                </a:cubicBezTo>
                <a:cubicBezTo>
                  <a:pt x="44516" y="0"/>
                  <a:pt x="27836" y="9264"/>
                  <a:pt x="17604" y="23479"/>
                </a:cubicBezTo>
                <a:lnTo>
                  <a:pt x="17604" y="17604"/>
                </a:lnTo>
                <a:cubicBezTo>
                  <a:pt x="17604" y="13709"/>
                  <a:pt x="14457" y="10562"/>
                  <a:pt x="10562" y="10562"/>
                </a:cubicBezTo>
                <a:cubicBezTo>
                  <a:pt x="6668" y="10562"/>
                  <a:pt x="3521" y="13709"/>
                  <a:pt x="3521" y="17604"/>
                </a:cubicBezTo>
                <a:lnTo>
                  <a:pt x="3521" y="42250"/>
                </a:lnTo>
                <a:cubicBezTo>
                  <a:pt x="3521" y="46144"/>
                  <a:pt x="6668" y="49291"/>
                  <a:pt x="10562" y="49291"/>
                </a:cubicBezTo>
                <a:lnTo>
                  <a:pt x="15976" y="49291"/>
                </a:lnTo>
                <a:cubicBezTo>
                  <a:pt x="16086" y="49291"/>
                  <a:pt x="16196" y="49291"/>
                  <a:pt x="16306" y="49291"/>
                </a:cubicBezTo>
                <a:lnTo>
                  <a:pt x="35230" y="49291"/>
                </a:lnTo>
                <a:cubicBezTo>
                  <a:pt x="39125" y="49291"/>
                  <a:pt x="42272" y="46144"/>
                  <a:pt x="42272" y="42250"/>
                </a:cubicBezTo>
                <a:cubicBezTo>
                  <a:pt x="42272" y="38355"/>
                  <a:pt x="39125" y="35208"/>
                  <a:pt x="35230" y="35208"/>
                </a:cubicBezTo>
                <a:lnTo>
                  <a:pt x="26802" y="35208"/>
                </a:lnTo>
                <a:cubicBezTo>
                  <a:pt x="34086" y="22577"/>
                  <a:pt x="47751" y="14083"/>
                  <a:pt x="63374" y="14083"/>
                </a:cubicBezTo>
                <a:close/>
                <a:moveTo>
                  <a:pt x="68655" y="33448"/>
                </a:moveTo>
                <a:cubicBezTo>
                  <a:pt x="68655" y="30521"/>
                  <a:pt x="66301" y="28166"/>
                  <a:pt x="63374" y="28166"/>
                </a:cubicBezTo>
                <a:cubicBezTo>
                  <a:pt x="60448" y="28166"/>
                  <a:pt x="58093" y="30521"/>
                  <a:pt x="58093" y="33448"/>
                </a:cubicBezTo>
                <a:lnTo>
                  <a:pt x="58093" y="56333"/>
                </a:lnTo>
                <a:cubicBezTo>
                  <a:pt x="58093" y="57741"/>
                  <a:pt x="58643" y="59083"/>
                  <a:pt x="59633" y="60074"/>
                </a:cubicBezTo>
                <a:lnTo>
                  <a:pt x="75477" y="75917"/>
                </a:lnTo>
                <a:cubicBezTo>
                  <a:pt x="77545" y="77986"/>
                  <a:pt x="80890" y="77986"/>
                  <a:pt x="82937" y="75917"/>
                </a:cubicBezTo>
                <a:cubicBezTo>
                  <a:pt x="84983" y="73849"/>
                  <a:pt x="85005" y="70504"/>
                  <a:pt x="82937" y="68457"/>
                </a:cubicBezTo>
                <a:lnTo>
                  <a:pt x="68633" y="54154"/>
                </a:lnTo>
                <a:lnTo>
                  <a:pt x="68633" y="3344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Text 15"/>
          <p:cNvSpPr/>
          <p:nvPr/>
        </p:nvSpPr>
        <p:spPr>
          <a:xfrm>
            <a:off x="869133" y="2478638"/>
            <a:ext cx="1834836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2020-2024: Transformers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133" y="2671778"/>
            <a:ext cx="1826788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RoBERTa became standard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5042" y="2961489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0"/>
                </a:moveTo>
                <a:lnTo>
                  <a:pt x="128760" y="0"/>
                </a:lnTo>
                <a:cubicBezTo>
                  <a:pt x="199825" y="0"/>
                  <a:pt x="257521" y="57696"/>
                  <a:pt x="257521" y="128760"/>
                </a:cubicBezTo>
                <a:lnTo>
                  <a:pt x="257521" y="128760"/>
                </a:lnTo>
                <a:cubicBezTo>
                  <a:pt x="257521" y="199825"/>
                  <a:pt x="199825" y="257521"/>
                  <a:pt x="128760" y="257521"/>
                </a:cubicBezTo>
                <a:lnTo>
                  <a:pt x="128760" y="257521"/>
                </a:lnTo>
                <a:cubicBezTo>
                  <a:pt x="57696" y="257521"/>
                  <a:pt x="0" y="199825"/>
                  <a:pt x="0" y="128760"/>
                </a:cubicBezTo>
                <a:lnTo>
                  <a:pt x="0" y="128760"/>
                </a:lnTo>
                <a:cubicBezTo>
                  <a:pt x="0" y="57696"/>
                  <a:pt x="57696" y="0"/>
                  <a:pt x="12876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2440" y="3033917"/>
            <a:ext cx="126749" cy="112665"/>
          </a:xfrm>
          <a:custGeom>
            <a:avLst/>
            <a:gdLst/>
            <a:ahLst/>
            <a:cxnLst/>
            <a:rect l="l" t="t" r="r" b="b"/>
            <a:pathLst>
              <a:path w="126749" h="112665">
                <a:moveTo>
                  <a:pt x="63374" y="14083"/>
                </a:moveTo>
                <a:cubicBezTo>
                  <a:pt x="86700" y="14083"/>
                  <a:pt x="105624" y="33007"/>
                  <a:pt x="105624" y="56333"/>
                </a:cubicBezTo>
                <a:cubicBezTo>
                  <a:pt x="105624" y="79658"/>
                  <a:pt x="86700" y="98582"/>
                  <a:pt x="63374" y="98582"/>
                </a:cubicBezTo>
                <a:cubicBezTo>
                  <a:pt x="49027" y="98582"/>
                  <a:pt x="36330" y="91431"/>
                  <a:pt x="28694" y="80472"/>
                </a:cubicBezTo>
                <a:cubicBezTo>
                  <a:pt x="26472" y="77281"/>
                  <a:pt x="22071" y="76511"/>
                  <a:pt x="18880" y="78734"/>
                </a:cubicBezTo>
                <a:cubicBezTo>
                  <a:pt x="15690" y="80956"/>
                  <a:pt x="14919" y="85357"/>
                  <a:pt x="17142" y="88548"/>
                </a:cubicBezTo>
                <a:cubicBezTo>
                  <a:pt x="27308" y="103115"/>
                  <a:pt x="44230" y="112665"/>
                  <a:pt x="63374" y="112665"/>
                </a:cubicBezTo>
                <a:cubicBezTo>
                  <a:pt x="94489" y="112665"/>
                  <a:pt x="119707" y="87448"/>
                  <a:pt x="119707" y="56333"/>
                </a:cubicBezTo>
                <a:cubicBezTo>
                  <a:pt x="119707" y="25218"/>
                  <a:pt x="94489" y="0"/>
                  <a:pt x="63374" y="0"/>
                </a:cubicBezTo>
                <a:cubicBezTo>
                  <a:pt x="44516" y="0"/>
                  <a:pt x="27836" y="9264"/>
                  <a:pt x="17604" y="23479"/>
                </a:cubicBezTo>
                <a:lnTo>
                  <a:pt x="17604" y="17604"/>
                </a:lnTo>
                <a:cubicBezTo>
                  <a:pt x="17604" y="13709"/>
                  <a:pt x="14457" y="10562"/>
                  <a:pt x="10562" y="10562"/>
                </a:cubicBezTo>
                <a:cubicBezTo>
                  <a:pt x="6668" y="10562"/>
                  <a:pt x="3521" y="13709"/>
                  <a:pt x="3521" y="17604"/>
                </a:cubicBezTo>
                <a:lnTo>
                  <a:pt x="3521" y="42250"/>
                </a:lnTo>
                <a:cubicBezTo>
                  <a:pt x="3521" y="46144"/>
                  <a:pt x="6668" y="49291"/>
                  <a:pt x="10562" y="49291"/>
                </a:cubicBezTo>
                <a:lnTo>
                  <a:pt x="15976" y="49291"/>
                </a:lnTo>
                <a:cubicBezTo>
                  <a:pt x="16086" y="49291"/>
                  <a:pt x="16196" y="49291"/>
                  <a:pt x="16306" y="49291"/>
                </a:cubicBezTo>
                <a:lnTo>
                  <a:pt x="35230" y="49291"/>
                </a:lnTo>
                <a:cubicBezTo>
                  <a:pt x="39125" y="49291"/>
                  <a:pt x="42272" y="46144"/>
                  <a:pt x="42272" y="42250"/>
                </a:cubicBezTo>
                <a:cubicBezTo>
                  <a:pt x="42272" y="38355"/>
                  <a:pt x="39125" y="35208"/>
                  <a:pt x="35230" y="35208"/>
                </a:cubicBezTo>
                <a:lnTo>
                  <a:pt x="26802" y="35208"/>
                </a:lnTo>
                <a:cubicBezTo>
                  <a:pt x="34086" y="22577"/>
                  <a:pt x="47751" y="14083"/>
                  <a:pt x="63374" y="14083"/>
                </a:cubicBezTo>
                <a:close/>
                <a:moveTo>
                  <a:pt x="68655" y="33448"/>
                </a:moveTo>
                <a:cubicBezTo>
                  <a:pt x="68655" y="30521"/>
                  <a:pt x="66301" y="28166"/>
                  <a:pt x="63374" y="28166"/>
                </a:cubicBezTo>
                <a:cubicBezTo>
                  <a:pt x="60448" y="28166"/>
                  <a:pt x="58093" y="30521"/>
                  <a:pt x="58093" y="33448"/>
                </a:cubicBezTo>
                <a:lnTo>
                  <a:pt x="58093" y="56333"/>
                </a:lnTo>
                <a:cubicBezTo>
                  <a:pt x="58093" y="57741"/>
                  <a:pt x="58643" y="59083"/>
                  <a:pt x="59633" y="60074"/>
                </a:cubicBezTo>
                <a:lnTo>
                  <a:pt x="75477" y="75917"/>
                </a:lnTo>
                <a:cubicBezTo>
                  <a:pt x="77545" y="77986"/>
                  <a:pt x="80890" y="77986"/>
                  <a:pt x="82937" y="75917"/>
                </a:cubicBezTo>
                <a:cubicBezTo>
                  <a:pt x="84983" y="73849"/>
                  <a:pt x="85005" y="70504"/>
                  <a:pt x="82937" y="68457"/>
                </a:cubicBezTo>
                <a:lnTo>
                  <a:pt x="68633" y="54154"/>
                </a:lnTo>
                <a:lnTo>
                  <a:pt x="68633" y="3344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1" name="Text 19"/>
          <p:cNvSpPr/>
          <p:nvPr/>
        </p:nvSpPr>
        <p:spPr>
          <a:xfrm>
            <a:off x="869133" y="2929299"/>
            <a:ext cx="174631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2024-Present: LLMs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9133" y="3122440"/>
            <a:ext cx="1738265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models emerging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901" y="3573101"/>
            <a:ext cx="5689600" cy="1609505"/>
          </a:xfrm>
          <a:custGeom>
            <a:avLst/>
            <a:gdLst/>
            <a:ahLst/>
            <a:cxnLst/>
            <a:rect l="l" t="t" r="r" b="b"/>
            <a:pathLst>
              <a:path w="5689600" h="1609505">
                <a:moveTo>
                  <a:pt x="64380" y="0"/>
                </a:moveTo>
                <a:lnTo>
                  <a:pt x="5625220" y="0"/>
                </a:lnTo>
                <a:cubicBezTo>
                  <a:pt x="5660776" y="0"/>
                  <a:pt x="5689600" y="28824"/>
                  <a:pt x="5689600" y="64380"/>
                </a:cubicBezTo>
                <a:lnTo>
                  <a:pt x="5689600" y="1545125"/>
                </a:lnTo>
                <a:cubicBezTo>
                  <a:pt x="5689600" y="1580681"/>
                  <a:pt x="5660776" y="1609505"/>
                  <a:pt x="5625220" y="1609505"/>
                </a:cubicBezTo>
                <a:lnTo>
                  <a:pt x="64380" y="1609505"/>
                </a:lnTo>
                <a:cubicBezTo>
                  <a:pt x="28824" y="1609505"/>
                  <a:pt x="0" y="1580681"/>
                  <a:pt x="0" y="1545125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2851" y="3734051"/>
            <a:ext cx="5440127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Success Factors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0899" y="4088143"/>
            <a:ext cx="144855" cy="128760"/>
          </a:xfrm>
          <a:custGeom>
            <a:avLst/>
            <a:gdLst/>
            <a:ahLst/>
            <a:cxnLst/>
            <a:rect l="l" t="t" r="r" b="b"/>
            <a:pathLst>
              <a:path w="144855" h="128760">
                <a:moveTo>
                  <a:pt x="77835" y="-4753"/>
                </a:moveTo>
                <a:cubicBezTo>
                  <a:pt x="76804" y="-6765"/>
                  <a:pt x="74716" y="-8048"/>
                  <a:pt x="72453" y="-8048"/>
                </a:cubicBezTo>
                <a:cubicBezTo>
                  <a:pt x="70190" y="-8048"/>
                  <a:pt x="68102" y="-6765"/>
                  <a:pt x="67071" y="-4753"/>
                </a:cubicBezTo>
                <a:lnTo>
                  <a:pt x="48562" y="31511"/>
                </a:lnTo>
                <a:lnTo>
                  <a:pt x="8349" y="37899"/>
                </a:lnTo>
                <a:cubicBezTo>
                  <a:pt x="6111" y="38251"/>
                  <a:pt x="4250" y="39835"/>
                  <a:pt x="3546" y="41998"/>
                </a:cubicBezTo>
                <a:cubicBezTo>
                  <a:pt x="2842" y="44161"/>
                  <a:pt x="3420" y="46525"/>
                  <a:pt x="5005" y="48134"/>
                </a:cubicBezTo>
                <a:lnTo>
                  <a:pt x="33774" y="76929"/>
                </a:lnTo>
                <a:lnTo>
                  <a:pt x="27437" y="117142"/>
                </a:lnTo>
                <a:cubicBezTo>
                  <a:pt x="27085" y="119380"/>
                  <a:pt x="28015" y="121643"/>
                  <a:pt x="29851" y="122976"/>
                </a:cubicBezTo>
                <a:cubicBezTo>
                  <a:pt x="31687" y="124309"/>
                  <a:pt x="34101" y="124510"/>
                  <a:pt x="36138" y="123479"/>
                </a:cubicBezTo>
                <a:lnTo>
                  <a:pt x="72453" y="105020"/>
                </a:lnTo>
                <a:lnTo>
                  <a:pt x="108742" y="123479"/>
                </a:lnTo>
                <a:cubicBezTo>
                  <a:pt x="110754" y="124510"/>
                  <a:pt x="113193" y="124309"/>
                  <a:pt x="115029" y="122976"/>
                </a:cubicBezTo>
                <a:cubicBezTo>
                  <a:pt x="116865" y="121643"/>
                  <a:pt x="117796" y="119405"/>
                  <a:pt x="117444" y="117142"/>
                </a:cubicBezTo>
                <a:lnTo>
                  <a:pt x="111081" y="76929"/>
                </a:lnTo>
                <a:lnTo>
                  <a:pt x="139851" y="48134"/>
                </a:lnTo>
                <a:cubicBezTo>
                  <a:pt x="141460" y="46525"/>
                  <a:pt x="142014" y="44161"/>
                  <a:pt x="141310" y="41998"/>
                </a:cubicBezTo>
                <a:cubicBezTo>
                  <a:pt x="140605" y="39835"/>
                  <a:pt x="138770" y="38251"/>
                  <a:pt x="136506" y="37899"/>
                </a:cubicBezTo>
                <a:lnTo>
                  <a:pt x="96319" y="31511"/>
                </a:lnTo>
                <a:lnTo>
                  <a:pt x="77835" y="-475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708182" y="4055952"/>
            <a:ext cx="1754360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High-quality, diverse datasets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0899" y="4345663"/>
            <a:ext cx="144855" cy="128760"/>
          </a:xfrm>
          <a:custGeom>
            <a:avLst/>
            <a:gdLst/>
            <a:ahLst/>
            <a:cxnLst/>
            <a:rect l="l" t="t" r="r" b="b"/>
            <a:pathLst>
              <a:path w="144855" h="128760">
                <a:moveTo>
                  <a:pt x="77835" y="-4753"/>
                </a:moveTo>
                <a:cubicBezTo>
                  <a:pt x="76804" y="-6765"/>
                  <a:pt x="74716" y="-8048"/>
                  <a:pt x="72453" y="-8048"/>
                </a:cubicBezTo>
                <a:cubicBezTo>
                  <a:pt x="70190" y="-8048"/>
                  <a:pt x="68102" y="-6765"/>
                  <a:pt x="67071" y="-4753"/>
                </a:cubicBezTo>
                <a:lnTo>
                  <a:pt x="48562" y="31511"/>
                </a:lnTo>
                <a:lnTo>
                  <a:pt x="8349" y="37899"/>
                </a:lnTo>
                <a:cubicBezTo>
                  <a:pt x="6111" y="38251"/>
                  <a:pt x="4250" y="39835"/>
                  <a:pt x="3546" y="41998"/>
                </a:cubicBezTo>
                <a:cubicBezTo>
                  <a:pt x="2842" y="44161"/>
                  <a:pt x="3420" y="46525"/>
                  <a:pt x="5005" y="48134"/>
                </a:cubicBezTo>
                <a:lnTo>
                  <a:pt x="33774" y="76929"/>
                </a:lnTo>
                <a:lnTo>
                  <a:pt x="27437" y="117142"/>
                </a:lnTo>
                <a:cubicBezTo>
                  <a:pt x="27085" y="119380"/>
                  <a:pt x="28015" y="121643"/>
                  <a:pt x="29851" y="122976"/>
                </a:cubicBezTo>
                <a:cubicBezTo>
                  <a:pt x="31687" y="124309"/>
                  <a:pt x="34101" y="124510"/>
                  <a:pt x="36138" y="123479"/>
                </a:cubicBezTo>
                <a:lnTo>
                  <a:pt x="72453" y="105020"/>
                </a:lnTo>
                <a:lnTo>
                  <a:pt x="108742" y="123479"/>
                </a:lnTo>
                <a:cubicBezTo>
                  <a:pt x="110754" y="124510"/>
                  <a:pt x="113193" y="124309"/>
                  <a:pt x="115029" y="122976"/>
                </a:cubicBezTo>
                <a:cubicBezTo>
                  <a:pt x="116865" y="121643"/>
                  <a:pt x="117796" y="119405"/>
                  <a:pt x="117444" y="117142"/>
                </a:cubicBezTo>
                <a:lnTo>
                  <a:pt x="111081" y="76929"/>
                </a:lnTo>
                <a:lnTo>
                  <a:pt x="139851" y="48134"/>
                </a:lnTo>
                <a:cubicBezTo>
                  <a:pt x="141460" y="46525"/>
                  <a:pt x="142014" y="44161"/>
                  <a:pt x="141310" y="41998"/>
                </a:cubicBezTo>
                <a:cubicBezTo>
                  <a:pt x="140605" y="39835"/>
                  <a:pt x="138770" y="38251"/>
                  <a:pt x="136506" y="37899"/>
                </a:cubicBezTo>
                <a:lnTo>
                  <a:pt x="96319" y="31511"/>
                </a:lnTo>
                <a:lnTo>
                  <a:pt x="77835" y="-475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708182" y="4313473"/>
            <a:ext cx="226135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embeddings (transformers)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0899" y="4603184"/>
            <a:ext cx="144855" cy="128760"/>
          </a:xfrm>
          <a:custGeom>
            <a:avLst/>
            <a:gdLst/>
            <a:ahLst/>
            <a:cxnLst/>
            <a:rect l="l" t="t" r="r" b="b"/>
            <a:pathLst>
              <a:path w="144855" h="128760">
                <a:moveTo>
                  <a:pt x="77835" y="-4753"/>
                </a:moveTo>
                <a:cubicBezTo>
                  <a:pt x="76804" y="-6765"/>
                  <a:pt x="74716" y="-8048"/>
                  <a:pt x="72453" y="-8048"/>
                </a:cubicBezTo>
                <a:cubicBezTo>
                  <a:pt x="70190" y="-8048"/>
                  <a:pt x="68102" y="-6765"/>
                  <a:pt x="67071" y="-4753"/>
                </a:cubicBezTo>
                <a:lnTo>
                  <a:pt x="48562" y="31511"/>
                </a:lnTo>
                <a:lnTo>
                  <a:pt x="8349" y="37899"/>
                </a:lnTo>
                <a:cubicBezTo>
                  <a:pt x="6111" y="38251"/>
                  <a:pt x="4250" y="39835"/>
                  <a:pt x="3546" y="41998"/>
                </a:cubicBezTo>
                <a:cubicBezTo>
                  <a:pt x="2842" y="44161"/>
                  <a:pt x="3420" y="46525"/>
                  <a:pt x="5005" y="48134"/>
                </a:cubicBezTo>
                <a:lnTo>
                  <a:pt x="33774" y="76929"/>
                </a:lnTo>
                <a:lnTo>
                  <a:pt x="27437" y="117142"/>
                </a:lnTo>
                <a:cubicBezTo>
                  <a:pt x="27085" y="119380"/>
                  <a:pt x="28015" y="121643"/>
                  <a:pt x="29851" y="122976"/>
                </a:cubicBezTo>
                <a:cubicBezTo>
                  <a:pt x="31687" y="124309"/>
                  <a:pt x="34101" y="124510"/>
                  <a:pt x="36138" y="123479"/>
                </a:cubicBezTo>
                <a:lnTo>
                  <a:pt x="72453" y="105020"/>
                </a:lnTo>
                <a:lnTo>
                  <a:pt x="108742" y="123479"/>
                </a:lnTo>
                <a:cubicBezTo>
                  <a:pt x="110754" y="124510"/>
                  <a:pt x="113193" y="124309"/>
                  <a:pt x="115029" y="122976"/>
                </a:cubicBezTo>
                <a:cubicBezTo>
                  <a:pt x="116865" y="121643"/>
                  <a:pt x="117796" y="119405"/>
                  <a:pt x="117444" y="117142"/>
                </a:cubicBezTo>
                <a:lnTo>
                  <a:pt x="111081" y="76929"/>
                </a:lnTo>
                <a:lnTo>
                  <a:pt x="139851" y="48134"/>
                </a:lnTo>
                <a:cubicBezTo>
                  <a:pt x="141460" y="46525"/>
                  <a:pt x="142014" y="44161"/>
                  <a:pt x="141310" y="41998"/>
                </a:cubicBezTo>
                <a:cubicBezTo>
                  <a:pt x="140605" y="39835"/>
                  <a:pt x="138770" y="38251"/>
                  <a:pt x="136506" y="37899"/>
                </a:cubicBezTo>
                <a:lnTo>
                  <a:pt x="96319" y="31511"/>
                </a:lnTo>
                <a:lnTo>
                  <a:pt x="77835" y="-475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0" name="Text 28"/>
          <p:cNvSpPr/>
          <p:nvPr/>
        </p:nvSpPr>
        <p:spPr>
          <a:xfrm>
            <a:off x="708182" y="4570994"/>
            <a:ext cx="166583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pre-training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0899" y="4860705"/>
            <a:ext cx="144855" cy="128760"/>
          </a:xfrm>
          <a:custGeom>
            <a:avLst/>
            <a:gdLst/>
            <a:ahLst/>
            <a:cxnLst/>
            <a:rect l="l" t="t" r="r" b="b"/>
            <a:pathLst>
              <a:path w="144855" h="128760">
                <a:moveTo>
                  <a:pt x="77835" y="-4753"/>
                </a:moveTo>
                <a:cubicBezTo>
                  <a:pt x="76804" y="-6765"/>
                  <a:pt x="74716" y="-8048"/>
                  <a:pt x="72453" y="-8048"/>
                </a:cubicBezTo>
                <a:cubicBezTo>
                  <a:pt x="70190" y="-8048"/>
                  <a:pt x="68102" y="-6765"/>
                  <a:pt x="67071" y="-4753"/>
                </a:cubicBezTo>
                <a:lnTo>
                  <a:pt x="48562" y="31511"/>
                </a:lnTo>
                <a:lnTo>
                  <a:pt x="8349" y="37899"/>
                </a:lnTo>
                <a:cubicBezTo>
                  <a:pt x="6111" y="38251"/>
                  <a:pt x="4250" y="39835"/>
                  <a:pt x="3546" y="41998"/>
                </a:cubicBezTo>
                <a:cubicBezTo>
                  <a:pt x="2842" y="44161"/>
                  <a:pt x="3420" y="46525"/>
                  <a:pt x="5005" y="48134"/>
                </a:cubicBezTo>
                <a:lnTo>
                  <a:pt x="33774" y="76929"/>
                </a:lnTo>
                <a:lnTo>
                  <a:pt x="27437" y="117142"/>
                </a:lnTo>
                <a:cubicBezTo>
                  <a:pt x="27085" y="119380"/>
                  <a:pt x="28015" y="121643"/>
                  <a:pt x="29851" y="122976"/>
                </a:cubicBezTo>
                <a:cubicBezTo>
                  <a:pt x="31687" y="124309"/>
                  <a:pt x="34101" y="124510"/>
                  <a:pt x="36138" y="123479"/>
                </a:cubicBezTo>
                <a:lnTo>
                  <a:pt x="72453" y="105020"/>
                </a:lnTo>
                <a:lnTo>
                  <a:pt x="108742" y="123479"/>
                </a:lnTo>
                <a:cubicBezTo>
                  <a:pt x="110754" y="124510"/>
                  <a:pt x="113193" y="124309"/>
                  <a:pt x="115029" y="122976"/>
                </a:cubicBezTo>
                <a:cubicBezTo>
                  <a:pt x="116865" y="121643"/>
                  <a:pt x="117796" y="119405"/>
                  <a:pt x="117444" y="117142"/>
                </a:cubicBezTo>
                <a:lnTo>
                  <a:pt x="111081" y="76929"/>
                </a:lnTo>
                <a:lnTo>
                  <a:pt x="139851" y="48134"/>
                </a:lnTo>
                <a:cubicBezTo>
                  <a:pt x="141460" y="46525"/>
                  <a:pt x="142014" y="44161"/>
                  <a:pt x="141310" y="41998"/>
                </a:cubicBezTo>
                <a:cubicBezTo>
                  <a:pt x="140605" y="39835"/>
                  <a:pt x="138770" y="38251"/>
                  <a:pt x="136506" y="37899"/>
                </a:cubicBezTo>
                <a:lnTo>
                  <a:pt x="96319" y="31511"/>
                </a:lnTo>
                <a:lnTo>
                  <a:pt x="77835" y="-475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Text 30"/>
          <p:cNvSpPr/>
          <p:nvPr/>
        </p:nvSpPr>
        <p:spPr>
          <a:xfrm>
            <a:off x="708182" y="4828515"/>
            <a:ext cx="184288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and transparency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162" y="1062273"/>
            <a:ext cx="5673505" cy="3283390"/>
          </a:xfrm>
          <a:custGeom>
            <a:avLst/>
            <a:gdLst/>
            <a:ahLst/>
            <a:cxnLst/>
            <a:rect l="l" t="t" r="r" b="b"/>
            <a:pathLst>
              <a:path w="5673505" h="3283390">
                <a:moveTo>
                  <a:pt x="32190" y="0"/>
                </a:moveTo>
                <a:lnTo>
                  <a:pt x="5609118" y="0"/>
                </a:lnTo>
                <a:cubicBezTo>
                  <a:pt x="5644678" y="0"/>
                  <a:pt x="5673505" y="28827"/>
                  <a:pt x="5673505" y="64387"/>
                </a:cubicBezTo>
                <a:lnTo>
                  <a:pt x="5673505" y="3219003"/>
                </a:lnTo>
                <a:cubicBezTo>
                  <a:pt x="5673505" y="3254563"/>
                  <a:pt x="5644678" y="3283390"/>
                  <a:pt x="5609118" y="3283390"/>
                </a:cubicBezTo>
                <a:lnTo>
                  <a:pt x="32190" y="3283390"/>
                </a:lnTo>
                <a:cubicBezTo>
                  <a:pt x="14412" y="3283390"/>
                  <a:pt x="0" y="3268978"/>
                  <a:pt x="0" y="325120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91162" y="1062273"/>
            <a:ext cx="32190" cy="3283390"/>
          </a:xfrm>
          <a:custGeom>
            <a:avLst/>
            <a:gdLst/>
            <a:ahLst/>
            <a:cxnLst/>
            <a:rect l="l" t="t" r="r" b="b"/>
            <a:pathLst>
              <a:path w="32190" h="3283390">
                <a:moveTo>
                  <a:pt x="32190" y="0"/>
                </a:moveTo>
                <a:lnTo>
                  <a:pt x="32190" y="0"/>
                </a:lnTo>
                <a:lnTo>
                  <a:pt x="32190" y="3283390"/>
                </a:lnTo>
                <a:lnTo>
                  <a:pt x="32190" y="3283390"/>
                </a:lnTo>
                <a:cubicBezTo>
                  <a:pt x="14412" y="3283390"/>
                  <a:pt x="0" y="3268978"/>
                  <a:pt x="0" y="325120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6368208" y="1223224"/>
            <a:ext cx="5415984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Persistent Challenges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8208" y="1577315"/>
            <a:ext cx="5335509" cy="579422"/>
          </a:xfrm>
          <a:custGeom>
            <a:avLst/>
            <a:gdLst/>
            <a:ahLst/>
            <a:cxnLst/>
            <a:rect l="l" t="t" r="r" b="b"/>
            <a:pathLst>
              <a:path w="5335509" h="579422">
                <a:moveTo>
                  <a:pt x="32193" y="0"/>
                </a:moveTo>
                <a:lnTo>
                  <a:pt x="5303316" y="0"/>
                </a:lnTo>
                <a:cubicBezTo>
                  <a:pt x="5321096" y="0"/>
                  <a:pt x="5335509" y="14413"/>
                  <a:pt x="5335509" y="32193"/>
                </a:cubicBezTo>
                <a:lnTo>
                  <a:pt x="5335509" y="547229"/>
                </a:lnTo>
                <a:cubicBezTo>
                  <a:pt x="5335509" y="565009"/>
                  <a:pt x="5321096" y="579422"/>
                  <a:pt x="5303316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64778" y="1673885"/>
            <a:ext cx="520674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Limitations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4778" y="1899216"/>
            <a:ext cx="519870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bias, class imbalance, annotation inconsistency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8208" y="2253307"/>
            <a:ext cx="5335509" cy="579422"/>
          </a:xfrm>
          <a:custGeom>
            <a:avLst/>
            <a:gdLst/>
            <a:ahLst/>
            <a:cxnLst/>
            <a:rect l="l" t="t" r="r" b="b"/>
            <a:pathLst>
              <a:path w="5335509" h="579422">
                <a:moveTo>
                  <a:pt x="32193" y="0"/>
                </a:moveTo>
                <a:lnTo>
                  <a:pt x="5303316" y="0"/>
                </a:lnTo>
                <a:cubicBezTo>
                  <a:pt x="5321096" y="0"/>
                  <a:pt x="5335509" y="14413"/>
                  <a:pt x="5335509" y="32193"/>
                </a:cubicBezTo>
                <a:lnTo>
                  <a:pt x="5335509" y="547229"/>
                </a:lnTo>
                <a:cubicBezTo>
                  <a:pt x="5335509" y="565009"/>
                  <a:pt x="5321096" y="579422"/>
                  <a:pt x="5303316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64778" y="2349877"/>
            <a:ext cx="520674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 Gap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64778" y="2575208"/>
            <a:ext cx="519870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Cross-domain, cross-platform performance drops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8208" y="2929299"/>
            <a:ext cx="5335509" cy="579422"/>
          </a:xfrm>
          <a:custGeom>
            <a:avLst/>
            <a:gdLst/>
            <a:ahLst/>
            <a:cxnLst/>
            <a:rect l="l" t="t" r="r" b="b"/>
            <a:pathLst>
              <a:path w="5335509" h="579422">
                <a:moveTo>
                  <a:pt x="32193" y="0"/>
                </a:moveTo>
                <a:lnTo>
                  <a:pt x="5303316" y="0"/>
                </a:lnTo>
                <a:cubicBezTo>
                  <a:pt x="5321096" y="0"/>
                  <a:pt x="5335509" y="14413"/>
                  <a:pt x="5335509" y="32193"/>
                </a:cubicBezTo>
                <a:lnTo>
                  <a:pt x="5335509" y="547229"/>
                </a:lnTo>
                <a:cubicBezTo>
                  <a:pt x="5335509" y="565009"/>
                  <a:pt x="5321096" y="579422"/>
                  <a:pt x="5303316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64778" y="3025869"/>
            <a:ext cx="520674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4778" y="3251200"/>
            <a:ext cx="519870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Black-box models limit healthcare adoption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8208" y="3605291"/>
            <a:ext cx="5335509" cy="579422"/>
          </a:xfrm>
          <a:custGeom>
            <a:avLst/>
            <a:gdLst/>
            <a:ahLst/>
            <a:cxnLst/>
            <a:rect l="l" t="t" r="r" b="b"/>
            <a:pathLst>
              <a:path w="5335509" h="579422">
                <a:moveTo>
                  <a:pt x="32193" y="0"/>
                </a:moveTo>
                <a:lnTo>
                  <a:pt x="5303316" y="0"/>
                </a:lnTo>
                <a:cubicBezTo>
                  <a:pt x="5321096" y="0"/>
                  <a:pt x="5335509" y="14413"/>
                  <a:pt x="5335509" y="32193"/>
                </a:cubicBezTo>
                <a:lnTo>
                  <a:pt x="5335509" y="547229"/>
                </a:lnTo>
                <a:cubicBezTo>
                  <a:pt x="5335509" y="565009"/>
                  <a:pt x="5321096" y="579422"/>
                  <a:pt x="5303316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64778" y="3701861"/>
            <a:ext cx="520674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Threats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4778" y="3927192"/>
            <a:ext cx="5198701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misinformation, coordinated campaigns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8286" y="4477643"/>
            <a:ext cx="5687990" cy="1068711"/>
          </a:xfrm>
          <a:custGeom>
            <a:avLst/>
            <a:gdLst/>
            <a:ahLst/>
            <a:cxnLst/>
            <a:rect l="l" t="t" r="r" b="b"/>
            <a:pathLst>
              <a:path w="5687990" h="1068711">
                <a:moveTo>
                  <a:pt x="64379" y="0"/>
                </a:moveTo>
                <a:lnTo>
                  <a:pt x="5623611" y="0"/>
                </a:lnTo>
                <a:cubicBezTo>
                  <a:pt x="5659167" y="0"/>
                  <a:pt x="5687990" y="28824"/>
                  <a:pt x="5687990" y="64379"/>
                </a:cubicBezTo>
                <a:lnTo>
                  <a:pt x="5687990" y="1004332"/>
                </a:lnTo>
                <a:cubicBezTo>
                  <a:pt x="5687990" y="1039888"/>
                  <a:pt x="5659167" y="1068711"/>
                  <a:pt x="5623611" y="1068711"/>
                </a:cubicBezTo>
                <a:lnTo>
                  <a:pt x="64379" y="1068711"/>
                </a:lnTo>
                <a:cubicBezTo>
                  <a:pt x="28824" y="1068711"/>
                  <a:pt x="0" y="1039888"/>
                  <a:pt x="0" y="1004332"/>
                </a:cubicBezTo>
                <a:lnTo>
                  <a:pt x="0" y="64379"/>
                </a:lnTo>
                <a:cubicBezTo>
                  <a:pt x="0" y="28847"/>
                  <a:pt x="28847" y="0"/>
                  <a:pt x="6437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016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2455" y="4641819"/>
            <a:ext cx="543207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Potential Impact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42455" y="4963720"/>
            <a:ext cx="5424032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NLP-based detection can </a:t>
            </a:r>
            <a:pPr>
              <a:lnSpc>
                <a:spcPct val="140000"/>
              </a:lnSpc>
            </a:pPr>
            <a:r>
              <a:rPr lang="en-US" sz="1014" dirty="0">
                <a:solidFill>
                  <a:srgbClr val="E0E0E0"/>
                </a:solidFill>
                <a:highlight>
                  <a:srgbClr val="C0A06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public health, reduce vaccine hesitancy, prevent harmful treatments, </a:t>
            </a:r>
            <a:pPr>
              <a:lnSpc>
                <a:spcPct val="14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restore trust in medical information.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37996" y="5678330"/>
            <a:ext cx="11532103" cy="450661"/>
          </a:xfrm>
          <a:custGeom>
            <a:avLst/>
            <a:gdLst/>
            <a:ahLst/>
            <a:cxnLst/>
            <a:rect l="l" t="t" r="r" b="b"/>
            <a:pathLst>
              <a:path w="11532103" h="450661">
                <a:moveTo>
                  <a:pt x="32190" y="0"/>
                </a:moveTo>
                <a:lnTo>
                  <a:pt x="11467721" y="0"/>
                </a:lnTo>
                <a:cubicBezTo>
                  <a:pt x="11503278" y="0"/>
                  <a:pt x="11532103" y="28825"/>
                  <a:pt x="11532103" y="64381"/>
                </a:cubicBezTo>
                <a:lnTo>
                  <a:pt x="11532103" y="386280"/>
                </a:lnTo>
                <a:cubicBezTo>
                  <a:pt x="11532103" y="421837"/>
                  <a:pt x="11503278" y="450661"/>
                  <a:pt x="11467721" y="450661"/>
                </a:cubicBezTo>
                <a:lnTo>
                  <a:pt x="32190" y="450661"/>
                </a:lnTo>
                <a:cubicBezTo>
                  <a:pt x="14412" y="450661"/>
                  <a:pt x="0" y="436249"/>
                  <a:pt x="0" y="41847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37996" y="5678330"/>
            <a:ext cx="32190" cy="450661"/>
          </a:xfrm>
          <a:custGeom>
            <a:avLst/>
            <a:gdLst/>
            <a:ahLst/>
            <a:cxnLst/>
            <a:rect l="l" t="t" r="r" b="b"/>
            <a:pathLst>
              <a:path w="32190" h="450661">
                <a:moveTo>
                  <a:pt x="32190" y="0"/>
                </a:moveTo>
                <a:lnTo>
                  <a:pt x="32190" y="0"/>
                </a:lnTo>
                <a:lnTo>
                  <a:pt x="32190" y="450661"/>
                </a:lnTo>
                <a:lnTo>
                  <a:pt x="32190" y="450661"/>
                </a:lnTo>
                <a:cubicBezTo>
                  <a:pt x="14412" y="450661"/>
                  <a:pt x="0" y="436249"/>
                  <a:pt x="0" y="41847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Shape 51"/>
          <p:cNvSpPr/>
          <p:nvPr/>
        </p:nvSpPr>
        <p:spPr>
          <a:xfrm>
            <a:off x="506994" y="5839281"/>
            <a:ext cx="112665" cy="128760"/>
          </a:xfrm>
          <a:custGeom>
            <a:avLst/>
            <a:gdLst/>
            <a:ahLst/>
            <a:cxnLst/>
            <a:rect l="l" t="t" r="r" b="b"/>
            <a:pathLst>
              <a:path w="112665" h="128760">
                <a:moveTo>
                  <a:pt x="0" y="54321"/>
                </a:moveTo>
                <a:cubicBezTo>
                  <a:pt x="0" y="37647"/>
                  <a:pt x="13505" y="24143"/>
                  <a:pt x="30178" y="24143"/>
                </a:cubicBezTo>
                <a:lnTo>
                  <a:pt x="32190" y="24143"/>
                </a:lnTo>
                <a:cubicBezTo>
                  <a:pt x="36641" y="24143"/>
                  <a:pt x="40238" y="27739"/>
                  <a:pt x="40238" y="32190"/>
                </a:cubicBezTo>
                <a:cubicBezTo>
                  <a:pt x="40238" y="36641"/>
                  <a:pt x="36641" y="40238"/>
                  <a:pt x="32190" y="40238"/>
                </a:cubicBezTo>
                <a:lnTo>
                  <a:pt x="30178" y="40238"/>
                </a:lnTo>
                <a:cubicBezTo>
                  <a:pt x="22407" y="40238"/>
                  <a:pt x="16095" y="46550"/>
                  <a:pt x="16095" y="54321"/>
                </a:cubicBezTo>
                <a:lnTo>
                  <a:pt x="16095" y="56333"/>
                </a:lnTo>
                <a:lnTo>
                  <a:pt x="32190" y="56333"/>
                </a:lnTo>
                <a:cubicBezTo>
                  <a:pt x="41068" y="56333"/>
                  <a:pt x="48285" y="63550"/>
                  <a:pt x="48285" y="72428"/>
                </a:cubicBezTo>
                <a:lnTo>
                  <a:pt x="48285" y="88523"/>
                </a:lnTo>
                <a:cubicBezTo>
                  <a:pt x="48285" y="97400"/>
                  <a:pt x="41068" y="104618"/>
                  <a:pt x="32190" y="104618"/>
                </a:cubicBezTo>
                <a:lnTo>
                  <a:pt x="16095" y="104618"/>
                </a:lnTo>
                <a:cubicBezTo>
                  <a:pt x="7218" y="104618"/>
                  <a:pt x="0" y="97400"/>
                  <a:pt x="0" y="88523"/>
                </a:cubicBezTo>
                <a:lnTo>
                  <a:pt x="0" y="54321"/>
                </a:lnTo>
                <a:close/>
                <a:moveTo>
                  <a:pt x="64380" y="54321"/>
                </a:moveTo>
                <a:cubicBezTo>
                  <a:pt x="64380" y="37647"/>
                  <a:pt x="77885" y="24143"/>
                  <a:pt x="94558" y="24143"/>
                </a:cubicBezTo>
                <a:lnTo>
                  <a:pt x="96570" y="24143"/>
                </a:lnTo>
                <a:cubicBezTo>
                  <a:pt x="101022" y="24143"/>
                  <a:pt x="104618" y="27739"/>
                  <a:pt x="104618" y="32190"/>
                </a:cubicBezTo>
                <a:cubicBezTo>
                  <a:pt x="104618" y="36641"/>
                  <a:pt x="101022" y="40238"/>
                  <a:pt x="96570" y="40238"/>
                </a:cubicBezTo>
                <a:lnTo>
                  <a:pt x="94558" y="40238"/>
                </a:lnTo>
                <a:cubicBezTo>
                  <a:pt x="86788" y="40238"/>
                  <a:pt x="80475" y="46550"/>
                  <a:pt x="80475" y="54321"/>
                </a:cubicBezTo>
                <a:lnTo>
                  <a:pt x="80475" y="56333"/>
                </a:lnTo>
                <a:lnTo>
                  <a:pt x="96570" y="56333"/>
                </a:lnTo>
                <a:cubicBezTo>
                  <a:pt x="105448" y="56333"/>
                  <a:pt x="112665" y="63550"/>
                  <a:pt x="112665" y="72428"/>
                </a:cubicBezTo>
                <a:lnTo>
                  <a:pt x="112665" y="88523"/>
                </a:lnTo>
                <a:cubicBezTo>
                  <a:pt x="112665" y="97400"/>
                  <a:pt x="105448" y="104618"/>
                  <a:pt x="96570" y="104618"/>
                </a:cubicBezTo>
                <a:lnTo>
                  <a:pt x="80475" y="104618"/>
                </a:lnTo>
                <a:cubicBezTo>
                  <a:pt x="71598" y="104618"/>
                  <a:pt x="64380" y="97400"/>
                  <a:pt x="64380" y="88523"/>
                </a:cubicBezTo>
                <a:lnTo>
                  <a:pt x="64380" y="54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4" name="Text 52"/>
          <p:cNvSpPr/>
          <p:nvPr/>
        </p:nvSpPr>
        <p:spPr>
          <a:xfrm>
            <a:off x="743994" y="5832852"/>
            <a:ext cx="9603212" cy="14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8D99A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"Future research should focus on robust, interpretable, and cross-domain NLP systems supported by interdisciplinary collaboration between AI researchers and public health experts."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282826" y="5845725"/>
            <a:ext cx="1045977" cy="12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Feng et al.,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50000">
                <a:srgbClr val="1A1D21"/>
              </a:gs>
              <a:gs pos="100000">
                <a:srgbClr val="C0A062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638681" y="1181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67281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" name="Text 3"/>
          <p:cNvSpPr/>
          <p:nvPr/>
        </p:nvSpPr>
        <p:spPr>
          <a:xfrm>
            <a:off x="4492466" y="2324100"/>
            <a:ext cx="3209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8191" y="3048000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04247" y="3657488"/>
            <a:ext cx="1571625" cy="1066800"/>
          </a:xfrm>
          <a:custGeom>
            <a:avLst/>
            <a:gdLst/>
            <a:ahLst/>
            <a:cxnLst/>
            <a:rect l="l" t="t" r="r" b="b"/>
            <a:pathLst>
              <a:path w="1571625" h="1066800">
                <a:moveTo>
                  <a:pt x="76202" y="0"/>
                </a:moveTo>
                <a:lnTo>
                  <a:pt x="1495423" y="0"/>
                </a:lnTo>
                <a:cubicBezTo>
                  <a:pt x="1537508" y="0"/>
                  <a:pt x="1571625" y="34117"/>
                  <a:pt x="1571625" y="76202"/>
                </a:cubicBezTo>
                <a:lnTo>
                  <a:pt x="1571625" y="990598"/>
                </a:lnTo>
                <a:cubicBezTo>
                  <a:pt x="1571625" y="1032683"/>
                  <a:pt x="1537508" y="1066800"/>
                  <a:pt x="149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09022" y="3847988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6647" y="4305188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Papers Reviewed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8282" y="3657488"/>
            <a:ext cx="1571625" cy="1066800"/>
          </a:xfrm>
          <a:custGeom>
            <a:avLst/>
            <a:gdLst/>
            <a:ahLst/>
            <a:cxnLst/>
            <a:rect l="l" t="t" r="r" b="b"/>
            <a:pathLst>
              <a:path w="1571625" h="1066800">
                <a:moveTo>
                  <a:pt x="76202" y="0"/>
                </a:moveTo>
                <a:lnTo>
                  <a:pt x="1495423" y="0"/>
                </a:lnTo>
                <a:cubicBezTo>
                  <a:pt x="1537508" y="0"/>
                  <a:pt x="1571625" y="34117"/>
                  <a:pt x="1571625" y="76202"/>
                </a:cubicBezTo>
                <a:lnTo>
                  <a:pt x="1571625" y="990598"/>
                </a:lnTo>
                <a:cubicBezTo>
                  <a:pt x="1571625" y="1032683"/>
                  <a:pt x="1537508" y="1066800"/>
                  <a:pt x="149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13057" y="3847988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0682" y="4305188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Coverage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318" y="3657488"/>
            <a:ext cx="1571625" cy="1066800"/>
          </a:xfrm>
          <a:custGeom>
            <a:avLst/>
            <a:gdLst/>
            <a:ahLst/>
            <a:cxnLst/>
            <a:rect l="l" t="t" r="r" b="b"/>
            <a:pathLst>
              <a:path w="1571625" h="1066800">
                <a:moveTo>
                  <a:pt x="76202" y="0"/>
                </a:moveTo>
                <a:lnTo>
                  <a:pt x="1495423" y="0"/>
                </a:lnTo>
                <a:cubicBezTo>
                  <a:pt x="1537508" y="0"/>
                  <a:pt x="1571625" y="34117"/>
                  <a:pt x="1571625" y="76202"/>
                </a:cubicBezTo>
                <a:lnTo>
                  <a:pt x="1571625" y="990598"/>
                </a:lnTo>
                <a:cubicBezTo>
                  <a:pt x="1571625" y="1032683"/>
                  <a:pt x="1537508" y="1066800"/>
                  <a:pt x="14954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217093" y="3847988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0A0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4718" y="4305188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Categories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85260" y="5105288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of Health-Related Misinformation Using NLP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90022" y="5448188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Literature Review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Health-Related Misinformation Using NLP</dc:title>
  <dc:subject>Detection of Health-Related Misinformation Using NLP</dc:subject>
  <dc:creator>Kimi</dc:creator>
  <cp:lastModifiedBy>Kimi</cp:lastModifiedBy>
  <cp:revision>1</cp:revision>
  <dcterms:created xsi:type="dcterms:W3CDTF">2026-02-13T14:32:27Z</dcterms:created>
  <dcterms:modified xsi:type="dcterms:W3CDTF">2026-02-13T14:32:27Z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{"Label":"Detection of Health-Related Misinformation Using NLP","ContentProducer":"001191110108MACG2KBH8F10000","ProduceID":"19c5761a-66c2-8e66-8000-0000550c54a3","ReservedCode1":"","ContentPropagator":"001191110108MACG2KBH8F20000","PropagateID":"19c5761a-66c2-8e66-8000-0000550c54a3","ReservedCode2":""}</vt:lpwstr>
  </property>
</Properties>
</file>
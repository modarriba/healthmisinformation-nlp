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5" r:id="rId9"/>
    <p:sldId id="266" r:id="rId10"/>
    <p:sldId id="267" r:id="rId11"/>
    <p:sldId id="270" r:id="rId12"/>
    <p:sldId id="268" r:id="rId13"/>
    <p:sldId id="269" r:id="rId14"/>
    <p:sldId id="271" r:id="rId15"/>
    <p:sldId id="273" r:id="rId16"/>
    <p:sldId id="274" r:id="rId17"/>
    <p:sldId id="272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2C"/>
    <a:srgbClr val="909093"/>
    <a:srgbClr val="52525C"/>
    <a:srgbClr val="EDECE8"/>
    <a:srgbClr val="D46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3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All Wrong</c:v>
                </c:pt>
                <c:pt idx="1">
                  <c:v>PubMed Only</c:v>
                </c:pt>
                <c:pt idx="2">
                  <c:v>BioBERT Only</c:v>
                </c:pt>
                <c:pt idx="3">
                  <c:v>TF-IDF Only</c:v>
                </c:pt>
                <c:pt idx="4">
                  <c:v>TF-IDF+PubMed</c:v>
                </c:pt>
                <c:pt idx="5">
                  <c:v>TF-IDF+BioBERT</c:v>
                </c:pt>
                <c:pt idx="6">
                  <c:v>Both Transforms</c:v>
                </c:pt>
                <c:pt idx="7">
                  <c:v>All Correct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11.09</c:v>
                </c:pt>
                <c:pt idx="1">
                  <c:v>3.87</c:v>
                </c:pt>
                <c:pt idx="2">
                  <c:v>4.33</c:v>
                </c:pt>
                <c:pt idx="3">
                  <c:v>5.32</c:v>
                </c:pt>
                <c:pt idx="4">
                  <c:v>4.0999999999999996</c:v>
                </c:pt>
                <c:pt idx="5">
                  <c:v>5.24</c:v>
                </c:pt>
                <c:pt idx="6">
                  <c:v>8.66</c:v>
                </c:pt>
                <c:pt idx="7">
                  <c:v>57.4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7B-4D21-8DAE-666AAB60C8C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0DDD-4306-4639-8F91-3AD4488D27B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DA38-3B96-4AC1-8E68-81E784A9434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7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88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678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619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29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17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69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302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10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4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8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40DDD-4306-4639-8F91-3AD4488D27B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EDA38-3B96-4AC1-8E68-81E784A94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8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4">
            <a:extLst>
              <a:ext uri="{FF2B5EF4-FFF2-40B4-BE49-F238E27FC236}">
                <a16:creationId xmlns:a16="http://schemas.microsoft.com/office/drawing/2014/main" id="{E40DA497-4B25-740C-D70D-D494EDEEBB40}"/>
              </a:ext>
            </a:extLst>
          </p:cNvPr>
          <p:cNvSpPr/>
          <p:nvPr/>
        </p:nvSpPr>
        <p:spPr>
          <a:xfrm>
            <a:off x="4438945" y="2935511"/>
            <a:ext cx="2232930" cy="154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Presented by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80000"/>
              </a:lnSpc>
            </a:pPr>
            <a:r>
              <a:rPr lang="en-US" sz="16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Modar Riba</a:t>
            </a:r>
            <a:r>
              <a:rPr lang="en-US" sz="1600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(244051026)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80000"/>
              </a:lnSpc>
            </a:pPr>
            <a:r>
              <a:rPr lang="en-US" sz="1600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MCA, 6th Semester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D372944-5B85-7AA8-6BE1-40BBC921B8E6}"/>
              </a:ext>
            </a:extLst>
          </p:cNvPr>
          <p:cNvSpPr/>
          <p:nvPr/>
        </p:nvSpPr>
        <p:spPr>
          <a:xfrm>
            <a:off x="-110832" y="194907"/>
            <a:ext cx="9099556" cy="188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DETECTION OF HEALTH-RELATED MISINFORMATION </a:t>
            </a:r>
          </a:p>
          <a:p>
            <a:pPr algn="ctr">
              <a:lnSpc>
                <a:spcPct val="130000"/>
              </a:lnSpc>
            </a:pPr>
            <a:r>
              <a:rPr lang="en-US" sz="28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USING NLP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FF759F7-530F-5AB4-FC70-ECF1019D1C15}"/>
              </a:ext>
            </a:extLst>
          </p:cNvPr>
          <p:cNvSpPr/>
          <p:nvPr/>
        </p:nvSpPr>
        <p:spPr>
          <a:xfrm flipV="1">
            <a:off x="3370796" y="1928061"/>
            <a:ext cx="2136299" cy="45719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587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4848EE9-A5E5-3E29-F80B-D1069AE0E9BF}"/>
              </a:ext>
            </a:extLst>
          </p:cNvPr>
          <p:cNvSpPr/>
          <p:nvPr/>
        </p:nvSpPr>
        <p:spPr>
          <a:xfrm>
            <a:off x="598010" y="139731"/>
            <a:ext cx="311137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kern="0" spc="300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CONTENTS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085E9D9-FEB6-B9A6-B255-75F0293031D4}"/>
              </a:ext>
            </a:extLst>
          </p:cNvPr>
          <p:cNvSpPr/>
          <p:nvPr/>
        </p:nvSpPr>
        <p:spPr>
          <a:xfrm flipV="1">
            <a:off x="701617" y="799193"/>
            <a:ext cx="2723072" cy="45719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DD43FBB-49EA-5D9F-B309-94654E042D1D}"/>
              </a:ext>
            </a:extLst>
          </p:cNvPr>
          <p:cNvSpPr/>
          <p:nvPr/>
        </p:nvSpPr>
        <p:spPr>
          <a:xfrm>
            <a:off x="573350" y="1187781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01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96CC168-E0B2-9662-2C2B-1B96F051A538}"/>
              </a:ext>
            </a:extLst>
          </p:cNvPr>
          <p:cNvSpPr/>
          <p:nvPr/>
        </p:nvSpPr>
        <p:spPr>
          <a:xfrm>
            <a:off x="1171477" y="1339683"/>
            <a:ext cx="302210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Introduction &amp; Background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DB2D62E-A482-79A1-78F1-82356587B689}"/>
              </a:ext>
            </a:extLst>
          </p:cNvPr>
          <p:cNvSpPr/>
          <p:nvPr/>
        </p:nvSpPr>
        <p:spPr>
          <a:xfrm>
            <a:off x="550170" y="4220495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03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29E0C8B-DFDB-DAD2-1A4F-40F91E4B4D8A}"/>
              </a:ext>
            </a:extLst>
          </p:cNvPr>
          <p:cNvSpPr/>
          <p:nvPr/>
        </p:nvSpPr>
        <p:spPr>
          <a:xfrm>
            <a:off x="4473853" y="1953334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04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0879D0D-B41C-BDAD-1C6A-82A682DFE712}"/>
              </a:ext>
            </a:extLst>
          </p:cNvPr>
          <p:cNvSpPr/>
          <p:nvPr/>
        </p:nvSpPr>
        <p:spPr>
          <a:xfrm>
            <a:off x="5163366" y="2060424"/>
            <a:ext cx="352628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Proposed Methodology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D884E89-9446-3712-1E8E-80AF33AC94A9}"/>
              </a:ext>
            </a:extLst>
          </p:cNvPr>
          <p:cNvSpPr/>
          <p:nvPr/>
        </p:nvSpPr>
        <p:spPr>
          <a:xfrm>
            <a:off x="4473853" y="3511595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05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9F95C77-6645-C102-D977-B0BFDCE72986}"/>
              </a:ext>
            </a:extLst>
          </p:cNvPr>
          <p:cNvSpPr/>
          <p:nvPr/>
        </p:nvSpPr>
        <p:spPr>
          <a:xfrm>
            <a:off x="5163366" y="3570694"/>
            <a:ext cx="336098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Results &amp;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8317E4BA-95F8-B75B-67AC-9B358930C927}"/>
              </a:ext>
            </a:extLst>
          </p:cNvPr>
          <p:cNvSpPr/>
          <p:nvPr/>
        </p:nvSpPr>
        <p:spPr>
          <a:xfrm>
            <a:off x="4572000" y="5119398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06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F327A75-88CA-CB9F-CCF0-200C580D1CD4}"/>
              </a:ext>
            </a:extLst>
          </p:cNvPr>
          <p:cNvSpPr/>
          <p:nvPr/>
        </p:nvSpPr>
        <p:spPr>
          <a:xfrm>
            <a:off x="5193108" y="5253328"/>
            <a:ext cx="310936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Conclusion &amp; Future 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C5405AAB-6A25-9F5C-6E32-37876D075EA8}"/>
              </a:ext>
            </a:extLst>
          </p:cNvPr>
          <p:cNvSpPr/>
          <p:nvPr/>
        </p:nvSpPr>
        <p:spPr>
          <a:xfrm>
            <a:off x="550170" y="2515129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02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72069E1-EFDC-A505-632A-D230EEFE1FD5}"/>
              </a:ext>
            </a:extLst>
          </p:cNvPr>
          <p:cNvSpPr/>
          <p:nvPr/>
        </p:nvSpPr>
        <p:spPr>
          <a:xfrm>
            <a:off x="1169387" y="2654556"/>
            <a:ext cx="207414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Literature Review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D5643E36-B592-1F37-7D08-E6B6AB6F19AB}"/>
              </a:ext>
            </a:extLst>
          </p:cNvPr>
          <p:cNvSpPr/>
          <p:nvPr/>
        </p:nvSpPr>
        <p:spPr>
          <a:xfrm>
            <a:off x="1169387" y="4340269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Research Gap &amp; Objectives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2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0523-2782-F122-120A-3239FFAFF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8D16F675-2003-1580-AC83-1C6CB3FB19E5}"/>
              </a:ext>
            </a:extLst>
          </p:cNvPr>
          <p:cNvSpPr/>
          <p:nvPr/>
        </p:nvSpPr>
        <p:spPr>
          <a:xfrm>
            <a:off x="572219" y="1104181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01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7E98FF82-462D-58B1-4C72-478BFEDD2E65}"/>
              </a:ext>
            </a:extLst>
          </p:cNvPr>
          <p:cNvSpPr/>
          <p:nvPr/>
        </p:nvSpPr>
        <p:spPr>
          <a:xfrm>
            <a:off x="572219" y="2437681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1713ECDC-59A6-ADD4-8EA8-141A90FE8FFF}"/>
              </a:ext>
            </a:extLst>
          </p:cNvPr>
          <p:cNvSpPr/>
          <p:nvPr/>
        </p:nvSpPr>
        <p:spPr>
          <a:xfrm>
            <a:off x="572219" y="2850431"/>
            <a:ext cx="84251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Understanding the health misinformation crisis and the need for automated detection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D5B71EC3-B36E-EEAA-3C18-2757EFA134A8}"/>
              </a:ext>
            </a:extLst>
          </p:cNvPr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16A2E1-6757-08EE-8BA0-6BFFF6BFDB98}"/>
              </a:ext>
            </a:extLst>
          </p:cNvPr>
          <p:cNvSpPr txBox="1"/>
          <p:nvPr/>
        </p:nvSpPr>
        <p:spPr>
          <a:xfrm>
            <a:off x="1964330" y="2237385"/>
            <a:ext cx="5215339" cy="68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Introduction &amp; Background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134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F379-3D2C-1066-E5AA-1D0DEA7A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6A0CEEFB-1FD8-E01B-77F0-A7745321B2E1}"/>
              </a:ext>
            </a:extLst>
          </p:cNvPr>
          <p:cNvSpPr/>
          <p:nvPr/>
        </p:nvSpPr>
        <p:spPr>
          <a:xfrm>
            <a:off x="1636267" y="-27598"/>
            <a:ext cx="1166368" cy="241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02 LITERATURE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AFAB926-BE91-F260-3DF1-D581A5E8384E}"/>
              </a:ext>
            </a:extLst>
          </p:cNvPr>
          <p:cNvSpPr/>
          <p:nvPr/>
        </p:nvSpPr>
        <p:spPr>
          <a:xfrm>
            <a:off x="2667000" y="-15494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03 RESEARCH GAP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462E6EF-17A8-3640-23C8-76B836789E87}"/>
              </a:ext>
            </a:extLst>
          </p:cNvPr>
          <p:cNvSpPr/>
          <p:nvPr/>
        </p:nvSpPr>
        <p:spPr>
          <a:xfrm>
            <a:off x="4381500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04 METHODOLOGY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EEE9DC0-884E-9D75-324E-519EEC6BBBFF}"/>
              </a:ext>
            </a:extLst>
          </p:cNvPr>
          <p:cNvSpPr/>
          <p:nvPr/>
        </p:nvSpPr>
        <p:spPr>
          <a:xfrm>
            <a:off x="5956299" y="-148203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05 RESULTS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689F599-6801-3B58-6730-E42FE69A4986}"/>
              </a:ext>
            </a:extLst>
          </p:cNvPr>
          <p:cNvSpPr/>
          <p:nvPr/>
        </p:nvSpPr>
        <p:spPr>
          <a:xfrm>
            <a:off x="7340598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06 CONCLUSION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DC95897-CDD5-372E-32B3-96FB5EA4F10B}"/>
              </a:ext>
            </a:extLst>
          </p:cNvPr>
          <p:cNvSpPr/>
          <p:nvPr/>
        </p:nvSpPr>
        <p:spPr>
          <a:xfrm>
            <a:off x="43405" y="170876"/>
            <a:ext cx="4909595" cy="515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Background &amp; Problem Statement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06695E28-BCE2-3307-C33E-2E006FFC0ED4}"/>
              </a:ext>
            </a:extLst>
          </p:cNvPr>
          <p:cNvSpPr/>
          <p:nvPr/>
        </p:nvSpPr>
        <p:spPr>
          <a:xfrm>
            <a:off x="1005840" y="688229"/>
            <a:ext cx="762000" cy="381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5569D5D-B1E5-6F75-21F7-CA0B96849EA9}"/>
              </a:ext>
            </a:extLst>
          </p:cNvPr>
          <p:cNvSpPr/>
          <p:nvPr/>
        </p:nvSpPr>
        <p:spPr>
          <a:xfrm>
            <a:off x="341355" y="1491813"/>
            <a:ext cx="3756192" cy="382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The WHO described an </a:t>
            </a:r>
            <a:r>
              <a:rPr lang="en-US" sz="1300" b="1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"infodemic"</a:t>
            </a: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during COVID-19  an overwhelming flood of accurate and inaccurate health information spreading rapidly online.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Health misinformation can cause: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Physical harm or death from harmful treatments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Increased vaccine hesitancy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Delayed required treatment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Excessive stress on healthcare systems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Decreased trust in healthcare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421F9A70-3E00-6308-A6D5-020C2C5FCA3E}"/>
              </a:ext>
            </a:extLst>
          </p:cNvPr>
          <p:cNvSpPr/>
          <p:nvPr/>
        </p:nvSpPr>
        <p:spPr>
          <a:xfrm>
            <a:off x="4220404" y="1248121"/>
            <a:ext cx="4833232" cy="4710362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1F4DBC65-FA52-7ACB-A9C2-2B50909A5B86}"/>
              </a:ext>
            </a:extLst>
          </p:cNvPr>
          <p:cNvSpPr/>
          <p:nvPr/>
        </p:nvSpPr>
        <p:spPr>
          <a:xfrm>
            <a:off x="4381500" y="1374130"/>
            <a:ext cx="4511039" cy="445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Key Challenges in Automated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1.</a:t>
            </a:r>
            <a:r>
              <a:rPr lang="en-US" sz="14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Domain Complexity</a:t>
            </a:r>
            <a:r>
              <a:rPr lang="en-US" sz="14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— </a:t>
            </a:r>
            <a:r>
              <a:rPr lang="en-US" sz="1400" dirty="0">
                <a:solidFill>
                  <a:srgbClr val="1E1E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claims require specialized knowledge that general NLP models often lack</a:t>
            </a:r>
            <a:r>
              <a:rPr lang="en-US" sz="14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1E1E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2.</a:t>
            </a:r>
            <a:r>
              <a:rPr lang="en-US" sz="14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/>
              <a:t>Lack of Quality Datasets</a:t>
            </a:r>
            <a:r>
              <a:rPr lang="en-US" sz="1400" dirty="0"/>
              <a:t> — Good medical datasets are rare and expensive to create.</a:t>
            </a: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3.</a:t>
            </a:r>
            <a:r>
              <a:rPr lang="en-US" sz="14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/>
              <a:t>Limited Testing Scope</a:t>
            </a:r>
            <a:r>
              <a:rPr lang="en-US" sz="1400" dirty="0"/>
              <a:t> — Models tested on one topic may not work well on other topics.</a:t>
            </a: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4.</a:t>
            </a:r>
            <a:r>
              <a:rPr lang="en-US" sz="14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/>
              <a:t>Inconsistent Evaluation Methods</a:t>
            </a:r>
            <a:r>
              <a:rPr lang="en-US" sz="1400" dirty="0"/>
              <a:t> — Different evaluation methods make model comparisons difficult.</a:t>
            </a: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5.</a:t>
            </a:r>
            <a:r>
              <a:rPr lang="en-US" sz="14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/>
              <a:t>Precision–Recall Tradeoffs</a:t>
            </a:r>
            <a:r>
              <a:rPr lang="en-US" sz="1400" dirty="0"/>
              <a:t> — Different situations need different balances between accuracy and false alarms.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8830653-5803-541F-92F2-8CA4156C5C0B}"/>
              </a:ext>
            </a:extLst>
          </p:cNvPr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CC1271E3-AF05-5D2E-AB95-6FEC549EB603}"/>
              </a:ext>
            </a:extLst>
          </p:cNvPr>
          <p:cNvSpPr/>
          <p:nvPr/>
        </p:nvSpPr>
        <p:spPr>
          <a:xfrm flipV="1">
            <a:off x="0" y="223520"/>
            <a:ext cx="1322832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15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6B9C-0AA2-C3D4-B0B2-A164FA335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DA2649BF-7A24-C5EB-42DA-F5F5CA0A4449}"/>
              </a:ext>
            </a:extLst>
          </p:cNvPr>
          <p:cNvSpPr/>
          <p:nvPr/>
        </p:nvSpPr>
        <p:spPr>
          <a:xfrm>
            <a:off x="572219" y="1104181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2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E29CB7D7-107A-DF54-2D87-683ADDB634DC}"/>
              </a:ext>
            </a:extLst>
          </p:cNvPr>
          <p:cNvSpPr/>
          <p:nvPr/>
        </p:nvSpPr>
        <p:spPr>
          <a:xfrm>
            <a:off x="572219" y="2437681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BE3B0B42-57D4-DAF9-157B-0D8ADF17D0AF}"/>
              </a:ext>
            </a:extLst>
          </p:cNvPr>
          <p:cNvSpPr/>
          <p:nvPr/>
        </p:nvSpPr>
        <p:spPr>
          <a:xfrm>
            <a:off x="572219" y="2850431"/>
            <a:ext cx="84251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of existing approaches to health misinformation detection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A7EB0977-B2FF-0704-6DD2-396B7553E02B}"/>
              </a:ext>
            </a:extLst>
          </p:cNvPr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endParaRPr lang="en-US" sz="3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CCB488-6A93-4075-2BA9-93D54E7BC95F}"/>
              </a:ext>
            </a:extLst>
          </p:cNvPr>
          <p:cNvSpPr txBox="1"/>
          <p:nvPr/>
        </p:nvSpPr>
        <p:spPr>
          <a:xfrm>
            <a:off x="1964330" y="2237385"/>
            <a:ext cx="5215339" cy="68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8818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19C8-3EC3-8D44-22ED-AAE4E275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B012ADCD-FE4F-DF31-5C14-52B86EA994FF}"/>
              </a:ext>
            </a:extLst>
          </p:cNvPr>
          <p:cNvSpPr/>
          <p:nvPr/>
        </p:nvSpPr>
        <p:spPr>
          <a:xfrm>
            <a:off x="2667000" y="-15494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55AD873-999A-A8DB-B36B-2D026D24DC77}"/>
              </a:ext>
            </a:extLst>
          </p:cNvPr>
          <p:cNvSpPr/>
          <p:nvPr/>
        </p:nvSpPr>
        <p:spPr>
          <a:xfrm>
            <a:off x="4381500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D179531-FB34-B1BC-5837-38BB85D8CF8F}"/>
              </a:ext>
            </a:extLst>
          </p:cNvPr>
          <p:cNvSpPr/>
          <p:nvPr/>
        </p:nvSpPr>
        <p:spPr>
          <a:xfrm>
            <a:off x="5956299" y="-148203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EB5867F-A659-06AC-BA84-3C6091AD6D8A}"/>
              </a:ext>
            </a:extLst>
          </p:cNvPr>
          <p:cNvSpPr/>
          <p:nvPr/>
        </p:nvSpPr>
        <p:spPr>
          <a:xfrm>
            <a:off x="7340598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E528239-EB0C-440D-94D9-D661226FA67A}"/>
              </a:ext>
            </a:extLst>
          </p:cNvPr>
          <p:cNvSpPr/>
          <p:nvPr/>
        </p:nvSpPr>
        <p:spPr>
          <a:xfrm>
            <a:off x="43405" y="123214"/>
            <a:ext cx="4909595" cy="515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Studies &amp; Approaches</a:t>
            </a:r>
            <a:endParaRPr lang="en-US" sz="28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6B828884-321F-0B74-41E5-E0B88D0916CD}"/>
              </a:ext>
            </a:extLst>
          </p:cNvPr>
          <p:cNvSpPr/>
          <p:nvPr/>
        </p:nvSpPr>
        <p:spPr>
          <a:xfrm>
            <a:off x="1028700" y="601612"/>
            <a:ext cx="762000" cy="381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864FEBC-D91A-88F2-449A-2A2B32C9C276}"/>
              </a:ext>
            </a:extLst>
          </p:cNvPr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3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CB190646-C09B-2A52-08BB-DB9D32547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88792"/>
              </p:ext>
            </p:extLst>
          </p:nvPr>
        </p:nvGraphicFramePr>
        <p:xfrm>
          <a:off x="421638" y="1340898"/>
          <a:ext cx="8255002" cy="4666200"/>
        </p:xfrm>
        <a:graphic>
          <a:graphicData uri="http://schemas.openxmlformats.org/drawingml/2006/table">
            <a:tbl>
              <a:tblPr/>
              <a:tblGrid>
                <a:gridCol w="18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1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Approach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Key Finding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Feng et al. (2025)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Survey of 100 studies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Most studies rely on small COVID-19 datasets; lack of explainability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Review only; no new model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Schlicht et al. (2023)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Systematic review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BERT/DistilBERT dominate; deep learning outperforms classical methods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 imbalance, mismatched annotations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Cabral et al. (2021)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TF-IDF + n-grams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F1 0.73-0.87 on WhatsApp misinformation; bigrams improve performance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Portuguese-specific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Taib et al. (2025)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RAG framework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70.1% accuracy, 89.8% recall; chunking boosts recall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More false positives introduced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Hou et al. (2019)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Multimodal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74% accuracy on prostate cancer videos; linguistic features dominant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Video-focused; limited transfer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Shang et al. (2025)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MultiTec multimodal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Significant gains over unimodal on TikTok healthcare videos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Resource-intensive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881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4FC27-8132-7218-9D8F-B4C6975B0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DC64F4DC-9499-1151-01D2-8798D9406208}"/>
              </a:ext>
            </a:extLst>
          </p:cNvPr>
          <p:cNvSpPr/>
          <p:nvPr/>
        </p:nvSpPr>
        <p:spPr>
          <a:xfrm>
            <a:off x="572219" y="1104181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2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13EB4052-94B0-9B24-EB6C-4BFC51F42EAD}"/>
              </a:ext>
            </a:extLst>
          </p:cNvPr>
          <p:cNvSpPr/>
          <p:nvPr/>
        </p:nvSpPr>
        <p:spPr>
          <a:xfrm>
            <a:off x="572219" y="2437681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F238B6DA-E050-83D4-B085-9C60E2758E32}"/>
              </a:ext>
            </a:extLst>
          </p:cNvPr>
          <p:cNvSpPr/>
          <p:nvPr/>
        </p:nvSpPr>
        <p:spPr>
          <a:xfrm>
            <a:off x="572219" y="2850431"/>
            <a:ext cx="84251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health misinformation crisis and the need for automated detection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9613BC78-DE46-C933-9AB6-C21E9C4DF5A8}"/>
              </a:ext>
            </a:extLst>
          </p:cNvPr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endParaRPr lang="en-US" sz="3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8D94F1-E946-036B-8C99-4645AEB19835}"/>
              </a:ext>
            </a:extLst>
          </p:cNvPr>
          <p:cNvSpPr txBox="1"/>
          <p:nvPr/>
        </p:nvSpPr>
        <p:spPr>
          <a:xfrm>
            <a:off x="1964330" y="2237385"/>
            <a:ext cx="5215339" cy="68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 &amp; Objectives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3963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0783C-07C8-6D45-D910-55E62DE0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1D8621B3-7C1A-96D0-8B2D-003EB85BAAF3}"/>
              </a:ext>
            </a:extLst>
          </p:cNvPr>
          <p:cNvSpPr/>
          <p:nvPr/>
        </p:nvSpPr>
        <p:spPr>
          <a:xfrm>
            <a:off x="2667000" y="-15494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0BB3D34-DD81-4665-E2F7-01193BFB44ED}"/>
              </a:ext>
            </a:extLst>
          </p:cNvPr>
          <p:cNvSpPr/>
          <p:nvPr/>
        </p:nvSpPr>
        <p:spPr>
          <a:xfrm>
            <a:off x="4381500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C044754-EF96-CA22-26C5-AA2B5CDF85CE}"/>
              </a:ext>
            </a:extLst>
          </p:cNvPr>
          <p:cNvSpPr/>
          <p:nvPr/>
        </p:nvSpPr>
        <p:spPr>
          <a:xfrm>
            <a:off x="5956299" y="-148203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CAC0299-453E-69A3-A867-899B515AD40D}"/>
              </a:ext>
            </a:extLst>
          </p:cNvPr>
          <p:cNvSpPr/>
          <p:nvPr/>
        </p:nvSpPr>
        <p:spPr>
          <a:xfrm>
            <a:off x="7340598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3B82E91-FD57-24D2-9210-833D2E061BEA}"/>
              </a:ext>
            </a:extLst>
          </p:cNvPr>
          <p:cNvSpPr/>
          <p:nvPr/>
        </p:nvSpPr>
        <p:spPr>
          <a:xfrm>
            <a:off x="13207" y="223520"/>
            <a:ext cx="4909595" cy="515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Gaps &amp; Problem Statement</a:t>
            </a:r>
            <a:endParaRPr lang="en-US" sz="28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94B94D95-1586-D32D-1904-EF63412F7443}"/>
              </a:ext>
            </a:extLst>
          </p:cNvPr>
          <p:cNvSpPr/>
          <p:nvPr/>
        </p:nvSpPr>
        <p:spPr>
          <a:xfrm>
            <a:off x="1028700" y="693052"/>
            <a:ext cx="762000" cy="381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A7DA331-DBCF-4E77-73FD-477B8EB35FDF}"/>
              </a:ext>
            </a:extLst>
          </p:cNvPr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300" dirty="0"/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F9E2CD7A-6AC1-67F2-D88E-1B2B0857F91E}"/>
              </a:ext>
            </a:extLst>
          </p:cNvPr>
          <p:cNvSpPr/>
          <p:nvPr/>
        </p:nvSpPr>
        <p:spPr>
          <a:xfrm>
            <a:off x="381000" y="867387"/>
            <a:ext cx="2499491" cy="23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Research Gaps</a:t>
            </a:r>
            <a:endParaRPr lang="en-US" sz="18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8CAEAF69-7C10-2F20-349A-D4DD3AF6E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273022"/>
              </p:ext>
            </p:extLst>
          </p:nvPr>
        </p:nvGraphicFramePr>
        <p:xfrm>
          <a:off x="1859280" y="1289729"/>
          <a:ext cx="5288280" cy="2320859"/>
        </p:xfrm>
        <a:graphic>
          <a:graphicData uri="http://schemas.openxmlformats.org/drawingml/2006/table">
            <a:tbl>
              <a:tblPr/>
              <a:tblGrid>
                <a:gridCol w="1586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1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65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Gap Area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3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 Limitation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Most studies rely on narrow, English-only, COVID-19-focused datasets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3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Lack of Comparative Studies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Direct comparisons between TF-IDF, BioBERT, and PubMedBERT are rare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3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Overfitting Underreporting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Dev-test performance gaps rarely analyzed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43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Precision-Recall Neglect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Tradeoffs seldom discussed for deployment scenarios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43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Domain Alignment Question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Unclear whether BioBERT or PubMedBERT is superior for this task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14">
            <a:extLst>
              <a:ext uri="{FF2B5EF4-FFF2-40B4-BE49-F238E27FC236}">
                <a16:creationId xmlns:a16="http://schemas.microsoft.com/office/drawing/2014/main" id="{F2C18D51-7054-085C-1A5C-8C82C21E3C2E}"/>
              </a:ext>
            </a:extLst>
          </p:cNvPr>
          <p:cNvSpPr/>
          <p:nvPr/>
        </p:nvSpPr>
        <p:spPr>
          <a:xfrm>
            <a:off x="382314" y="3799106"/>
            <a:ext cx="1984966" cy="23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D860525A-BA3D-9F10-6AB9-519FC19979D1}"/>
              </a:ext>
            </a:extLst>
          </p:cNvPr>
          <p:cNvSpPr/>
          <p:nvPr/>
        </p:nvSpPr>
        <p:spPr>
          <a:xfrm>
            <a:off x="381000" y="4049319"/>
            <a:ext cx="8244840" cy="2320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 1: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Compile and preprocess FakeHealth and HealthFact datasets into a unified format for health misinformation detection.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 2: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 a TF-IDF + Logistic Regression baseline for binary health claim classification.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 3: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Fine-tune BioBERT and PubMedBERT domain-specific transformer models.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 4: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Evaluate all three approaches using identical metrics (accuracy, precision, recall, F1-score) for fair comparison.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84390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D0FE-1368-9895-1D31-48D60E18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B4960085-A110-77D5-D085-0A3D3D06A29F}"/>
              </a:ext>
            </a:extLst>
          </p:cNvPr>
          <p:cNvSpPr/>
          <p:nvPr/>
        </p:nvSpPr>
        <p:spPr>
          <a:xfrm>
            <a:off x="572219" y="1104181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72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38181027-7F7A-F8DB-41D0-D9B933F98556}"/>
              </a:ext>
            </a:extLst>
          </p:cNvPr>
          <p:cNvSpPr/>
          <p:nvPr/>
        </p:nvSpPr>
        <p:spPr>
          <a:xfrm>
            <a:off x="572219" y="2437681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86D22B30-E028-2696-CDF2-94D2933C0E19}"/>
              </a:ext>
            </a:extLst>
          </p:cNvPr>
          <p:cNvSpPr/>
          <p:nvPr/>
        </p:nvSpPr>
        <p:spPr>
          <a:xfrm>
            <a:off x="572219" y="2850431"/>
            <a:ext cx="84251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health misinformation crisis and the need for automated detection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C213B4-A34B-0AE7-D8B0-9CE37DD86414}"/>
              </a:ext>
            </a:extLst>
          </p:cNvPr>
          <p:cNvSpPr txBox="1"/>
          <p:nvPr/>
        </p:nvSpPr>
        <p:spPr>
          <a:xfrm>
            <a:off x="1964330" y="2237385"/>
            <a:ext cx="5215339" cy="68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Methodology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28399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8A63-37E9-D25E-D8AB-B71D5132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8C18EFA4-BD80-A117-9B77-5F60C17CA044}"/>
              </a:ext>
            </a:extLst>
          </p:cNvPr>
          <p:cNvSpPr/>
          <p:nvPr/>
        </p:nvSpPr>
        <p:spPr>
          <a:xfrm>
            <a:off x="2667000" y="-15494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FFFF6B4-6675-A5C0-08E2-C5D5A29C3566}"/>
              </a:ext>
            </a:extLst>
          </p:cNvPr>
          <p:cNvSpPr/>
          <p:nvPr/>
        </p:nvSpPr>
        <p:spPr>
          <a:xfrm>
            <a:off x="4381500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909255F-297B-70E6-64D6-760510106CE1}"/>
              </a:ext>
            </a:extLst>
          </p:cNvPr>
          <p:cNvSpPr/>
          <p:nvPr/>
        </p:nvSpPr>
        <p:spPr>
          <a:xfrm>
            <a:off x="5956299" y="-148203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4A45956-C4F8-54D5-25D3-B1893C8744E1}"/>
              </a:ext>
            </a:extLst>
          </p:cNvPr>
          <p:cNvSpPr/>
          <p:nvPr/>
        </p:nvSpPr>
        <p:spPr>
          <a:xfrm>
            <a:off x="7340598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4CF54B8-2977-833D-ADFA-7A8C4F4DBD21}"/>
              </a:ext>
            </a:extLst>
          </p:cNvPr>
          <p:cNvSpPr/>
          <p:nvPr/>
        </p:nvSpPr>
        <p:spPr>
          <a:xfrm>
            <a:off x="121297" y="132129"/>
            <a:ext cx="4909595" cy="515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Experimental Setup</a:t>
            </a:r>
            <a:endParaRPr lang="en-US" sz="28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31717F7-7432-2C5E-AC44-DE000DC75443}"/>
              </a:ext>
            </a:extLst>
          </p:cNvPr>
          <p:cNvSpPr/>
          <p:nvPr/>
        </p:nvSpPr>
        <p:spPr>
          <a:xfrm>
            <a:off x="1028700" y="642252"/>
            <a:ext cx="762000" cy="381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1917B8A-29B1-02B0-D072-5723B742B71F}"/>
              </a:ext>
            </a:extLst>
          </p:cNvPr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A429071-C669-C67E-2761-6493ED8640EA}"/>
              </a:ext>
            </a:extLst>
          </p:cNvPr>
          <p:cNvSpPr/>
          <p:nvPr/>
        </p:nvSpPr>
        <p:spPr>
          <a:xfrm>
            <a:off x="503310" y="894448"/>
            <a:ext cx="181277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Datasets</a:t>
            </a:r>
            <a:endParaRPr lang="en-US" sz="180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8FEF6428-365C-C65A-B3FB-B8B47F974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706786"/>
              </p:ext>
            </p:extLst>
          </p:nvPr>
        </p:nvGraphicFramePr>
        <p:xfrm>
          <a:off x="970280" y="1496747"/>
          <a:ext cx="4718193" cy="1425838"/>
        </p:xfrm>
        <a:graphic>
          <a:graphicData uri="http://schemas.openxmlformats.org/drawingml/2006/table">
            <a:tbl>
              <a:tblPr/>
              <a:tblGrid>
                <a:gridCol w="943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5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3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Size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94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FakeHealth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2,156 articles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News articles with expert-verified labels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5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HealthFact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12,266 claims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Fact-checked claims (TRUE/FALSE/MIXTURE/UNPROVEN)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 25">
            <a:extLst>
              <a:ext uri="{FF2B5EF4-FFF2-40B4-BE49-F238E27FC236}">
                <a16:creationId xmlns:a16="http://schemas.microsoft.com/office/drawing/2014/main" id="{4A3F69AA-82C8-6E24-4AE8-DC195C7B1982}"/>
              </a:ext>
            </a:extLst>
          </p:cNvPr>
          <p:cNvSpPr/>
          <p:nvPr/>
        </p:nvSpPr>
        <p:spPr>
          <a:xfrm>
            <a:off x="503310" y="3251200"/>
            <a:ext cx="234744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 Steps</a:t>
            </a:r>
            <a:endParaRPr lang="en-US" sz="18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56052FBF-D2E3-E4B6-7567-9188DA596437}"/>
              </a:ext>
            </a:extLst>
          </p:cNvPr>
          <p:cNvSpPr/>
          <p:nvPr/>
        </p:nvSpPr>
        <p:spPr>
          <a:xfrm>
            <a:off x="688587" y="3670481"/>
            <a:ext cx="5594493" cy="185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5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35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Text cleaning: whitespace normalization, special character removal</a:t>
            </a:r>
            <a:endParaRPr lang="en-US" sz="135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5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35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Label standardization: binary conversion (0 = misinformation, 1 = reliable)</a:t>
            </a:r>
            <a:endParaRPr lang="en-US" sz="135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5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35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Deduplication: removal of duplicate records by dataset and record_id</a:t>
            </a:r>
            <a:endParaRPr lang="en-US" sz="135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5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35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Stratified split: 70% train / 15% dev / 15% test preserving label distribution</a:t>
            </a:r>
            <a:endParaRPr lang="en-US" sz="135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5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35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Final: 9,588 train / 1,332 dev / 1,311 test samples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061980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90302-16F2-5031-5E9E-375F12D64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9EDC4565-A30F-81EE-6053-DCD4C56DF0D2}"/>
              </a:ext>
            </a:extLst>
          </p:cNvPr>
          <p:cNvSpPr/>
          <p:nvPr/>
        </p:nvSpPr>
        <p:spPr>
          <a:xfrm>
            <a:off x="167197" y="192473"/>
            <a:ext cx="3286217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Architectures</a:t>
            </a:r>
            <a:endParaRPr lang="en-US" sz="2800" dirty="0"/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97CA591E-85A6-7CBD-8A33-6B5CD54A54CC}"/>
              </a:ext>
            </a:extLst>
          </p:cNvPr>
          <p:cNvSpPr/>
          <p:nvPr/>
        </p:nvSpPr>
        <p:spPr>
          <a:xfrm>
            <a:off x="105022" y="1257747"/>
            <a:ext cx="2852559" cy="5226992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FCE5E215-6002-A92E-06BC-D47DF5335149}"/>
              </a:ext>
            </a:extLst>
          </p:cNvPr>
          <p:cNvSpPr/>
          <p:nvPr/>
        </p:nvSpPr>
        <p:spPr>
          <a:xfrm>
            <a:off x="167197" y="1939802"/>
            <a:ext cx="1010535" cy="2151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45FA4259-6FA8-C587-D602-4A0C25ACD149}"/>
              </a:ext>
            </a:extLst>
          </p:cNvPr>
          <p:cNvSpPr/>
          <p:nvPr/>
        </p:nvSpPr>
        <p:spPr>
          <a:xfrm>
            <a:off x="167197" y="2177017"/>
            <a:ext cx="2670893" cy="4177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Traditional Baseline</a:t>
            </a:r>
          </a:p>
          <a:p>
            <a:endParaRPr lang="en-US" dirty="0"/>
          </a:p>
          <a:p>
            <a:r>
              <a:rPr lang="en-US" dirty="0"/>
              <a:t>• TF‑IDF vectorizer with n‑grams (1,2)</a:t>
            </a:r>
            <a:br>
              <a:rPr lang="en-US" dirty="0"/>
            </a:br>
            <a:r>
              <a:rPr lang="en-US" dirty="0"/>
              <a:t>• 30K features, English stop words removed</a:t>
            </a:r>
            <a:br>
              <a:rPr lang="en-US" dirty="0"/>
            </a:br>
            <a:r>
              <a:rPr lang="en-US" dirty="0"/>
              <a:t>• Logistic Regression with </a:t>
            </a:r>
            <a:r>
              <a:rPr lang="en-US" dirty="0" err="1"/>
              <a:t>class_weight</a:t>
            </a:r>
            <a:r>
              <a:rPr lang="en-US" dirty="0"/>
              <a:t>='balanced'</a:t>
            </a:r>
            <a:br>
              <a:rPr lang="en-US" dirty="0"/>
            </a:br>
            <a:r>
              <a:rPr lang="en-US" dirty="0"/>
              <a:t>• Fast, interpretable, strong on short text</a:t>
            </a:r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82984E98-A715-9032-AD7C-99C6D2F3880E}"/>
              </a:ext>
            </a:extLst>
          </p:cNvPr>
          <p:cNvSpPr/>
          <p:nvPr/>
        </p:nvSpPr>
        <p:spPr>
          <a:xfrm>
            <a:off x="3221335" y="1254675"/>
            <a:ext cx="2706000" cy="5230064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93878DD3-B2FA-FADB-663A-FA036FDE5B1C}"/>
              </a:ext>
            </a:extLst>
          </p:cNvPr>
          <p:cNvSpPr/>
          <p:nvPr/>
        </p:nvSpPr>
        <p:spPr>
          <a:xfrm>
            <a:off x="3221336" y="1233207"/>
            <a:ext cx="2706000" cy="571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AADB09EC-19CD-CEF0-8042-DCAE15EA0030}"/>
              </a:ext>
            </a:extLst>
          </p:cNvPr>
          <p:cNvSpPr/>
          <p:nvPr/>
        </p:nvSpPr>
        <p:spPr>
          <a:xfrm>
            <a:off x="3365501" y="1978576"/>
            <a:ext cx="614782" cy="176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1F6BBA51-FC01-BD40-A263-752CF8168D27}"/>
              </a:ext>
            </a:extLst>
          </p:cNvPr>
          <p:cNvSpPr/>
          <p:nvPr/>
        </p:nvSpPr>
        <p:spPr>
          <a:xfrm>
            <a:off x="3349784" y="2176440"/>
            <a:ext cx="2428716" cy="417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Biomedical Transformer</a:t>
            </a:r>
          </a:p>
          <a:p>
            <a:br>
              <a:rPr lang="en-US" dirty="0"/>
            </a:br>
            <a:r>
              <a:rPr lang="en-US" dirty="0"/>
              <a:t>• Pre‑trained on PubMed + PMC literature</a:t>
            </a:r>
            <a:br>
              <a:rPr lang="en-US" dirty="0"/>
            </a:br>
            <a:r>
              <a:rPr lang="en-US" dirty="0"/>
              <a:t>• Sequence length: 256 tokens</a:t>
            </a:r>
            <a:br>
              <a:rPr lang="en-US" dirty="0"/>
            </a:br>
            <a:r>
              <a:rPr lang="en-US" dirty="0"/>
              <a:t>• Epochs: 3 | Batch: 4 (effective 8)</a:t>
            </a:r>
            <a:br>
              <a:rPr lang="en-US" dirty="0"/>
            </a:br>
            <a:r>
              <a:rPr lang="en-US" dirty="0"/>
              <a:t>• LR: 2e-5 | Warmup: 0.1 | Weight decay: 0.01</a:t>
            </a:r>
            <a:br>
              <a:rPr lang="en-US" dirty="0"/>
            </a:br>
            <a:r>
              <a:rPr lang="en-US" dirty="0"/>
              <a:t>• Biomedical domain knowledge, strong context</a:t>
            </a: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9A5F4F6-6BC1-7725-386A-D7BA26C28F9F}"/>
              </a:ext>
            </a:extLst>
          </p:cNvPr>
          <p:cNvSpPr/>
          <p:nvPr/>
        </p:nvSpPr>
        <p:spPr>
          <a:xfrm>
            <a:off x="6209795" y="1254675"/>
            <a:ext cx="2829184" cy="5230064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B4E01F93-A88F-86A6-69EA-66C370FE7BC5}"/>
              </a:ext>
            </a:extLst>
          </p:cNvPr>
          <p:cNvSpPr/>
          <p:nvPr/>
        </p:nvSpPr>
        <p:spPr>
          <a:xfrm>
            <a:off x="6198325" y="1233208"/>
            <a:ext cx="2840653" cy="571499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CA79FD7F-88D7-3EEB-5B89-FE9CA58A7779}"/>
              </a:ext>
            </a:extLst>
          </p:cNvPr>
          <p:cNvSpPr/>
          <p:nvPr/>
        </p:nvSpPr>
        <p:spPr>
          <a:xfrm>
            <a:off x="6329286" y="1934672"/>
            <a:ext cx="1388902" cy="220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EC7C1304-A9BA-4B1B-95EE-B245DF0BF263}"/>
              </a:ext>
            </a:extLst>
          </p:cNvPr>
          <p:cNvSpPr/>
          <p:nvPr/>
        </p:nvSpPr>
        <p:spPr>
          <a:xfrm>
            <a:off x="6329286" y="2102806"/>
            <a:ext cx="2647517" cy="438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Domain‑Specific Transformer</a:t>
            </a:r>
          </a:p>
          <a:p>
            <a:br>
              <a:rPr lang="en-US" dirty="0"/>
            </a:br>
            <a:r>
              <a:rPr lang="en-US" dirty="0"/>
              <a:t>• Pre‑trained from scratch on PubMed abstracts</a:t>
            </a:r>
            <a:br>
              <a:rPr lang="en-US" dirty="0"/>
            </a:br>
            <a:r>
              <a:rPr lang="en-US" dirty="0"/>
              <a:t>• Sequence length: 256 tokens</a:t>
            </a:r>
            <a:br>
              <a:rPr lang="en-US" dirty="0"/>
            </a:br>
            <a:r>
              <a:rPr lang="en-US" dirty="0"/>
              <a:t>• Epochs: 3 | Batch: 4 (effective 8)</a:t>
            </a:r>
            <a:br>
              <a:rPr lang="en-US" dirty="0"/>
            </a:br>
            <a:r>
              <a:rPr lang="en-US" dirty="0"/>
              <a:t>• LR: 2e-5 | Warmup: 0.1 | Weight decay: 0.01</a:t>
            </a:r>
            <a:br>
              <a:rPr lang="en-US" dirty="0"/>
            </a:br>
            <a:r>
              <a:rPr lang="en-US" dirty="0"/>
              <a:t>• PubMed‑specific vocabulary, strong precision</a:t>
            </a:r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66A918C9-E82E-1C05-60E0-3D35FE5F3FF4}"/>
              </a:ext>
            </a:extLst>
          </p:cNvPr>
          <p:cNvSpPr/>
          <p:nvPr/>
        </p:nvSpPr>
        <p:spPr>
          <a:xfrm>
            <a:off x="105022" y="1233208"/>
            <a:ext cx="2852559" cy="571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C12F32D9-A0F4-FB9A-32A9-97F5E7CBFB30}"/>
              </a:ext>
            </a:extLst>
          </p:cNvPr>
          <p:cNvSpPr/>
          <p:nvPr/>
        </p:nvSpPr>
        <p:spPr>
          <a:xfrm>
            <a:off x="219001" y="1329362"/>
            <a:ext cx="2504748" cy="40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+ Logistic Regression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9BE2A696-6E33-B8FE-75F2-390C66757B7D}"/>
              </a:ext>
            </a:extLst>
          </p:cNvPr>
          <p:cNvSpPr/>
          <p:nvPr/>
        </p:nvSpPr>
        <p:spPr>
          <a:xfrm>
            <a:off x="3338959" y="1329362"/>
            <a:ext cx="2504748" cy="40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BioBERT</a:t>
            </a:r>
            <a:endParaRPr lang="en-US" sz="16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3405E5E5-6039-A033-9A14-A3DB2187DE34}"/>
              </a:ext>
            </a:extLst>
          </p:cNvPr>
          <p:cNvSpPr/>
          <p:nvPr/>
        </p:nvSpPr>
        <p:spPr>
          <a:xfrm>
            <a:off x="6329286" y="1334021"/>
            <a:ext cx="2504748" cy="40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PubMedBERT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8568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57C65-EC3D-F23F-1F20-D2007C00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411A17AD-38B7-4009-9CE6-2AC50AFEAC83}"/>
              </a:ext>
            </a:extLst>
          </p:cNvPr>
          <p:cNvSpPr/>
          <p:nvPr/>
        </p:nvSpPr>
        <p:spPr>
          <a:xfrm>
            <a:off x="572219" y="1104181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72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1F6055F3-E3EC-E6BB-BFA1-9EBAEAE2AE51}"/>
              </a:ext>
            </a:extLst>
          </p:cNvPr>
          <p:cNvSpPr/>
          <p:nvPr/>
        </p:nvSpPr>
        <p:spPr>
          <a:xfrm>
            <a:off x="572219" y="2437681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26D9007F-A703-AB51-1B98-8BAB84A35FBC}"/>
              </a:ext>
            </a:extLst>
          </p:cNvPr>
          <p:cNvSpPr/>
          <p:nvPr/>
        </p:nvSpPr>
        <p:spPr>
          <a:xfrm>
            <a:off x="572219" y="2850431"/>
            <a:ext cx="84251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evaluation of the three approaches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ED8840-0B05-C4A3-9466-3958C67DD32C}"/>
              </a:ext>
            </a:extLst>
          </p:cNvPr>
          <p:cNvSpPr txBox="1"/>
          <p:nvPr/>
        </p:nvSpPr>
        <p:spPr>
          <a:xfrm>
            <a:off x="1964330" y="2237385"/>
            <a:ext cx="5215339" cy="68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28011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86EC-804B-461E-B578-A7BE20C1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8">
            <a:extLst>
              <a:ext uri="{FF2B5EF4-FFF2-40B4-BE49-F238E27FC236}">
                <a16:creationId xmlns:a16="http://schemas.microsoft.com/office/drawing/2014/main" id="{7949B8F5-5FA9-26B9-E7B0-4F5CDBEB10D5}"/>
              </a:ext>
            </a:extLst>
          </p:cNvPr>
          <p:cNvSpPr/>
          <p:nvPr/>
        </p:nvSpPr>
        <p:spPr>
          <a:xfrm>
            <a:off x="365760" y="149860"/>
            <a:ext cx="5029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 Comparison</a:t>
            </a:r>
            <a:endParaRPr lang="en-US" sz="2800" dirty="0"/>
          </a:p>
        </p:txBody>
      </p:sp>
      <p:graphicFrame>
        <p:nvGraphicFramePr>
          <p:cNvPr id="46" name="Table 0">
            <a:extLst>
              <a:ext uri="{FF2B5EF4-FFF2-40B4-BE49-F238E27FC236}">
                <a16:creationId xmlns:a16="http://schemas.microsoft.com/office/drawing/2014/main" id="{9F2D5B2E-3738-D0C2-054F-2D31C899A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126868"/>
              </p:ext>
            </p:extLst>
          </p:nvPr>
        </p:nvGraphicFramePr>
        <p:xfrm>
          <a:off x="483171" y="1051130"/>
          <a:ext cx="4165600" cy="1635648"/>
        </p:xfrm>
        <a:graphic>
          <a:graphicData uri="http://schemas.openxmlformats.org/drawingml/2006/table">
            <a:tbl>
              <a:tblPr/>
              <a:tblGrid>
                <a:gridCol w="1166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7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Accuracy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Precision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Recall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F1-Score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TF-IDF + LogReg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72.06%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0.7933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0.7208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0.7553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0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BioBERT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75.63%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0.7945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0.7995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465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0.7970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PubMedBERT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74.03%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0.7989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0.7563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0.7771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Shape 11">
            <a:extLst>
              <a:ext uri="{FF2B5EF4-FFF2-40B4-BE49-F238E27FC236}">
                <a16:creationId xmlns:a16="http://schemas.microsoft.com/office/drawing/2014/main" id="{5119D27D-201E-5C34-AD20-BB9847C4A715}"/>
              </a:ext>
            </a:extLst>
          </p:cNvPr>
          <p:cNvSpPr/>
          <p:nvPr/>
        </p:nvSpPr>
        <p:spPr>
          <a:xfrm>
            <a:off x="4892946" y="3075735"/>
            <a:ext cx="4073252" cy="1635648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D0AA6E3E-79FB-0EB9-6EEB-11FCD0858F73}"/>
              </a:ext>
            </a:extLst>
          </p:cNvPr>
          <p:cNvSpPr/>
          <p:nvPr/>
        </p:nvSpPr>
        <p:spPr>
          <a:xfrm>
            <a:off x="507121" y="4533583"/>
            <a:ext cx="287382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Per-Dataset Accuracy</a:t>
            </a:r>
            <a:endParaRPr lang="en-US" sz="1800" dirty="0"/>
          </a:p>
        </p:txBody>
      </p:sp>
      <p:graphicFrame>
        <p:nvGraphicFramePr>
          <p:cNvPr id="52" name="Table 2">
            <a:extLst>
              <a:ext uri="{FF2B5EF4-FFF2-40B4-BE49-F238E27FC236}">
                <a16:creationId xmlns:a16="http://schemas.microsoft.com/office/drawing/2014/main" id="{D480124B-6DC8-03DD-6917-36B4371CE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07491"/>
              </p:ext>
            </p:extLst>
          </p:nvPr>
        </p:nvGraphicFramePr>
        <p:xfrm>
          <a:off x="483171" y="5005578"/>
          <a:ext cx="4290244" cy="1250818"/>
        </p:xfrm>
        <a:graphic>
          <a:graphicData uri="http://schemas.openxmlformats.org/drawingml/2006/table">
            <a:tbl>
              <a:tblPr/>
              <a:tblGrid>
                <a:gridCol w="1072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2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80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TF-IDF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BioBERT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PubMedBERT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04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HealthFact (short)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77.00%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80.24%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80.24%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04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FakeHealth (long)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57.10%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61.42%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54.94%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Text 15">
            <a:extLst>
              <a:ext uri="{FF2B5EF4-FFF2-40B4-BE49-F238E27FC236}">
                <a16:creationId xmlns:a16="http://schemas.microsoft.com/office/drawing/2014/main" id="{D88E47F0-F172-1C4A-6233-9598FE2DBD2E}"/>
              </a:ext>
            </a:extLst>
          </p:cNvPr>
          <p:cNvSpPr/>
          <p:nvPr/>
        </p:nvSpPr>
        <p:spPr>
          <a:xfrm>
            <a:off x="5016499" y="3075735"/>
            <a:ext cx="3860801" cy="1598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Length Matters: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transformers excel on short HealthFact claims (80.24%). BioBERT outperforms on longer FakeHealth articles (61.42% vs 54.94%).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97382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366A2-3DE7-737D-14E3-6AF3C6B26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B6FB1509-54F7-DD47-B041-80520CF1E48B}"/>
              </a:ext>
            </a:extLst>
          </p:cNvPr>
          <p:cNvSpPr/>
          <p:nvPr/>
        </p:nvSpPr>
        <p:spPr>
          <a:xfrm>
            <a:off x="327660" y="69752"/>
            <a:ext cx="3645877" cy="550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Analysis &amp; Insights</a:t>
            </a:r>
            <a:endParaRPr lang="en-US" sz="28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8000AF77-7417-36FA-D55C-902CB3C8BB05}"/>
              </a:ext>
            </a:extLst>
          </p:cNvPr>
          <p:cNvSpPr/>
          <p:nvPr/>
        </p:nvSpPr>
        <p:spPr>
          <a:xfrm>
            <a:off x="1092967" y="1144418"/>
            <a:ext cx="3360420" cy="294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Eight-Bucket Agreement Analysis</a:t>
            </a:r>
            <a:endParaRPr lang="en-US" sz="18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C279D7BA-2B42-A42A-A7F0-030AA9E0EC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37303"/>
              </p:ext>
            </p:extLst>
          </p:nvPr>
        </p:nvGraphicFramePr>
        <p:xfrm>
          <a:off x="1187858" y="1585619"/>
          <a:ext cx="3020870" cy="217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hape 11">
            <a:extLst>
              <a:ext uri="{FF2B5EF4-FFF2-40B4-BE49-F238E27FC236}">
                <a16:creationId xmlns:a16="http://schemas.microsoft.com/office/drawing/2014/main" id="{138B559D-989A-AC0A-FEC3-043AEBF94B8D}"/>
              </a:ext>
            </a:extLst>
          </p:cNvPr>
          <p:cNvSpPr/>
          <p:nvPr/>
        </p:nvSpPr>
        <p:spPr>
          <a:xfrm>
            <a:off x="5055079" y="1946245"/>
            <a:ext cx="3275078" cy="3781696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A36F752D-E451-3953-2328-5D058210639A}"/>
              </a:ext>
            </a:extLst>
          </p:cNvPr>
          <p:cNvSpPr/>
          <p:nvPr/>
        </p:nvSpPr>
        <p:spPr>
          <a:xfrm>
            <a:off x="5206377" y="2099955"/>
            <a:ext cx="3041489" cy="347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57.4%</a:t>
            </a:r>
            <a:r>
              <a:rPr lang="en-US" sz="12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three models agree and are correct. </a:t>
            </a: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consensus on majority of claims.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8.66%</a:t>
            </a:r>
            <a:r>
              <a:rPr lang="en-US" sz="12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Both transformers correct where TF-IDF fails. </a:t>
            </a: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understanding adds clear value.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11.09%</a:t>
            </a:r>
            <a:r>
              <a:rPr lang="en-US" sz="12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models fail. </a:t>
            </a: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Hardest cases requiring external medical knowledge or subtle reasoning.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5.32%</a:t>
            </a:r>
            <a:r>
              <a:rPr lang="en-US" sz="12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Only TF-IDF correct. </a:t>
            </a: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Lexical patterns still capture some signals.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75448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7549C-48E9-B051-0F00-2C4290AC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6">
            <a:extLst>
              <a:ext uri="{FF2B5EF4-FFF2-40B4-BE49-F238E27FC236}">
                <a16:creationId xmlns:a16="http://schemas.microsoft.com/office/drawing/2014/main" id="{F74582F1-A994-A0B8-EE07-ABD4C06E5B41}"/>
              </a:ext>
            </a:extLst>
          </p:cNvPr>
          <p:cNvSpPr/>
          <p:nvPr/>
        </p:nvSpPr>
        <p:spPr>
          <a:xfrm>
            <a:off x="963211" y="4413733"/>
            <a:ext cx="7602499" cy="1968500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4951F7F6-5F1A-E971-4A53-A5C929E55845}"/>
              </a:ext>
            </a:extLst>
          </p:cNvPr>
          <p:cNvSpPr/>
          <p:nvPr/>
        </p:nvSpPr>
        <p:spPr>
          <a:xfrm>
            <a:off x="97934" y="72198"/>
            <a:ext cx="4666527" cy="41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System &amp; Validation</a:t>
            </a:r>
            <a:endParaRPr lang="en-US" sz="28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74C5A3F-A8FE-C8E8-A051-9C009AB7A764}"/>
              </a:ext>
            </a:extLst>
          </p:cNvPr>
          <p:cNvSpPr/>
          <p:nvPr/>
        </p:nvSpPr>
        <p:spPr>
          <a:xfrm>
            <a:off x="596527" y="1981966"/>
            <a:ext cx="2666587" cy="2478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Majority-Vote Inference Pipeline</a:t>
            </a:r>
            <a:endParaRPr lang="en-US" sz="18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524CC0C-47FC-C4E3-EBE4-4A05D0869764}"/>
              </a:ext>
            </a:extLst>
          </p:cNvPr>
          <p:cNvSpPr/>
          <p:nvPr/>
        </p:nvSpPr>
        <p:spPr>
          <a:xfrm>
            <a:off x="596527" y="2465649"/>
            <a:ext cx="1432205" cy="645138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Health Claim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256 tokens</a:t>
            </a:r>
            <a:endParaRPr lang="en-US" sz="12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FAF37F9D-E2BF-A7DD-981F-86B9DDC5AFF9}"/>
              </a:ext>
            </a:extLst>
          </p:cNvPr>
          <p:cNvSpPr/>
          <p:nvPr/>
        </p:nvSpPr>
        <p:spPr>
          <a:xfrm flipV="1">
            <a:off x="2063150" y="2703777"/>
            <a:ext cx="199994" cy="45719"/>
          </a:xfrm>
          <a:prstGeom prst="straightConnector1">
            <a:avLst/>
          </a:prstGeom>
          <a:noFill/>
          <a:ln w="25400">
            <a:solidFill>
              <a:srgbClr val="D4653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6F8EBCA-D94B-F2A1-F37A-0F53DB7A3145}"/>
              </a:ext>
            </a:extLst>
          </p:cNvPr>
          <p:cNvSpPr/>
          <p:nvPr/>
        </p:nvSpPr>
        <p:spPr>
          <a:xfrm>
            <a:off x="2228726" y="2453074"/>
            <a:ext cx="1424962" cy="643604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Models Classify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+ BioBERT + </a:t>
            </a:r>
          </a:p>
          <a:p>
            <a:pPr algn="ctr">
              <a:lnSpc>
                <a:spcPct val="120000"/>
              </a:lnSpc>
            </a:pPr>
            <a:r>
              <a:rPr lang="en-US" sz="1200" dirty="0" err="1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PubMedBERT</a:t>
            </a:r>
            <a:endParaRPr lang="en-US" sz="12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959E45B6-1D3C-902E-737A-5995C361C9C2}"/>
              </a:ext>
            </a:extLst>
          </p:cNvPr>
          <p:cNvSpPr/>
          <p:nvPr/>
        </p:nvSpPr>
        <p:spPr>
          <a:xfrm flipV="1">
            <a:off x="3653688" y="2645626"/>
            <a:ext cx="199994" cy="45719"/>
          </a:xfrm>
          <a:prstGeom prst="straightConnector1">
            <a:avLst/>
          </a:prstGeom>
          <a:noFill/>
          <a:ln w="25400">
            <a:solidFill>
              <a:srgbClr val="D4653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5F61012C-33F4-805D-AEE4-02FC24FB7AD0}"/>
              </a:ext>
            </a:extLst>
          </p:cNvPr>
          <p:cNvSpPr/>
          <p:nvPr/>
        </p:nvSpPr>
        <p:spPr>
          <a:xfrm>
            <a:off x="3853682" y="2453074"/>
            <a:ext cx="1740168" cy="430824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 Scores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Predictions + confidences</a:t>
            </a:r>
            <a:endParaRPr lang="en-US" sz="12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4D3BFD94-611E-1B9E-CCFF-7AA60301A793}"/>
              </a:ext>
            </a:extLst>
          </p:cNvPr>
          <p:cNvSpPr/>
          <p:nvPr/>
        </p:nvSpPr>
        <p:spPr>
          <a:xfrm flipV="1">
            <a:off x="5593850" y="2671994"/>
            <a:ext cx="199994" cy="45719"/>
          </a:xfrm>
          <a:prstGeom prst="straightConnector1">
            <a:avLst/>
          </a:prstGeom>
          <a:noFill/>
          <a:ln w="25400">
            <a:solidFill>
              <a:srgbClr val="D4653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DC704CAD-F60E-87FA-497E-BAA3C9240A2C}"/>
              </a:ext>
            </a:extLst>
          </p:cNvPr>
          <p:cNvSpPr/>
          <p:nvPr/>
        </p:nvSpPr>
        <p:spPr>
          <a:xfrm>
            <a:off x="5793844" y="2485161"/>
            <a:ext cx="1466623" cy="430825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Majority Vote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Verdict</a:t>
            </a:r>
            <a:endParaRPr lang="en-US" sz="12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AF5B711D-43A4-262B-0223-5DE8DE235EE9}"/>
              </a:ext>
            </a:extLst>
          </p:cNvPr>
          <p:cNvSpPr/>
          <p:nvPr/>
        </p:nvSpPr>
        <p:spPr>
          <a:xfrm flipV="1">
            <a:off x="7260467" y="2703777"/>
            <a:ext cx="199994" cy="45719"/>
          </a:xfrm>
          <a:prstGeom prst="straightConnector1">
            <a:avLst/>
          </a:prstGeom>
          <a:noFill/>
          <a:ln w="25400">
            <a:solidFill>
              <a:srgbClr val="D4653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AF531EC-0E7B-E6A6-F6E5-ECF29A207F1A}"/>
              </a:ext>
            </a:extLst>
          </p:cNvPr>
          <p:cNvSpPr/>
          <p:nvPr/>
        </p:nvSpPr>
        <p:spPr>
          <a:xfrm>
            <a:off x="7460461" y="2482137"/>
            <a:ext cx="1280536" cy="482594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 + Confidence</a:t>
            </a:r>
            <a:endParaRPr lang="en-US" sz="12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DA1A193-B577-3A1F-5CAF-582D71D3C5F7}"/>
              </a:ext>
            </a:extLst>
          </p:cNvPr>
          <p:cNvSpPr/>
          <p:nvPr/>
        </p:nvSpPr>
        <p:spPr>
          <a:xfrm>
            <a:off x="1099267" y="4413733"/>
            <a:ext cx="2666587" cy="3036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Implementation</a:t>
            </a:r>
            <a:endParaRPr lang="en-US" sz="18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24A3DCA-2142-C77B-31C9-BC4571C92315}"/>
              </a:ext>
            </a:extLst>
          </p:cNvPr>
          <p:cNvSpPr/>
          <p:nvPr/>
        </p:nvSpPr>
        <p:spPr>
          <a:xfrm>
            <a:off x="1099267" y="4768846"/>
            <a:ext cx="7466443" cy="151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 Notebooks:</a:t>
            </a: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 notebooks (00-07) covering dataset overview, preprocessing, EDA, baseline training, BioBERT/PubMedBERT fine-tuning, and three-way error analysis.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Web App:</a:t>
            </a: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Interactive inference interface with majority-vote rule, confidence scores, and individual model predictions.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55984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5910-F5FB-399C-707C-9A3EC8DF4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4CE88828-8965-8468-FF2F-726CC0D95E45}"/>
              </a:ext>
            </a:extLst>
          </p:cNvPr>
          <p:cNvSpPr/>
          <p:nvPr/>
        </p:nvSpPr>
        <p:spPr>
          <a:xfrm>
            <a:off x="572219" y="1104181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72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F1E7042C-F1C4-D935-F3D2-FB8671474631}"/>
              </a:ext>
            </a:extLst>
          </p:cNvPr>
          <p:cNvSpPr/>
          <p:nvPr/>
        </p:nvSpPr>
        <p:spPr>
          <a:xfrm>
            <a:off x="572219" y="2437681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228A1501-D67E-1DD9-2C81-9443C610C9AF}"/>
              </a:ext>
            </a:extLst>
          </p:cNvPr>
          <p:cNvSpPr/>
          <p:nvPr/>
        </p:nvSpPr>
        <p:spPr>
          <a:xfrm>
            <a:off x="572219" y="2850431"/>
            <a:ext cx="84251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evaluation of the three approaches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B9968B-5752-47C1-6EA2-E96A54E94203}"/>
              </a:ext>
            </a:extLst>
          </p:cNvPr>
          <p:cNvSpPr txBox="1"/>
          <p:nvPr/>
        </p:nvSpPr>
        <p:spPr>
          <a:xfrm>
            <a:off x="1964330" y="2237385"/>
            <a:ext cx="5215339" cy="68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17363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D59AB-F50E-CDBA-F22E-F28C4A19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">
            <a:extLst>
              <a:ext uri="{FF2B5EF4-FFF2-40B4-BE49-F238E27FC236}">
                <a16:creationId xmlns:a16="http://schemas.microsoft.com/office/drawing/2014/main" id="{A36B6BC4-9173-8A88-8CD0-06A08E6CCE36}"/>
              </a:ext>
            </a:extLst>
          </p:cNvPr>
          <p:cNvSpPr/>
          <p:nvPr/>
        </p:nvSpPr>
        <p:spPr>
          <a:xfrm>
            <a:off x="4714238" y="2186292"/>
            <a:ext cx="4165600" cy="3008656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F4B6A4B2-F150-8E06-B096-41B2166B8A22}"/>
              </a:ext>
            </a:extLst>
          </p:cNvPr>
          <p:cNvSpPr/>
          <p:nvPr/>
        </p:nvSpPr>
        <p:spPr>
          <a:xfrm>
            <a:off x="213360" y="0"/>
            <a:ext cx="417576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Contributions</a:t>
            </a:r>
            <a:endParaRPr lang="en-US" sz="280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3E698B84-8970-5561-10C7-23C7AB9DF3E3}"/>
              </a:ext>
            </a:extLst>
          </p:cNvPr>
          <p:cNvSpPr/>
          <p:nvPr/>
        </p:nvSpPr>
        <p:spPr>
          <a:xfrm>
            <a:off x="406400" y="721360"/>
            <a:ext cx="238614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2433A9FA-28B0-228E-9124-3AEC20E458AE}"/>
              </a:ext>
            </a:extLst>
          </p:cNvPr>
          <p:cNvSpPr/>
          <p:nvPr/>
        </p:nvSpPr>
        <p:spPr>
          <a:xfrm>
            <a:off x="406400" y="1076960"/>
            <a:ext cx="4165600" cy="522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70000"/>
              </a:lnSpc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Domain-specific transformers significantly outperform traditional ML. BioBERT F1 </a:t>
            </a: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0.7970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TF-IDF </a:t>
            </a: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0.7553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  <a:p>
            <a:pPr algn="just"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BioBERT generalizes better than PubMedBERT — dev-test F1 drop of only </a:t>
            </a: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1.40pp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</a:t>
            </a: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2.78pp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  <a:p>
            <a:pPr algn="just"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Important precision-recall tradeoffs exist: BioBERT maximizes recall; PubMedBERT maximizes precision.</a:t>
            </a:r>
            <a:endParaRPr lang="en-US" sz="1400" dirty="0"/>
          </a:p>
          <a:p>
            <a:pPr algn="just"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choice should be guided by deployment requirements — text length, precision-recall needs, overfitting tolerance.</a:t>
            </a:r>
            <a:endParaRPr lang="en-US" sz="1400" dirty="0"/>
          </a:p>
          <a:p>
            <a:pPr algn="just"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Majority-vote system combining all three models provides robust, deployable solution.</a:t>
            </a:r>
            <a:endParaRPr lang="en-US" sz="1400" dirty="0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5C3DF4B9-3E84-5B7C-CBA0-1D21809BD2AA}"/>
              </a:ext>
            </a:extLst>
          </p:cNvPr>
          <p:cNvSpPr/>
          <p:nvPr/>
        </p:nvSpPr>
        <p:spPr>
          <a:xfrm>
            <a:off x="4885865" y="2239961"/>
            <a:ext cx="238614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Contributions</a:t>
            </a:r>
            <a:endParaRPr lang="en-US" sz="1800" dirty="0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A69B8BEC-08C0-BD2F-E6F4-91F59169806E}"/>
              </a:ext>
            </a:extLst>
          </p:cNvPr>
          <p:cNvSpPr/>
          <p:nvPr/>
        </p:nvSpPr>
        <p:spPr>
          <a:xfrm>
            <a:off x="4785357" y="2610801"/>
            <a:ext cx="4023362" cy="2412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Comparison:</a:t>
            </a:r>
            <a:r>
              <a:rPr lang="en-US" sz="10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Apples-to-apples evaluation of TF-IDF, BioBERT, and PubMedBERT on identical data splits with consistent hyperparameters.</a:t>
            </a:r>
            <a:endParaRPr lang="en-US" sz="1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0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Overfitting Analysis:</a:t>
            </a:r>
            <a:r>
              <a:rPr lang="en-US" sz="10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First study to report dev-test performance gaps, revealing PubMedBERT overfits recall while BioBERT generalizes more stably.</a:t>
            </a:r>
            <a:endParaRPr lang="en-US" sz="1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0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Guidance:</a:t>
            </a:r>
            <a:r>
              <a:rPr lang="en-US" sz="10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Practical model selection framework based on precision-recall requirements, text length, and overfitting risks.</a:t>
            </a:r>
            <a:endParaRPr lang="en-US" sz="1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0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Pipeline:</a:t>
            </a:r>
            <a:r>
              <a:rPr lang="en-US" sz="10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Jupyter notebooks and Streamlit web application for future research and deployment.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92322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66A3C-C4E5-DCDA-2B02-852BBB07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33AE87B-1BA2-84A8-FAA3-FC6B89F4342E}"/>
              </a:ext>
            </a:extLst>
          </p:cNvPr>
          <p:cNvSpPr/>
          <p:nvPr/>
        </p:nvSpPr>
        <p:spPr>
          <a:xfrm>
            <a:off x="-1385018" y="439786"/>
            <a:ext cx="120916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kern="0" spc="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4B399086-36D6-E937-A7F8-6F4BE4BCA792}"/>
              </a:ext>
            </a:extLst>
          </p:cNvPr>
          <p:cNvSpPr/>
          <p:nvPr/>
        </p:nvSpPr>
        <p:spPr>
          <a:xfrm>
            <a:off x="2032000" y="2315046"/>
            <a:ext cx="5080000" cy="12700"/>
          </a:xfrm>
          <a:prstGeom prst="rect">
            <a:avLst/>
          </a:prstGeom>
          <a:solidFill>
            <a:srgbClr val="3A4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7EA59A1F-7A07-3981-1EC0-585C12476594}"/>
              </a:ext>
            </a:extLst>
          </p:cNvPr>
          <p:cNvSpPr/>
          <p:nvPr/>
        </p:nvSpPr>
        <p:spPr>
          <a:xfrm>
            <a:off x="-1385018" y="3500647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of Health-Related Misinformation Using NLP</a:t>
            </a:r>
            <a:endParaRPr lang="en-US" sz="18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633B74F-3F34-7E92-8E49-68A9D4ECCD2C}"/>
              </a:ext>
            </a:extLst>
          </p:cNvPr>
          <p:cNvSpPr/>
          <p:nvPr/>
        </p:nvSpPr>
        <p:spPr>
          <a:xfrm>
            <a:off x="254000" y="4449714"/>
            <a:ext cx="8636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b="1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Modar Riba</a:t>
            </a:r>
            <a:r>
              <a:rPr lang="en-US" sz="1600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(244051026) | MCA, 4th Semester</a:t>
            </a:r>
          </a:p>
          <a:p>
            <a:pPr algn="ctr">
              <a:lnSpc>
                <a:spcPct val="180000"/>
              </a:lnSpc>
            </a:pPr>
            <a:r>
              <a:rPr lang="en-US" sz="1600" dirty="0"/>
              <a:t>https://modear-healthclaimbert.hf.space/</a:t>
            </a:r>
          </a:p>
          <a:p>
            <a:pPr algn="ctr">
              <a:lnSpc>
                <a:spcPct val="18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Royal School of Information Technology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8899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Assam Royal Global University, Guwahati | Session 2024-26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1416038"/>
      </p:ext>
    </p:extLst>
  </p:cSld>
  <p:clrMapOvr>
    <a:masterClrMapping/>
  </p:clrMapOvr>
</p:sld>
</file>

<file path=ppt/theme/theme1.xml><?xml version="1.0" encoding="utf-8"?>
<a:theme xmlns:a="http://schemas.openxmlformats.org/drawingml/2006/main" name="RGU Slid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GU Slide" id="{A4CD44E2-6878-4116-A683-EFBC1FA2EED6}" vid="{D87B591F-6AB8-44B0-9008-EDFCE6A3F8F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RGU Slide</Template>
  <TotalTime>522</TotalTime>
  <Words>1299</Words>
  <Application>Microsoft Office PowerPoint</Application>
  <PresentationFormat>On-screen Show (4:3)</PresentationFormat>
  <Paragraphs>227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Quattrocento Sans</vt:lpstr>
      <vt:lpstr>Times New Roman</vt:lpstr>
      <vt:lpstr>RGU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Abidur Rahman</dc:creator>
  <cp:lastModifiedBy>Mode AR</cp:lastModifiedBy>
  <cp:revision>26</cp:revision>
  <dcterms:created xsi:type="dcterms:W3CDTF">2017-03-09T10:26:17Z</dcterms:created>
  <dcterms:modified xsi:type="dcterms:W3CDTF">2026-06-17T08:14:06Z</dcterms:modified>
</cp:coreProperties>
</file>
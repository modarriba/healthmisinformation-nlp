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6256000" cy="9144000"/>
  <p:notesSz cx="9144000" cy="16256000"/>
  <p:embeddedFontLst>
    <p:embeddedFont>
      <p:font typeface="Quattrocento Sans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Train</c:v>
                  </c:pt>
                  <c:pt idx="1">
                    <c:v>Dev</c:v>
                  </c:pt>
                  <c:pt idx="2">
                    <c:v>Test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9588</c:v>
                </c:pt>
                <c:pt idx="1">
                  <c:v>1332</c:v>
                </c:pt>
                <c:pt idx="2">
                  <c:v>1311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1E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D4653A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TF-IDF</c:v>
                  </c:pt>
                  <c:pt idx="1">
                    <c:v>BioBERT</c:v>
                  </c:pt>
                  <c:pt idx="2">
                    <c:v>PubMedBERT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0.7553</c:v>
                </c:pt>
                <c:pt idx="1">
                  <c:v>0.797</c:v>
                </c:pt>
                <c:pt idx="2">
                  <c:v>0.7771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3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0E0E0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1E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(%)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All Wrong</c:v>
                  </c:pt>
                  <c:pt idx="1">
                    <c:v>PubMed Only</c:v>
                  </c:pt>
                  <c:pt idx="2">
                    <c:v>BioBERT Only</c:v>
                  </c:pt>
                  <c:pt idx="3">
                    <c:v>TF-IDF Only</c:v>
                  </c:pt>
                  <c:pt idx="4">
                    <c:v>TF-IDF+PubMed</c:v>
                  </c:pt>
                  <c:pt idx="5">
                    <c:v>TF-IDF+BioBERT</c:v>
                  </c:pt>
                  <c:pt idx="6">
                    <c:v>Both Transforms</c:v>
                  </c:pt>
                  <c:pt idx="7">
                    <c:v>All Correct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11.09</c:v>
                </c:pt>
                <c:pt idx="1">
                  <c:v>3.87</c:v>
                </c:pt>
                <c:pt idx="2">
                  <c:v>4.33</c:v>
                </c:pt>
                <c:pt idx="3">
                  <c:v>5.32</c:v>
                </c:pt>
                <c:pt idx="4">
                  <c:v>4.1</c:v>
                </c:pt>
                <c:pt idx="5">
                  <c:v>5.24</c:v>
                </c:pt>
                <c:pt idx="6">
                  <c:v>8.66</c:v>
                </c:pt>
                <c:pt idx="7">
                  <c:v>57.4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E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x4rukbz6k6to/mnt/agents/output/health_misinfo_ppt/images/1_The_Assam_Royal_Global_Univers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23000" y="635000"/>
            <a:ext cx="3810000" cy="1295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0" y="2159000"/>
            <a:ext cx="2540000" cy="381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4" name="Text 1"/>
          <p:cNvSpPr/>
          <p:nvPr/>
        </p:nvSpPr>
        <p:spPr>
          <a:xfrm>
            <a:off x="1524000" y="2476500"/>
            <a:ext cx="1320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OF HEALTH-RELATED MISINFORMATION USING NLP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858000" y="4064000"/>
            <a:ext cx="2540000" cy="381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6" name="Text 3"/>
          <p:cNvSpPr/>
          <p:nvPr/>
        </p:nvSpPr>
        <p:spPr>
          <a:xfrm>
            <a:off x="2540000" y="4381500"/>
            <a:ext cx="1117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C8C8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Project Report for the degree of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C8C8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Masters in Computer Application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810000" y="5334000"/>
            <a:ext cx="8636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b="1" dirty="0">
                <a:solidFill>
                  <a:srgbClr val="A0A8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Submitted by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Modar Riba</a:t>
            </a:r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A0A8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A0A8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(244051026)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A0A8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MCA, 6th Semester</a:t>
            </a:r>
            <a:endParaRPr lang="en-US" sz="1600" dirty="0"/>
          </a:p>
          <a:p>
            <a:pPr algn="ctr">
              <a:lnSpc>
                <a:spcPct val="18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A0A8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the guidance of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Nayan Jyoti Kalita</a:t>
            </a:r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A0A8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Assistant Professor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175000" y="8001000"/>
            <a:ext cx="990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088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Royal School of Information Technology | The Assam Royal Global University, Guwahati</a:t>
            </a:r>
            <a:endParaRPr lang="en-US" sz="14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088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Session: 2024-26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0" y="8699500"/>
            <a:ext cx="2540000" cy="38100"/>
          </a:xfrm>
          <a:prstGeom prst="rect">
            <a:avLst/>
          </a:prstGeom>
          <a:solidFill>
            <a:srgbClr val="D465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635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spc="300" kern="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016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0320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209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Background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905000" y="2476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context and motivation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984500"/>
            <a:ext cx="635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3238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905000" y="330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05000" y="3683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 of existing approaches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4191000"/>
            <a:ext cx="635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4450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905000" y="450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 &amp; Objectives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05000" y="4889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gaps and research questions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2000" y="5397500"/>
            <a:ext cx="635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20320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9525000" y="209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Methodology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25000" y="2476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Dataset, models, and evaluation framework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82000" y="2984500"/>
            <a:ext cx="635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3238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9525000" y="330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Analysis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25000" y="3683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evaluation and insights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82000" y="4191000"/>
            <a:ext cx="635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0" y="44450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9525000" y="450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&amp; Future Work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525000" y="4889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and research directions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382000" y="5397500"/>
            <a:ext cx="635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88011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8899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Modar Riba | The Assam Royal Global University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619500"/>
            <a:ext cx="1270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Background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762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0A8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health misinformation crisis and the need for automated detection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465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67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RESEARCH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3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19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4000" y="482600"/>
            <a:ext cx="2286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 &amp; Problem Statement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524000"/>
            <a:ext cx="7112000" cy="673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Health Misinformation Crisis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WHO described an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"infodemic"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during COVID-19 — an overwhelming flood of accurate and inaccurate health information spreading rapidly online.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misinformation can cause:</a:t>
            </a:r>
            <a:endParaRPr lang="en-US" sz="1800" dirty="0"/>
          </a:p>
          <a:p>
            <a:pPr algn="l"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harm or death from harmful treatments</a:t>
            </a:r>
            <a:endParaRPr lang="en-US" sz="1800" dirty="0"/>
          </a:p>
          <a:p>
            <a:pPr algn="l"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vaccine hesitancy</a:t>
            </a:r>
            <a:endParaRPr lang="en-US" sz="1800" dirty="0"/>
          </a:p>
          <a:p>
            <a:pPr algn="l"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 required treatment</a:t>
            </a:r>
            <a:endParaRPr lang="en-US" sz="1800" dirty="0"/>
          </a:p>
          <a:p>
            <a:pPr algn="l"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Excessive stress on healthcare systems</a:t>
            </a:r>
            <a:endParaRPr lang="en-US" sz="1800" dirty="0"/>
          </a:p>
          <a:p>
            <a:pPr algn="l"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Decreased trust in healthcare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verification by health professionals cannot keep pace with the volume of online health content.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1524000"/>
            <a:ext cx="7112000" cy="6731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1714500"/>
            <a:ext cx="6604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Challenges in Automated Detection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Complexity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Medical claims require specialized biomedical knowledge that general NLP models lack.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Quality Datasets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Expert-annotated datasets are scarce, small, and expensive to create.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Narrow Dataset Testing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Models tested on single topics (e.g., COVID-19) fail to generalize.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Inconsistencies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Different metrics and splits make fair comparison impossible.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Precision-Recall Tradeoffs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Deployment scenarios require different detection compromises.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619500"/>
            <a:ext cx="1270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762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0A8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 of existing approaches to health misinformation detection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465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67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RESEARCH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3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19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67000" y="482600"/>
            <a:ext cx="2286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Studies &amp; Approaches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D4653A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98600"/>
          <a:ext cx="14732000" cy="6858000"/>
        </p:xfrm>
        <a:graphic>
          <a:graphicData uri="http://schemas.openxmlformats.org/drawingml/2006/table">
            <a:tbl>
              <a:tblPr/>
              <a:tblGrid>
                <a:gridCol w="3241040"/>
                <a:gridCol w="2946400"/>
                <a:gridCol w="4419600"/>
                <a:gridCol w="4124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Study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Approach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Key Finding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Limitation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Feng et al. (2025)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Survey of 100 studies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Most studies rely on small COVID-19 datasets; lack of explainability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Review only; no new model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Schlicht et al. (2023)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Systematic review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BERT/DistilBERT dominate; deep learning outperforms classical methods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Dataset imbalance, mismatched annotations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Cabral et al. (2021)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TF-IDF + n-grams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F1 0.73-0.87 on WhatsApp misinformation; bigrams improve performance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Portuguese-specific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Taib et al. (2025)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RAG framework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70.1% accuracy, 89.8% recall; chunking boosts recall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More false positives introduced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Hou et al. (2019)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Multimodal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74% accuracy on prostate cancer videos; linguistic features dominant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Video-focused; limited transfer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Shang et al. (2025)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MultiTec multimodal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Significant gains over unimodal on TikTok healthcare videos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Resource-intensive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8407400"/>
            <a:ext cx="147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Domain-specific pretraining (BioBERT, PubMedBERT) generally outperforms general-purpose models for health misinformation detection.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619500"/>
            <a:ext cx="1270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 &amp; Objectives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762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0A8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gaps and research questions addressed in this study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465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67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RESEARCH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3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19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80000" y="482600"/>
            <a:ext cx="2286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Gaps &amp; Problem Statement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986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Research Gaps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7112000" cy="3556000"/>
        </p:xfrm>
        <a:graphic>
          <a:graphicData uri="http://schemas.openxmlformats.org/drawingml/2006/table">
            <a:tbl>
              <a:tblPr/>
              <a:tblGrid>
                <a:gridCol w="2133600"/>
                <a:gridCol w="4978400"/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Gap Area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Dataset Limitation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Most studies rely on narrow, English-only, COVID-19-focused datasets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Lack of Comparative Studies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Direct comparisons between TF-IDF, BioBERT, and PubMedBERT are rare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Overfitting Underreporting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Dev-test performance gaps rarely analyzed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Precision-Recall Neglect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Tradeoffs seldom discussed for deployment scenarios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Domain Alignment Question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Unclear whether BioBERT or PubMedBERT is superior for this task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8382000" y="149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Questions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382000" y="1968500"/>
            <a:ext cx="7112000" cy="38735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6" name="Text 13"/>
          <p:cNvSpPr/>
          <p:nvPr/>
        </p:nvSpPr>
        <p:spPr>
          <a:xfrm>
            <a:off x="8636000" y="2133600"/>
            <a:ext cx="6604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RQ1: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How do TF-IDF + Logistic Regression, BioBERT, and PubMedBERT compare in accuracy, precision, recall, and F1-score?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RQ2: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Which models show signs of overfitting when comparing development to test set performance?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RQ3: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What are the precision-recall tradeoffs among models, and how do they inform deployment decisions?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RQ4: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Does PubMedBERT provide an advantage over BioBERT for health misinformation detection?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2000" y="5816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62000" y="6286500"/>
            <a:ext cx="14732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 1: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Compile and preprocess FakeHealth and HealthFact datasets into a unified format for health misinformation detection.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 2: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 a TF-IDF + Logistic Regression baseline for binary health claim classification.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 3: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Fine-tune BioBERT and PubMedBERT domain-specific transformer models.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 4: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Evaluate all three approaches using identical metrics (accuracy, precision, recall, F1-score) for fair comparison.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619500"/>
            <a:ext cx="1270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Methodology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762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0A8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preparation, model architectures, and evaluation framework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465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67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RESEARCH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3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19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3000" y="482600"/>
            <a:ext cx="2286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&amp; Experimental Setup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Combined Dataset Statistics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1905000"/>
            <a:ext cx="3429000" cy="1143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19304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12,231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62000" y="2603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A0A8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Cleaned Rows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45000" y="1905000"/>
            <a:ext cx="3429000" cy="1143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7" name="Text 15"/>
          <p:cNvSpPr/>
          <p:nvPr/>
        </p:nvSpPr>
        <p:spPr>
          <a:xfrm>
            <a:off x="4445000" y="19304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7,542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445000" y="2603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Claims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28000" y="1905000"/>
            <a:ext cx="3429000" cy="1143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20" name="Text 18"/>
          <p:cNvSpPr/>
          <p:nvPr/>
        </p:nvSpPr>
        <p:spPr>
          <a:xfrm>
            <a:off x="8128000" y="19304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4,689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128000" y="2603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Misinformation Claims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11000" y="1905000"/>
            <a:ext cx="3683000" cy="1143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23" name="Text 21"/>
          <p:cNvSpPr/>
          <p:nvPr/>
        </p:nvSpPr>
        <p:spPr>
          <a:xfrm>
            <a:off x="11811000" y="1930400"/>
            <a:ext cx="368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1811000" y="2603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Datasets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2000" y="330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 / Dev / Test Splits</a:t>
            </a:r>
            <a:endParaRPr lang="en-US" sz="18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762000" y="3746500"/>
          <a:ext cx="5080000" cy="317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6350000" y="330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Datasets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0" y="3746500"/>
          <a:ext cx="9144000" cy="15240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50292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Dataset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Size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FakeHealth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2,156 articles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News articles with expert-verified labels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HealthFact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12,266 claims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Fact-checked claims (TRUE/FALSE/MIXTURE/UNPROVEN)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</a:tr>
            </a:tbl>
          </a:graphicData>
        </a:graphic>
      </p:graphicFrame>
      <p:sp>
        <p:nvSpPr>
          <p:cNvPr id="29" name="Text 25"/>
          <p:cNvSpPr/>
          <p:nvPr/>
        </p:nvSpPr>
        <p:spPr>
          <a:xfrm>
            <a:off x="6350000" y="552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 Steps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6350000" y="5969000"/>
            <a:ext cx="914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Text cleaning: whitespace normalization, special character removal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Label standardization: binary conversion (0 = misinformation, 1 = reliable)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Deduplication: removal of duplicate records by dataset and record_id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Stratified split: 70% train / 15% dev / 15% test preserving label distribution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Final: 9,588 train / 1,332 dev / 1,311 test samples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67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RESEARCH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3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19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3000" y="482600"/>
            <a:ext cx="2286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Architectures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460500"/>
            <a:ext cx="4699000" cy="70485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460500"/>
            <a:ext cx="4699000" cy="5715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1460500"/>
            <a:ext cx="469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+ Logistic Regression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2500" y="21844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2500" y="2540000"/>
            <a:ext cx="4318000" cy="577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Vectorizer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N-grams (1,2), max 30K features, min_df = 2, English stop words removed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Classifier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Regression, max_iter=2000, class_weight='balanced'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 Pipeline for reproducible training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Fast, interpretable, strong baseline for short text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778500" y="1460500"/>
            <a:ext cx="4699000" cy="70485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8" name="Shape 16"/>
          <p:cNvSpPr/>
          <p:nvPr/>
        </p:nvSpPr>
        <p:spPr>
          <a:xfrm>
            <a:off x="5778500" y="1460500"/>
            <a:ext cx="4699000" cy="571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5778500" y="1460500"/>
            <a:ext cx="469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BioBERT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69000" y="2184400"/>
            <a:ext cx="165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69000" y="2540000"/>
            <a:ext cx="4318000" cy="577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dmis-lab/biobert-base-cased-v1.1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Pre-trained on large-scale biomedical literature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 length: 256 tokens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Epochs: 3 | Batch: 4 (effective 8)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LR: 2e-5 | Warmup: 0.1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 decay: 0.01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Biomedical domain knowledge, strong contextual understanding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795000" y="1460500"/>
            <a:ext cx="4699000" cy="70485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95000" y="1460500"/>
            <a:ext cx="4699000" cy="571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10795000" y="1460500"/>
            <a:ext cx="469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PubMedBERT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85500" y="2184400"/>
            <a:ext cx="165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85500" y="2540000"/>
            <a:ext cx="4318000" cy="577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microsoft/BiomedNLP-PubMedBERT-base-uncased-abstract-fulltext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Pre-trained on PubMed abstracts corpus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 length: 256 tokens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Epochs: 3 | Batch: 4 (effective 8)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LR: 2e-5 | Warmup: 0.1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 decay: 0.01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PubMed-specific vocabulary, strong precision on medical claims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2000" y="8509000"/>
            <a:ext cx="1473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transformer models use identical hyperparameters and data splits for fair comparison | HuggingFace Trainer API | CPU training (Intel i5, 16GB RAM)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619500"/>
            <a:ext cx="1270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762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0A8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evaluation of the three approaches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465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67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RESEARCH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3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19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06000" y="482600"/>
            <a:ext cx="2286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Performance Comparison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D4653A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8890000" cy="2667000"/>
        </p:xfrm>
        <a:graphic>
          <a:graphicData uri="http://schemas.openxmlformats.org/drawingml/2006/table">
            <a:tbl>
              <a:tblPr/>
              <a:tblGrid>
                <a:gridCol w="2489200"/>
                <a:gridCol w="1600200"/>
                <a:gridCol w="1600200"/>
                <a:gridCol w="1600200"/>
                <a:gridCol w="1600200"/>
              </a:tblGrid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Accuracy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Precision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Recall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F1-Score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TF-IDF + LogReg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72.06%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0.7933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0.7208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0.7553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BioBERT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75.63%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0.7945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0.7995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465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0.7970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PubMedBERT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74.03%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0.7989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0.7563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0.7771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Chart 0" descr=""/>
          <p:cNvGraphicFramePr/>
          <p:nvPr/>
        </p:nvGraphicFramePr>
        <p:xfrm>
          <a:off x="10033000" y="1460500"/>
          <a:ext cx="5461000" cy="2667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/>
          <p:nvPr/>
        </p:nvSpPr>
        <p:spPr>
          <a:xfrm>
            <a:off x="762000" y="438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Overfitting Analysis</a:t>
            </a:r>
            <a:endParaRPr lang="en-US" sz="18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826000"/>
          <a:ext cx="6350000" cy="1651000"/>
        </p:xfrm>
        <a:graphic>
          <a:graphicData uri="http://schemas.openxmlformats.org/drawingml/2006/table">
            <a:tbl>
              <a:tblPr/>
              <a:tblGrid>
                <a:gridCol w="1905000"/>
                <a:gridCol w="1460500"/>
                <a:gridCol w="1460500"/>
                <a:gridCol w="1524000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Dev F1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Test F1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Drop (pp)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BioBERT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0.8110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0.7970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465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1.40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PubMedBERT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0.8049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0.7771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2.78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7493000" y="4381500"/>
            <a:ext cx="8001000" cy="2413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7" name="Text 12"/>
          <p:cNvSpPr/>
          <p:nvPr/>
        </p:nvSpPr>
        <p:spPr>
          <a:xfrm>
            <a:off x="7747000" y="450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7747000" y="4927600"/>
            <a:ext cx="749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BioBERT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achieves highest F1 (0.7970) and recall (0.7995) — best for catching reliable claims.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PubMedBERT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achieves highest precision (0.7989) — fewer false positives.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BioBERT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generalizes better: dev-test drop only 1.40pp vs 2.78pp.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62000" y="673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Per-Dataset Accuracy</a:t>
            </a:r>
            <a:endParaRPr lang="en-US" sz="180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7175500"/>
          <a:ext cx="7620000" cy="1524000"/>
        </p:xfrm>
        <a:graphic>
          <a:graphicData uri="http://schemas.openxmlformats.org/drawingml/2006/table">
            <a:tbl>
              <a:tblPr/>
              <a:tblGrid>
                <a:gridCol w="1905000"/>
                <a:gridCol w="1905000"/>
                <a:gridCol w="1905000"/>
                <a:gridCol w="19050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Dataset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TF-IDF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BioBERT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PubMedBERT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HealthFact (short)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77.00%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80.24%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80.24%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FakeHealth (long)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57.10%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61.42%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54.94%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</a:tr>
            </a:tbl>
          </a:graphicData>
        </a:graphic>
      </p:graphicFrame>
      <p:sp>
        <p:nvSpPr>
          <p:cNvPr id="21" name="Text 15"/>
          <p:cNvSpPr/>
          <p:nvPr/>
        </p:nvSpPr>
        <p:spPr>
          <a:xfrm>
            <a:off x="8763000" y="7175500"/>
            <a:ext cx="673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Length Matters: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transformers excel on short HealthFact claims (80.24%). BioBERT outperforms on longer FakeHealth articles (61.42% vs 54.94%).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67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RESEARCH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3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19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06000" y="482600"/>
            <a:ext cx="2286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Analysis &amp; Insights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Eight-Bucket Agreement Analysis</a:t>
            </a:r>
            <a:endParaRPr lang="en-US" sz="18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62000" y="1879600"/>
          <a:ext cx="7366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8509000" y="1460500"/>
            <a:ext cx="6985000" cy="39751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5" name="Text 12"/>
          <p:cNvSpPr/>
          <p:nvPr/>
        </p:nvSpPr>
        <p:spPr>
          <a:xfrm>
            <a:off x="8763000" y="1625600"/>
            <a:ext cx="6477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57.4%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All three models agree and are correct.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consensus on majority of claims.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8.66%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Both transformers correct where TF-IDF fails.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understanding adds clear value.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11.09%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All models fail.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Hardest cases requiring external medical knowledge or subtle reasoning.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5.32%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Only TF-IDF correct.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Lexical patterns still capture some signals.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62000" y="5715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Recommendations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62000" y="6159500"/>
            <a:ext cx="4699000" cy="228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952500" y="6286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BioBERT when: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52500" y="67056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8C8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reliable claims is costly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C8C8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review follows automated flagging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C8C8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contains longer articles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C8C8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recall needed (79.95%)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778500" y="6159500"/>
            <a:ext cx="4699000" cy="2286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21" name="Text 18"/>
          <p:cNvSpPr/>
          <p:nvPr/>
        </p:nvSpPr>
        <p:spPr>
          <a:xfrm>
            <a:off x="5969000" y="6286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PubMedBERT when: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969000" y="67056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positives are expensive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flagging without human review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contains short claims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precision needed (79.89%)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0795000" y="6159500"/>
            <a:ext cx="4699000" cy="2286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24" name="Text 21"/>
          <p:cNvSpPr/>
          <p:nvPr/>
        </p:nvSpPr>
        <p:spPr>
          <a:xfrm>
            <a:off x="10985500" y="6286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Majority Vote when: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985500" y="67056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Robustness is priority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strengths of all models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agreement on known test cases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 production deployment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67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RESEARCH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3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19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06000" y="482600"/>
            <a:ext cx="2286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 System &amp; Validation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Majority-Vote Inference Pipeline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1930400"/>
            <a:ext cx="2794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19304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Health Claim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256 tokens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56000" y="2286000"/>
            <a:ext cx="381000" cy="0"/>
          </a:xfrm>
          <a:prstGeom prst="straightConnector1">
            <a:avLst/>
          </a:prstGeom>
          <a:noFill/>
          <a:ln w="25400">
            <a:solidFill>
              <a:srgbClr val="D4653A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937000" y="1930400"/>
            <a:ext cx="2794000" cy="889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7" name="Text 15"/>
          <p:cNvSpPr/>
          <p:nvPr/>
        </p:nvSpPr>
        <p:spPr>
          <a:xfrm>
            <a:off x="3937000" y="19304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Models Classify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+ BioBERT + PubMedBERT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31000" y="2286000"/>
            <a:ext cx="381000" cy="0"/>
          </a:xfrm>
          <a:prstGeom prst="straightConnector1">
            <a:avLst/>
          </a:prstGeom>
          <a:noFill/>
          <a:ln w="25400">
            <a:solidFill>
              <a:srgbClr val="D4653A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7112000" y="1930400"/>
            <a:ext cx="2794000" cy="889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20" name="Text 18"/>
          <p:cNvSpPr/>
          <p:nvPr/>
        </p:nvSpPr>
        <p:spPr>
          <a:xfrm>
            <a:off x="7112000" y="19304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 Scores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Predictions + confidences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906000" y="2286000"/>
            <a:ext cx="381000" cy="0"/>
          </a:xfrm>
          <a:prstGeom prst="straightConnector1">
            <a:avLst/>
          </a:prstGeom>
          <a:noFill/>
          <a:ln w="25400">
            <a:solidFill>
              <a:srgbClr val="D4653A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0287000" y="1930400"/>
            <a:ext cx="2794000" cy="8890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23" name="Text 21"/>
          <p:cNvSpPr/>
          <p:nvPr/>
        </p:nvSpPr>
        <p:spPr>
          <a:xfrm>
            <a:off x="10287000" y="19304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Majority Vote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Verdict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3081000" y="2286000"/>
            <a:ext cx="381000" cy="0"/>
          </a:xfrm>
          <a:prstGeom prst="straightConnector1">
            <a:avLst/>
          </a:prstGeom>
          <a:noFill/>
          <a:ln w="25400">
            <a:solidFill>
              <a:srgbClr val="D4653A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3462000" y="1930400"/>
            <a:ext cx="2032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13462000" y="19304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 + Confidence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2000" y="311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 on Known Claims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556000"/>
          <a:ext cx="14732000" cy="2921000"/>
        </p:xfrm>
        <a:graphic>
          <a:graphicData uri="http://schemas.openxmlformats.org/drawingml/2006/table">
            <a:tbl>
              <a:tblPr/>
              <a:tblGrid>
                <a:gridCol w="6629400"/>
                <a:gridCol w="2651760"/>
                <a:gridCol w="2209800"/>
                <a:gridCol w="3241040"/>
              </a:tblGrid>
              <a:tr h="4089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Health Claim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Verdict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Confidence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Vote Split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Drinking bleach can cure COVID-19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D465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Misinformation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 misinfo, 0 reliable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COVID-19 vaccines are useless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D465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Misinformation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 misinfo, 0 reliable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Vaccines cause autism — government hiding evidence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D465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Misinformation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 misinfo, 0 reliable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FDA approves irritable bowel drug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Reliable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 misinfo, 3 reliable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Vitamin D3 might ease menstrual cramps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Reliable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 misinfo, 3 reliable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Vaccines help the immune system recognise infections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Reliable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 misinfo, 3 reliable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762000" y="6731000"/>
            <a:ext cx="14732000" cy="19685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30" name="Text 27"/>
          <p:cNvSpPr/>
          <p:nvPr/>
        </p:nvSpPr>
        <p:spPr>
          <a:xfrm>
            <a:off x="1016000" y="685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Implementation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016000" y="7264400"/>
            <a:ext cx="14224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Jupyter Notebooks: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 notebooks (00-07) covering dataset overview, preprocessing, EDA, baseline training, BioBERT/PubMedBERT fine-tuning, and three-way error analysis.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 Web App: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Interactive inference interface with majority-vote rule, confidence scores, and individual model predictions.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619500"/>
            <a:ext cx="1270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&amp; Future 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762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0A8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findings and directions for future research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465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67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RESEARCH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3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19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319000" y="482600"/>
            <a:ext cx="2286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&amp; Contributions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1905000"/>
            <a:ext cx="7112000" cy="463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Domain-specific transformers significantly outperform traditional ML. BioBERT F1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0.7970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 TF-IDF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0.7553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BioBERT generalizes better than PubMedBERT — dev-test F1 drop of only 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1.40pp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 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2.78pp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Important precision-recall tradeoffs exist: BioBERT maximizes recall; PubMedBERT maximizes precision.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choice should be guided by deployment requirements — text length, precision-recall needs, overfitting tolerance.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Majority-vote system combining all three models provides robust, deployable solution.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Objectives Achieved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905000"/>
          <a:ext cx="7112000" cy="2159000"/>
        </p:xfrm>
        <a:graphic>
          <a:graphicData uri="http://schemas.openxmlformats.org/drawingml/2006/table">
            <a:tbl>
              <a:tblPr/>
              <a:tblGrid>
                <a:gridCol w="711200"/>
                <a:gridCol w="3911600"/>
                <a:gridCol w="248920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#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Objective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Status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Dataset compilation and preprocessing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D465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Completed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TF-IDF + Logistic Regression baseline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D465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Completed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Fine-tune BioBERT and PubMedBERT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D465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Completed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Comparative evaluation and inference system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D465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Completed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8382000" y="431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Contributions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382000" y="4762500"/>
            <a:ext cx="7112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Comparison: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Apples-to-apples evaluation of TF-IDF, BioBERT, and PubMedBERT on identical data splits with consistent hyperparameters.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Overfitting Analysis: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First study to report dev-test performance gaps, revealing PubMedBERT overfits recall while BioBERT generalizes more stably.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Guidance: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Practical model selection framework based on precision-recall requirements, text length, and overfitting risks.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Reusable Pipeline: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Jupyter notebooks and Streamlit web application for future research and deployment.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67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RESEARCH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3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19000" y="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319000" y="482600"/>
            <a:ext cx="2286000" cy="508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24000"/>
            <a:ext cx="3492500" cy="33655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16510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52500" y="2133600"/>
            <a:ext cx="3111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Larger Datasets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2500" y="2514600"/>
            <a:ext cx="3111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Incorporate multiple health topics, platforms (Twitter, Reddit, Facebook), and temporal spans to improve generalization beyond current datasets.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08500" y="1524000"/>
            <a:ext cx="3492500" cy="33655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7" name="Text 15"/>
          <p:cNvSpPr/>
          <p:nvPr/>
        </p:nvSpPr>
        <p:spPr>
          <a:xfrm>
            <a:off x="4699000" y="16510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99000" y="2133600"/>
            <a:ext cx="3111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Multilingual Detection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99000" y="2514600"/>
            <a:ext cx="3111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 the framework to handle Hindi, Spanish, Chinese, and other languages using multilingual BERT variants for global health misinformation detection.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55000" y="1524000"/>
            <a:ext cx="3492500" cy="33655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21" name="Text 19"/>
          <p:cNvSpPr/>
          <p:nvPr/>
        </p:nvSpPr>
        <p:spPr>
          <a:xfrm>
            <a:off x="8445500" y="16510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445500" y="2133600"/>
            <a:ext cx="3111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45500" y="2514600"/>
            <a:ext cx="3111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attention visualization, LIME, or SHAP to provide prediction rationales for medical experts, increasing trust and interpretability.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2001500" y="1524000"/>
            <a:ext cx="3492500" cy="33655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25" name="Text 23"/>
          <p:cNvSpPr/>
          <p:nvPr/>
        </p:nvSpPr>
        <p:spPr>
          <a:xfrm>
            <a:off x="12192000" y="16510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2192000" y="2133600"/>
            <a:ext cx="3111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Methods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192000" y="2514600"/>
            <a:ext cx="3111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BioBERT (high recall) and PubMedBERT (balanced) to achieve both high recall and high precision in a unified ensemble architecture.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2000" y="5143500"/>
            <a:ext cx="3492500" cy="33655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5270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52500" y="5753100"/>
            <a:ext cx="3111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Deployment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2500" y="6134100"/>
            <a:ext cx="3111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 the Streamlit interface with API endpoints, user feedback loops, and real-time social media monitoring capabilities.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08500" y="5143500"/>
            <a:ext cx="3492500" cy="33655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33" name="Text 31"/>
          <p:cNvSpPr/>
          <p:nvPr/>
        </p:nvSpPr>
        <p:spPr>
          <a:xfrm>
            <a:off x="4699000" y="5270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699000" y="5753100"/>
            <a:ext cx="3111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Knowledge-Augmented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99000" y="6134100"/>
            <a:ext cx="3111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retrieval-augmented generation (RAG) with updated medical knowledge bases for evidence-backed misinformation detection.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255000" y="5143500"/>
            <a:ext cx="3492500" cy="33655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37" name="Text 35"/>
          <p:cNvSpPr/>
          <p:nvPr/>
        </p:nvSpPr>
        <p:spPr>
          <a:xfrm>
            <a:off x="8445500" y="5270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445500" y="5753100"/>
            <a:ext cx="3111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Fine-Grained Labels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45500" y="6134100"/>
            <a:ext cx="3111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Move beyond binary classification to multi-class labels: true, misleading, false, and unproven for more nuanced detection.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2001500" y="5143500"/>
            <a:ext cx="3492500" cy="33655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41" name="Text 39"/>
          <p:cNvSpPr/>
          <p:nvPr/>
        </p:nvSpPr>
        <p:spPr>
          <a:xfrm>
            <a:off x="12192000" y="5270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12192000" y="5753100"/>
            <a:ext cx="3111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Length-Adaptive Models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192000" y="6134100"/>
            <a:ext cx="3111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models that adjust architecture based on input text length to handle both short claims and long articles effectively.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032000"/>
            <a:ext cx="2540000" cy="381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0" y="2349500"/>
            <a:ext cx="1117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spc="4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858000" y="3429000"/>
            <a:ext cx="2540000" cy="38100"/>
          </a:xfrm>
          <a:prstGeom prst="rect">
            <a:avLst/>
          </a:prstGeom>
          <a:solidFill>
            <a:srgbClr val="D4653A"/>
          </a:solidFill>
          <a:ln/>
        </p:spPr>
      </p:sp>
      <p:sp>
        <p:nvSpPr>
          <p:cNvPr id="5" name="Text 3"/>
          <p:cNvSpPr/>
          <p:nvPr/>
        </p:nvSpPr>
        <p:spPr>
          <a:xfrm>
            <a:off x="2540000" y="3746500"/>
            <a:ext cx="1117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A0A8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588000" y="4572000"/>
            <a:ext cx="5080000" cy="1270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7" name="Text 5"/>
          <p:cNvSpPr/>
          <p:nvPr/>
        </p:nvSpPr>
        <p:spPr>
          <a:xfrm>
            <a:off x="2540000" y="4889500"/>
            <a:ext cx="1117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of Health-Related Misinformation Using NLP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10000" y="5588000"/>
            <a:ext cx="8636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b="1" dirty="0">
                <a:solidFill>
                  <a:srgbClr val="8899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Modar Riba</a:t>
            </a:r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8899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(244051026) | MCA, 6th Semester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8899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the guidance of </a:t>
            </a:r>
            <a:pPr algn="ctr">
              <a:lnSpc>
                <a:spcPct val="180000"/>
              </a:lnSpc>
            </a:pPr>
            <a:r>
              <a:rPr lang="en-US" sz="1600" b="1" dirty="0">
                <a:solidFill>
                  <a:srgbClr val="8899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Nayan Jyoti Kalita</a:t>
            </a:r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8899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Assistant Professor</a:t>
            </a:r>
            <a:endParaRPr lang="en-US" sz="1600" dirty="0"/>
          </a:p>
          <a:p>
            <a:pPr algn="ctr">
              <a:lnSpc>
                <a:spcPct val="18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8899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Royal School of Information Technology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8899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Assam Royal Global University, Guwahati | Session 2024-26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4653A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Health-Related Misinformation Using NLP</dc:title>
  <dc:subject>Detection of Health-Related Misinformation Using NLP</dc:subject>
  <dc:creator>Kimi</dc:creator>
  <cp:lastModifiedBy>Kimi</cp:lastModifiedBy>
  <cp:revision>1</cp:revision>
  <dcterms:created xsi:type="dcterms:W3CDTF">2026-06-16T14:48:04Z</dcterms:created>
  <dcterms:modified xsi:type="dcterms:W3CDTF">2026-06-16T14:48:04Z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{"Label":"Detection of Health-Related Misinformation Using NLP","ContentProducer":"001191110108MACG2KBH8F10000","ProduceID":"19ed0567-d9b2-8dfb-8000-000086ce4e76","ReservedCode1":"","ContentPropagator":"001191110108MACG2KBH8F20000","PropagateID":"19ed0536-d2c2-8280-8000-09166d024f46","ReservedCode2":""}</vt:lpwstr>
  </property>
</Properties>
</file>
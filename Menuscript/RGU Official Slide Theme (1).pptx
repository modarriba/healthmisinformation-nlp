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6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169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0DDD-4306-4639-8F91-3AD4488D27B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DA38-3B96-4AC1-8E68-81E784A9434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7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88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67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619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9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17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69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302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10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4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8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40DDD-4306-4639-8F91-3AD4488D27B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EDA38-3B96-4AC1-8E68-81E784A94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8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>
            <a:extLst>
              <a:ext uri="{FF2B5EF4-FFF2-40B4-BE49-F238E27FC236}">
                <a16:creationId xmlns:a16="http://schemas.microsoft.com/office/drawing/2014/main" id="{E40DA497-4B25-740C-D70D-D494EDEEBB40}"/>
              </a:ext>
            </a:extLst>
          </p:cNvPr>
          <p:cNvSpPr/>
          <p:nvPr/>
        </p:nvSpPr>
        <p:spPr>
          <a:xfrm>
            <a:off x="4438945" y="2935511"/>
            <a:ext cx="2232930" cy="154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Modar Riba</a:t>
            </a: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(244051026)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MCA, 6th Semester</a:t>
            </a:r>
            <a:endParaRPr lang="en-US" sz="1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D372944-5B85-7AA8-6BE1-40BBC921B8E6}"/>
              </a:ext>
            </a:extLst>
          </p:cNvPr>
          <p:cNvSpPr/>
          <p:nvPr/>
        </p:nvSpPr>
        <p:spPr>
          <a:xfrm>
            <a:off x="-110832" y="194907"/>
            <a:ext cx="9099556" cy="188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DETECTION OF HEALTH-RELATED MISINFORMATION </a:t>
            </a:r>
          </a:p>
          <a:p>
            <a:pPr algn="ctr">
              <a:lnSpc>
                <a:spcPct val="130000"/>
              </a:lnSpc>
            </a:pPr>
            <a:r>
              <a:rPr lang="en-US" sz="2800" b="1" dirty="0"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USING NLP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FF759F7-530F-5AB4-FC70-ECF1019D1C15}"/>
              </a:ext>
            </a:extLst>
          </p:cNvPr>
          <p:cNvSpPr/>
          <p:nvPr/>
        </p:nvSpPr>
        <p:spPr>
          <a:xfrm flipV="1">
            <a:off x="3370796" y="1928061"/>
            <a:ext cx="2136299" cy="45719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85587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4848EE9-A5E5-3E29-F80B-D1069AE0E9BF}"/>
              </a:ext>
            </a:extLst>
          </p:cNvPr>
          <p:cNvSpPr/>
          <p:nvPr/>
        </p:nvSpPr>
        <p:spPr>
          <a:xfrm>
            <a:off x="598010" y="139731"/>
            <a:ext cx="311137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kern="0" spc="3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42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085E9D9-FEB6-B9A6-B255-75F0293031D4}"/>
              </a:ext>
            </a:extLst>
          </p:cNvPr>
          <p:cNvSpPr/>
          <p:nvPr/>
        </p:nvSpPr>
        <p:spPr>
          <a:xfrm flipV="1">
            <a:off x="701617" y="799193"/>
            <a:ext cx="2723072" cy="45719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DD43FBB-49EA-5D9F-B309-94654E042D1D}"/>
              </a:ext>
            </a:extLst>
          </p:cNvPr>
          <p:cNvSpPr/>
          <p:nvPr/>
        </p:nvSpPr>
        <p:spPr>
          <a:xfrm>
            <a:off x="573350" y="1187781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96CC168-E0B2-9662-2C2B-1B96F051A538}"/>
              </a:ext>
            </a:extLst>
          </p:cNvPr>
          <p:cNvSpPr/>
          <p:nvPr/>
        </p:nvSpPr>
        <p:spPr>
          <a:xfrm>
            <a:off x="1171477" y="1339683"/>
            <a:ext cx="302210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Background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C87EA14-344B-BCA8-C996-BCCAF51C7573}"/>
              </a:ext>
            </a:extLst>
          </p:cNvPr>
          <p:cNvSpPr/>
          <p:nvPr/>
        </p:nvSpPr>
        <p:spPr>
          <a:xfrm>
            <a:off x="1614010" y="1559332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context and motivation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6706A41-A1A2-E7C7-7172-E67247285124}"/>
              </a:ext>
            </a:extLst>
          </p:cNvPr>
          <p:cNvSpPr/>
          <p:nvPr/>
        </p:nvSpPr>
        <p:spPr>
          <a:xfrm flipV="1">
            <a:off x="573350" y="1839318"/>
            <a:ext cx="3561425" cy="508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DB2D62E-A482-79A1-78F1-82356587B689}"/>
              </a:ext>
            </a:extLst>
          </p:cNvPr>
          <p:cNvSpPr/>
          <p:nvPr/>
        </p:nvSpPr>
        <p:spPr>
          <a:xfrm>
            <a:off x="550170" y="4220495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4E103A6-3FFA-8A90-E66E-CBD141660ED2}"/>
              </a:ext>
            </a:extLst>
          </p:cNvPr>
          <p:cNvSpPr/>
          <p:nvPr/>
        </p:nvSpPr>
        <p:spPr>
          <a:xfrm>
            <a:off x="1267589" y="4621002"/>
            <a:ext cx="31113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gaps and research questions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29E0C8B-DFDB-DAD2-1A4F-40F91E4B4D8A}"/>
              </a:ext>
            </a:extLst>
          </p:cNvPr>
          <p:cNvSpPr/>
          <p:nvPr/>
        </p:nvSpPr>
        <p:spPr>
          <a:xfrm>
            <a:off x="4473853" y="1953334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0879D0D-B41C-BDAD-1C6A-82A682DFE712}"/>
              </a:ext>
            </a:extLst>
          </p:cNvPr>
          <p:cNvSpPr/>
          <p:nvPr/>
        </p:nvSpPr>
        <p:spPr>
          <a:xfrm>
            <a:off x="5163366" y="2060424"/>
            <a:ext cx="352628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Methodology</a:t>
            </a:r>
            <a:endParaRPr lang="en-US" sz="2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EE72EDE-E9BA-2613-1DF1-E47239B1785B}"/>
              </a:ext>
            </a:extLst>
          </p:cNvPr>
          <p:cNvSpPr/>
          <p:nvPr/>
        </p:nvSpPr>
        <p:spPr>
          <a:xfrm>
            <a:off x="5409259" y="2360273"/>
            <a:ext cx="336098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Dataset, models, and evaluation framework</a:t>
            </a:r>
            <a:endParaRPr lang="en-US" sz="1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D884E89-9446-3712-1E8E-80AF33AC94A9}"/>
              </a:ext>
            </a:extLst>
          </p:cNvPr>
          <p:cNvSpPr/>
          <p:nvPr/>
        </p:nvSpPr>
        <p:spPr>
          <a:xfrm>
            <a:off x="4473853" y="3511595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42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9F95C77-6645-C102-D977-B0BFDCE72986}"/>
              </a:ext>
            </a:extLst>
          </p:cNvPr>
          <p:cNvSpPr/>
          <p:nvPr/>
        </p:nvSpPr>
        <p:spPr>
          <a:xfrm>
            <a:off x="5163366" y="3570694"/>
            <a:ext cx="336098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20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830C313-2BAC-81B3-EC88-53F598DCDD49}"/>
              </a:ext>
            </a:extLst>
          </p:cNvPr>
          <p:cNvSpPr/>
          <p:nvPr/>
        </p:nvSpPr>
        <p:spPr>
          <a:xfrm>
            <a:off x="5167228" y="3844868"/>
            <a:ext cx="338154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evaluation and insights</a:t>
            </a:r>
            <a:endParaRPr lang="en-US" sz="14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8317E4BA-95F8-B75B-67AC-9B358930C927}"/>
              </a:ext>
            </a:extLst>
          </p:cNvPr>
          <p:cNvSpPr/>
          <p:nvPr/>
        </p:nvSpPr>
        <p:spPr>
          <a:xfrm>
            <a:off x="4572000" y="5119398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42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F327A75-88CA-CB9F-CCF0-200C580D1CD4}"/>
              </a:ext>
            </a:extLst>
          </p:cNvPr>
          <p:cNvSpPr/>
          <p:nvPr/>
        </p:nvSpPr>
        <p:spPr>
          <a:xfrm>
            <a:off x="5193108" y="5253328"/>
            <a:ext cx="310936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18B1F54-8146-B004-EB9F-0A64A1B36124}"/>
              </a:ext>
            </a:extLst>
          </p:cNvPr>
          <p:cNvSpPr/>
          <p:nvPr/>
        </p:nvSpPr>
        <p:spPr>
          <a:xfrm>
            <a:off x="5649020" y="5511503"/>
            <a:ext cx="266942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and research directions</a:t>
            </a:r>
            <a:endParaRPr lang="en-US" sz="14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C5405AAB-6A25-9F5C-6E32-37876D075EA8}"/>
              </a:ext>
            </a:extLst>
          </p:cNvPr>
          <p:cNvSpPr/>
          <p:nvPr/>
        </p:nvSpPr>
        <p:spPr>
          <a:xfrm>
            <a:off x="550170" y="2515129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2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72069E1-EFDC-A505-632A-D230EEFE1FD5}"/>
              </a:ext>
            </a:extLst>
          </p:cNvPr>
          <p:cNvSpPr/>
          <p:nvPr/>
        </p:nvSpPr>
        <p:spPr>
          <a:xfrm>
            <a:off x="1169387" y="2654556"/>
            <a:ext cx="207414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4B7DED3-5282-5AB4-D30E-7117B75051E5}"/>
              </a:ext>
            </a:extLst>
          </p:cNvPr>
          <p:cNvSpPr/>
          <p:nvPr/>
        </p:nvSpPr>
        <p:spPr>
          <a:xfrm>
            <a:off x="1362477" y="2913771"/>
            <a:ext cx="234691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of existing approaches</a:t>
            </a:r>
            <a:endParaRPr lang="en-US" sz="14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D5643E36-B592-1F37-7D08-E6B6AB6F19AB}"/>
              </a:ext>
            </a:extLst>
          </p:cNvPr>
          <p:cNvSpPr/>
          <p:nvPr/>
        </p:nvSpPr>
        <p:spPr>
          <a:xfrm>
            <a:off x="1169387" y="4340269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&amp; Objectives</a:t>
            </a:r>
            <a:endParaRPr lang="en-US" sz="200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D24253FF-5BAA-1537-46BE-B0499B82AB45}"/>
              </a:ext>
            </a:extLst>
          </p:cNvPr>
          <p:cNvSpPr/>
          <p:nvPr/>
        </p:nvSpPr>
        <p:spPr>
          <a:xfrm flipV="1">
            <a:off x="550170" y="3200400"/>
            <a:ext cx="3561425" cy="508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19FFB07C-6779-3FCC-6667-05E56E147197}"/>
              </a:ext>
            </a:extLst>
          </p:cNvPr>
          <p:cNvSpPr/>
          <p:nvPr/>
        </p:nvSpPr>
        <p:spPr>
          <a:xfrm flipV="1">
            <a:off x="4870882" y="2594646"/>
            <a:ext cx="3561425" cy="508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FB6B48F7-257D-E749-80C8-D74522064DCD}"/>
              </a:ext>
            </a:extLst>
          </p:cNvPr>
          <p:cNvSpPr/>
          <p:nvPr/>
        </p:nvSpPr>
        <p:spPr>
          <a:xfrm flipV="1">
            <a:off x="550170" y="4893595"/>
            <a:ext cx="3561425" cy="508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CF997309-E741-700A-6EB5-AC24F10C8032}"/>
              </a:ext>
            </a:extLst>
          </p:cNvPr>
          <p:cNvSpPr/>
          <p:nvPr/>
        </p:nvSpPr>
        <p:spPr>
          <a:xfrm flipV="1">
            <a:off x="4572000" y="4142295"/>
            <a:ext cx="3561425" cy="508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9D8E76D6-DE02-6D4D-4B6E-16128FA95A22}"/>
              </a:ext>
            </a:extLst>
          </p:cNvPr>
          <p:cNvSpPr/>
          <p:nvPr/>
        </p:nvSpPr>
        <p:spPr>
          <a:xfrm flipV="1">
            <a:off x="4571999" y="5773651"/>
            <a:ext cx="3561425" cy="508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0523-2782-F122-120A-3239FFAF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8D16F675-2003-1580-AC83-1C6CB3FB19E5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2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7E98FF82-462D-58B1-4C72-478BFEDD2E65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1713ECDC-59A6-ADD4-8EA8-141A90FE8FFF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health misinformation crisis and the need for automated detection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D5B71EC3-B36E-EEAA-3C18-2757EFA134A8}"/>
              </a:ext>
            </a:extLst>
          </p:cNvPr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endParaRPr lang="en-US" sz="3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16A2E1-6757-08EE-8BA0-6BFFF6BFDB98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Background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03134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F379-3D2C-1066-E5AA-1D0DEA7A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CF4F3EA6-E3EC-1CAD-3DB3-FBC1EB146A9E}"/>
              </a:ext>
            </a:extLst>
          </p:cNvPr>
          <p:cNvSpPr/>
          <p:nvPr/>
        </p:nvSpPr>
        <p:spPr>
          <a:xfrm>
            <a:off x="0" y="-10027"/>
            <a:ext cx="9144000" cy="241389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A0CEEFB-1FD8-E01B-77F0-A7745321B2E1}"/>
              </a:ext>
            </a:extLst>
          </p:cNvPr>
          <p:cNvSpPr/>
          <p:nvPr/>
        </p:nvSpPr>
        <p:spPr>
          <a:xfrm>
            <a:off x="1636267" y="-27598"/>
            <a:ext cx="1166368" cy="241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AFAB926-BE91-F260-3DF1-D581A5E8384E}"/>
              </a:ext>
            </a:extLst>
          </p:cNvPr>
          <p:cNvSpPr/>
          <p:nvPr/>
        </p:nvSpPr>
        <p:spPr>
          <a:xfrm>
            <a:off x="2667000" y="-15494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462E6EF-17A8-3640-23C8-76B836789E87}"/>
              </a:ext>
            </a:extLst>
          </p:cNvPr>
          <p:cNvSpPr/>
          <p:nvPr/>
        </p:nvSpPr>
        <p:spPr>
          <a:xfrm>
            <a:off x="4381500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EEE9DC0-884E-9D75-324E-519EEC6BBBFF}"/>
              </a:ext>
            </a:extLst>
          </p:cNvPr>
          <p:cNvSpPr/>
          <p:nvPr/>
        </p:nvSpPr>
        <p:spPr>
          <a:xfrm>
            <a:off x="5956299" y="-148203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689F599-6801-3B58-6730-E42FE69A4986}"/>
              </a:ext>
            </a:extLst>
          </p:cNvPr>
          <p:cNvSpPr/>
          <p:nvPr/>
        </p:nvSpPr>
        <p:spPr>
          <a:xfrm>
            <a:off x="7340598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DC95897-CDD5-372E-32B3-96FB5EA4F10B}"/>
              </a:ext>
            </a:extLst>
          </p:cNvPr>
          <p:cNvSpPr/>
          <p:nvPr/>
        </p:nvSpPr>
        <p:spPr>
          <a:xfrm>
            <a:off x="43405" y="542193"/>
            <a:ext cx="490959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&amp; Problem Statement</a:t>
            </a:r>
            <a:endParaRPr lang="en-US" sz="28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06695E28-BCE2-3307-C33E-2E006FFC0ED4}"/>
              </a:ext>
            </a:extLst>
          </p:cNvPr>
          <p:cNvSpPr/>
          <p:nvPr/>
        </p:nvSpPr>
        <p:spPr>
          <a:xfrm>
            <a:off x="1005840" y="1013349"/>
            <a:ext cx="762000" cy="381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5569D5D-B1E5-6F75-21F7-CA0B96849EA9}"/>
              </a:ext>
            </a:extLst>
          </p:cNvPr>
          <p:cNvSpPr/>
          <p:nvPr/>
        </p:nvSpPr>
        <p:spPr>
          <a:xfrm>
            <a:off x="328129" y="1564418"/>
            <a:ext cx="3756192" cy="456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60000"/>
              </a:lnSpc>
            </a:pPr>
            <a:r>
              <a:rPr lang="en-US" sz="1300" b="1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Health Misinformation Crisis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The WHO described an </a:t>
            </a:r>
            <a:r>
              <a:rPr lang="en-US" sz="1300" b="1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"infodemic"</a:t>
            </a: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during COVID-19 — an overwhelming flood of accurate and inaccurate health information spreading rapidly online.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Health misinformation can cause: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Physical harm or death from harmful treatments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Increased vaccine hesitancy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Delayed required treatment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Excessive stress on healthcare systems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1E1E2C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Decreased trust in healthcare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64748B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Manual verification by health professionals cannot keep pace with the volume of online health content.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421F9A70-3E00-6308-A6D5-020C2C5FCA3E}"/>
              </a:ext>
            </a:extLst>
          </p:cNvPr>
          <p:cNvSpPr/>
          <p:nvPr/>
        </p:nvSpPr>
        <p:spPr>
          <a:xfrm>
            <a:off x="4143737" y="1244600"/>
            <a:ext cx="4833232" cy="4710362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1F4DBC65-FA52-7ACB-A9C2-2B50909A5B86}"/>
              </a:ext>
            </a:extLst>
          </p:cNvPr>
          <p:cNvSpPr/>
          <p:nvPr/>
        </p:nvSpPr>
        <p:spPr>
          <a:xfrm>
            <a:off x="4304833" y="1370609"/>
            <a:ext cx="4511039" cy="445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Challenges in Automated Detection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Complexity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Medical claims require specialized biomedical knowledge that general NLP models lack.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Quality Datasets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Expert-annotated datasets are scarce, small, and expensive to create.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Narrow Dataset Testing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Models tested on single topics (e.g., COVID-19) fail to generalize.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Inconsistencies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Different metrics and splits make fair comparison impossible.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Precision-Recall Tradeoffs</a:t>
            </a: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Deployment scenarios require different detection compromises.</a:t>
            </a:r>
            <a:endParaRPr lang="en-US" sz="14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8830653-5803-541F-92F2-8CA4156C5C0B}"/>
              </a:ext>
            </a:extLst>
          </p:cNvPr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68F36F1A-2E26-F935-7333-F7CCA668A829}"/>
              </a:ext>
            </a:extLst>
          </p:cNvPr>
          <p:cNvSpPr/>
          <p:nvPr/>
        </p:nvSpPr>
        <p:spPr>
          <a:xfrm>
            <a:off x="101600" y="-43256"/>
            <a:ext cx="1166368" cy="292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CC1271E3-AF05-5D2E-AB95-6FEC549EB603}"/>
              </a:ext>
            </a:extLst>
          </p:cNvPr>
          <p:cNvSpPr/>
          <p:nvPr/>
        </p:nvSpPr>
        <p:spPr>
          <a:xfrm flipV="1">
            <a:off x="0" y="223520"/>
            <a:ext cx="1322832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5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6B9C-0AA2-C3D4-B0B2-A164FA335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DA2649BF-7A24-C5EB-42DA-F5F5CA0A4449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2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E29CB7D7-107A-DF54-2D87-683ADDB634DC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BE3B0B42-57D4-DAF9-157B-0D8ADF17D0AF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of existing approaches to health misinformation detection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A7EB0977-B2FF-0704-6DD2-396B7553E02B}"/>
              </a:ext>
            </a:extLst>
          </p:cNvPr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endParaRPr lang="en-US" sz="3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CCB488-6A93-4075-2BA9-93D54E7BC95F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8818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19C8-3EC3-8D44-22ED-AAE4E275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AAF37206-3488-8CE0-C3A0-CB27038F55E9}"/>
              </a:ext>
            </a:extLst>
          </p:cNvPr>
          <p:cNvSpPr/>
          <p:nvPr/>
        </p:nvSpPr>
        <p:spPr>
          <a:xfrm>
            <a:off x="0" y="-10027"/>
            <a:ext cx="9144000" cy="241389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265283F-B44A-EE48-9CA8-EB0245FD29CE}"/>
              </a:ext>
            </a:extLst>
          </p:cNvPr>
          <p:cNvSpPr/>
          <p:nvPr/>
        </p:nvSpPr>
        <p:spPr>
          <a:xfrm>
            <a:off x="1636267" y="-27598"/>
            <a:ext cx="1166368" cy="241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LITERATURE</a:t>
            </a:r>
            <a:endParaRPr lang="en-US" sz="1200" dirty="0">
              <a:solidFill>
                <a:srgbClr val="D4653A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012ADCD-FE4F-DF31-5C14-52B86EA994FF}"/>
              </a:ext>
            </a:extLst>
          </p:cNvPr>
          <p:cNvSpPr/>
          <p:nvPr/>
        </p:nvSpPr>
        <p:spPr>
          <a:xfrm>
            <a:off x="2667000" y="-154940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RESEARCH GAP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55AD873-999A-A8DB-B36B-2D026D24DC77}"/>
              </a:ext>
            </a:extLst>
          </p:cNvPr>
          <p:cNvSpPr/>
          <p:nvPr/>
        </p:nvSpPr>
        <p:spPr>
          <a:xfrm>
            <a:off x="4381500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METHODOLOGY</a:t>
            </a:r>
            <a:endParaRPr lang="en-US" sz="1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D179531-FB34-B1BC-5837-38BB85D8CF8F}"/>
              </a:ext>
            </a:extLst>
          </p:cNvPr>
          <p:cNvSpPr/>
          <p:nvPr/>
        </p:nvSpPr>
        <p:spPr>
          <a:xfrm>
            <a:off x="5956299" y="-148203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RESULTS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EB5867F-A659-06AC-BA84-3C6091AD6D8A}"/>
              </a:ext>
            </a:extLst>
          </p:cNvPr>
          <p:cNvSpPr/>
          <p:nvPr/>
        </p:nvSpPr>
        <p:spPr>
          <a:xfrm>
            <a:off x="7340598" y="-138552"/>
            <a:ext cx="228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CONCLUSION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E528239-EB0C-440D-94D9-D661226FA67A}"/>
              </a:ext>
            </a:extLst>
          </p:cNvPr>
          <p:cNvSpPr/>
          <p:nvPr/>
        </p:nvSpPr>
        <p:spPr>
          <a:xfrm>
            <a:off x="13207" y="528320"/>
            <a:ext cx="490959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Studies &amp; Approaches</a:t>
            </a:r>
            <a:endParaRPr lang="en-US" sz="28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6B828884-321F-0B74-41E5-E0B88D0916CD}"/>
              </a:ext>
            </a:extLst>
          </p:cNvPr>
          <p:cNvSpPr/>
          <p:nvPr/>
        </p:nvSpPr>
        <p:spPr>
          <a:xfrm>
            <a:off x="1028700" y="1008012"/>
            <a:ext cx="762000" cy="381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864FEBC-D91A-88F2-449A-2A2B32C9C276}"/>
              </a:ext>
            </a:extLst>
          </p:cNvPr>
          <p:cNvSpPr/>
          <p:nvPr/>
        </p:nvSpPr>
        <p:spPr>
          <a:xfrm>
            <a:off x="15113000" y="87630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A31B1242-855C-3F1B-1F1F-831015B11D47}"/>
              </a:ext>
            </a:extLst>
          </p:cNvPr>
          <p:cNvSpPr/>
          <p:nvPr/>
        </p:nvSpPr>
        <p:spPr>
          <a:xfrm>
            <a:off x="101600" y="-43256"/>
            <a:ext cx="1166368" cy="292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D66B14F8-B178-4362-34C8-087757473423}"/>
              </a:ext>
            </a:extLst>
          </p:cNvPr>
          <p:cNvSpPr/>
          <p:nvPr/>
        </p:nvSpPr>
        <p:spPr>
          <a:xfrm flipV="1">
            <a:off x="1670304" y="223520"/>
            <a:ext cx="1060704" cy="45719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CB190646-C09B-2A52-08BB-DB9D3254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88792"/>
              </p:ext>
            </p:extLst>
          </p:nvPr>
        </p:nvGraphicFramePr>
        <p:xfrm>
          <a:off x="421638" y="1340898"/>
          <a:ext cx="8255002" cy="4666200"/>
        </p:xfrm>
        <a:graphic>
          <a:graphicData uri="http://schemas.openxmlformats.org/drawingml/2006/table">
            <a:tbl>
              <a:tblPr/>
              <a:tblGrid>
                <a:gridCol w="18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1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Approach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 Finding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Feng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Survey of 100 studies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Most studies rely on small COVID-19 datasets; lack of explainability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Review only; no new model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Schlicht et al. (2023)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Systematic review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BERT/DistilBERT dominate; deep learning outperforms classical methods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Dataset imbalance, mismatched annotations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Cabral et al. (2021)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 + n-grams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F1 0.73-0.87 on WhatsApp misinformation; bigrams improve performance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Portuguese-specific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Taib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RAG framework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70.1% accuracy, 89.8% recall; chunking boosts recall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More false positives introduced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Hou et al. (2019)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Multimodal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74% accuracy on prostate cancer videos; linguistic features dominant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Video-focused; limited transfer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9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Shang et al. (2025)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MultiTec multimodal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Significant gains over unimodal on TikTok healthcare videos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1E2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Resource-intensive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881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4FC27-8132-7218-9D8F-B4C6975B0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DC64F4DC-9499-1151-01D2-8798D9406208}"/>
              </a:ext>
            </a:extLst>
          </p:cNvPr>
          <p:cNvSpPr/>
          <p:nvPr/>
        </p:nvSpPr>
        <p:spPr>
          <a:xfrm>
            <a:off x="572219" y="1104181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b="1">
                <a:solidFill>
                  <a:srgbClr val="D46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200" dirty="0"/>
          </a:p>
        </p:txBody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13EB4052-94B0-9B24-EB6C-4BFC51F42EAD}"/>
              </a:ext>
            </a:extLst>
          </p:cNvPr>
          <p:cNvSpPr/>
          <p:nvPr/>
        </p:nvSpPr>
        <p:spPr>
          <a:xfrm>
            <a:off x="572219" y="2437681"/>
            <a:ext cx="1270000" cy="50800"/>
          </a:xfrm>
          <a:prstGeom prst="rect">
            <a:avLst/>
          </a:prstGeom>
          <a:solidFill>
            <a:srgbClr val="D465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F238B6DA-E050-83D4-B085-9C60E2758E32}"/>
              </a:ext>
            </a:extLst>
          </p:cNvPr>
          <p:cNvSpPr/>
          <p:nvPr/>
        </p:nvSpPr>
        <p:spPr>
          <a:xfrm>
            <a:off x="572219" y="2850431"/>
            <a:ext cx="84251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health misinformation crisis and the need for automated detection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9613BC78-DE46-C933-9AB6-C21E9C4DF5A8}"/>
              </a:ext>
            </a:extLst>
          </p:cNvPr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endParaRPr lang="en-US" sz="3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8D94F1-E946-036B-8C99-4645AEB19835}"/>
              </a:ext>
            </a:extLst>
          </p:cNvPr>
          <p:cNvSpPr txBox="1"/>
          <p:nvPr/>
        </p:nvSpPr>
        <p:spPr>
          <a:xfrm>
            <a:off x="1964330" y="2237385"/>
            <a:ext cx="5215339" cy="68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2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 &amp; Objectives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39639211"/>
      </p:ext>
    </p:extLst>
  </p:cSld>
  <p:clrMapOvr>
    <a:masterClrMapping/>
  </p:clrMapOvr>
</p:sld>
</file>

<file path=ppt/theme/theme1.xml><?xml version="1.0" encoding="utf-8"?>
<a:theme xmlns:a="http://schemas.openxmlformats.org/drawingml/2006/main" name="RGU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GU Slide" id="{A4CD44E2-6878-4116-A683-EFBC1FA2EED6}" vid="{D87B591F-6AB8-44B0-9008-EDFCE6A3F8F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RGU Slide</Template>
  <TotalTime>28</TotalTime>
  <Words>449</Words>
  <Application>Microsoft Office PowerPoint</Application>
  <PresentationFormat>On-screen Show (4:3)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Quattrocento Sans</vt:lpstr>
      <vt:lpstr>Times New Roman</vt:lpstr>
      <vt:lpstr>RGU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Abidur Rahman</dc:creator>
  <cp:lastModifiedBy>Mode AR</cp:lastModifiedBy>
  <cp:revision>12</cp:revision>
  <dcterms:created xsi:type="dcterms:W3CDTF">2017-03-09T10:26:17Z</dcterms:created>
  <dcterms:modified xsi:type="dcterms:W3CDTF">2026-06-16T15:48:04Z</dcterms:modified>
</cp:coreProperties>
</file>